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56" r:id="rId2"/>
    <p:sldId id="268" r:id="rId3"/>
    <p:sldId id="269" r:id="rId4"/>
    <p:sldId id="263" r:id="rId5"/>
    <p:sldId id="262" r:id="rId6"/>
    <p:sldId id="260" r:id="rId7"/>
    <p:sldId id="289" r:id="rId8"/>
    <p:sldId id="264" r:id="rId9"/>
    <p:sldId id="275" r:id="rId10"/>
    <p:sldId id="276" r:id="rId11"/>
    <p:sldId id="277" r:id="rId12"/>
    <p:sldId id="278" r:id="rId13"/>
    <p:sldId id="279" r:id="rId14"/>
    <p:sldId id="280" r:id="rId15"/>
    <p:sldId id="258" r:id="rId16"/>
    <p:sldId id="281" r:id="rId17"/>
    <p:sldId id="282" r:id="rId18"/>
    <p:sldId id="283" r:id="rId19"/>
    <p:sldId id="270" r:id="rId20"/>
    <p:sldId id="271" r:id="rId21"/>
    <p:sldId id="266" r:id="rId22"/>
    <p:sldId id="267" r:id="rId23"/>
    <p:sldId id="284" r:id="rId24"/>
    <p:sldId id="257" r:id="rId25"/>
    <p:sldId id="259" r:id="rId26"/>
    <p:sldId id="265" r:id="rId27"/>
    <p:sldId id="285" r:id="rId28"/>
    <p:sldId id="286" r:id="rId29"/>
    <p:sldId id="287" r:id="rId30"/>
  </p:sldIdLst>
  <p:sldSz cx="9144000" cy="6858000" type="screen4x3"/>
  <p:notesSz cx="6669088"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8322D41-A579-44C8-A190-6DEDDE9DE6F6}" type="doc">
      <dgm:prSet loTypeId="urn:microsoft.com/office/officeart/2005/8/layout/orgChart1" loCatId="hierarchy" qsTypeId="urn:microsoft.com/office/officeart/2005/8/quickstyle/simple1" qsCatId="simple" csTypeId="urn:microsoft.com/office/officeart/2005/8/colors/accent0_2" csCatId="mainScheme"/>
      <dgm:spPr/>
    </dgm:pt>
    <dgm:pt modelId="{52ACD473-55B8-462F-B3C8-7DE6BEE0C4E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Data</a:t>
          </a:r>
          <a:endParaRPr kumimoji="0" lang="en-US" altLang="en-US" b="0" i="0" u="none" strike="noStrike" cap="none" normalizeH="0" baseline="0">
            <a:ln/>
            <a:effectLst/>
            <a:latin typeface="Arial" pitchFamily="34" charset="0"/>
          </a:endParaRPr>
        </a:p>
      </dgm:t>
    </dgm:pt>
    <dgm:pt modelId="{41D2DC5A-2049-4E70-9482-4AE170673FB0}" type="parTrans" cxnId="{6B64E609-4124-415C-BEA6-B3969466B5A5}">
      <dgm:prSet/>
      <dgm:spPr/>
      <dgm:t>
        <a:bodyPr/>
        <a:lstStyle/>
        <a:p>
          <a:endParaRPr lang="en-ZA"/>
        </a:p>
      </dgm:t>
    </dgm:pt>
    <dgm:pt modelId="{56877ADF-5A91-4D49-A498-5ADE500148C8}" type="sibTrans" cxnId="{6B64E609-4124-415C-BEA6-B3969466B5A5}">
      <dgm:prSet/>
      <dgm:spPr/>
      <dgm:t>
        <a:bodyPr/>
        <a:lstStyle/>
        <a:p>
          <a:endParaRPr lang="en-ZA"/>
        </a:p>
      </dgm:t>
    </dgm:pt>
    <dgm:pt modelId="{77F47843-5058-445A-911C-3DD226B1D34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Categorical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dgm:t>
    </dgm:pt>
    <dgm:pt modelId="{41335CEB-1CBC-427C-B28D-2CDBBB4820E5}" type="parTrans" cxnId="{4B6F0914-8E07-4925-B55F-EE68FF96BD77}">
      <dgm:prSet/>
      <dgm:spPr/>
      <dgm:t>
        <a:bodyPr/>
        <a:lstStyle/>
        <a:p>
          <a:endParaRPr lang="en-ZA"/>
        </a:p>
      </dgm:t>
    </dgm:pt>
    <dgm:pt modelId="{E120C1F0-A449-4880-B073-35A756A32C28}" type="sibTrans" cxnId="{4B6F0914-8E07-4925-B55F-EE68FF96BD77}">
      <dgm:prSet/>
      <dgm:spPr/>
      <dgm:t>
        <a:bodyPr/>
        <a:lstStyle/>
        <a:p>
          <a:endParaRPr lang="en-ZA"/>
        </a:p>
      </dgm:t>
    </dgm:pt>
    <dgm:pt modelId="{1619585A-23B6-496E-8368-79E7A672776F}">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Numerical </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dgm:t>
    </dgm:pt>
    <dgm:pt modelId="{9307ACAC-9D2C-4206-9A15-A2421EF9729E}" type="parTrans" cxnId="{B81DADE3-37FF-45E9-B6DF-34B073F0C814}">
      <dgm:prSet/>
      <dgm:spPr/>
      <dgm:t>
        <a:bodyPr/>
        <a:lstStyle/>
        <a:p>
          <a:endParaRPr lang="en-ZA"/>
        </a:p>
      </dgm:t>
    </dgm:pt>
    <dgm:pt modelId="{1882E5F9-F5CA-4E47-BEB1-351856BFF65C}" type="sibTrans" cxnId="{B81DADE3-37FF-45E9-B6DF-34B073F0C814}">
      <dgm:prSet/>
      <dgm:spPr/>
      <dgm:t>
        <a:bodyPr/>
        <a:lstStyle/>
        <a:p>
          <a:endParaRPr lang="en-ZA"/>
        </a:p>
      </dgm:t>
    </dgm:pt>
    <dgm:pt modelId="{3F9E36F1-5723-480E-8AE6-B068070394C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Discrete</a:t>
          </a:r>
          <a:endParaRPr kumimoji="0" lang="en-US" altLang="en-US" b="0" i="0" u="none" strike="noStrike" cap="none" normalizeH="0" baseline="0">
            <a:ln/>
            <a:effectLst/>
            <a:latin typeface="Arial" pitchFamily="34" charset="0"/>
          </a:endParaRPr>
        </a:p>
      </dgm:t>
    </dgm:pt>
    <dgm:pt modelId="{91D39CF0-B5FB-4DCE-B5B4-1D04E3E1FDCE}" type="parTrans" cxnId="{008AFA0E-8832-4CC4-8093-BC3806CF9069}">
      <dgm:prSet/>
      <dgm:spPr/>
      <dgm:t>
        <a:bodyPr/>
        <a:lstStyle/>
        <a:p>
          <a:endParaRPr lang="en-ZA"/>
        </a:p>
      </dgm:t>
    </dgm:pt>
    <dgm:pt modelId="{6B885F82-E7A7-4D82-844D-EB940076DE0C}" type="sibTrans" cxnId="{008AFA0E-8832-4CC4-8093-BC3806CF9069}">
      <dgm:prSet/>
      <dgm:spPr/>
      <dgm:t>
        <a:bodyPr/>
        <a:lstStyle/>
        <a:p>
          <a:endParaRPr lang="en-ZA"/>
        </a:p>
      </dgm:t>
    </dgm:pt>
    <dgm:pt modelId="{AA4EAD86-4CCA-4CAD-978C-9F555567380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Continuous</a:t>
          </a:r>
          <a:endParaRPr kumimoji="0" lang="en-US" altLang="en-US" b="0" i="0" u="none" strike="noStrike" cap="none" normalizeH="0" baseline="0">
            <a:ln/>
            <a:effectLst/>
            <a:latin typeface="Arial" pitchFamily="34" charset="0"/>
          </a:endParaRPr>
        </a:p>
      </dgm:t>
    </dgm:pt>
    <dgm:pt modelId="{79D4E7E6-9213-4035-A20B-A4302A2F6E91}" type="parTrans" cxnId="{7A2A69E8-ACF9-415A-B40F-D43D9B7CE951}">
      <dgm:prSet/>
      <dgm:spPr/>
      <dgm:t>
        <a:bodyPr/>
        <a:lstStyle/>
        <a:p>
          <a:endParaRPr lang="en-ZA"/>
        </a:p>
      </dgm:t>
    </dgm:pt>
    <dgm:pt modelId="{10A7AAC4-640E-4172-BE5F-F42A50995BB3}" type="sibTrans" cxnId="{7A2A69E8-ACF9-415A-B40F-D43D9B7CE951}">
      <dgm:prSet/>
      <dgm:spPr/>
      <dgm:t>
        <a:bodyPr/>
        <a:lstStyle/>
        <a:p>
          <a:endParaRPr lang="en-ZA"/>
        </a:p>
      </dgm:t>
    </dgm:pt>
    <dgm:pt modelId="{408DDB8B-D5FF-4570-8853-7EE217A8F0FA}" type="pres">
      <dgm:prSet presAssocID="{48322D41-A579-44C8-A190-6DEDDE9DE6F6}" presName="hierChild1" presStyleCnt="0">
        <dgm:presLayoutVars>
          <dgm:orgChart val="1"/>
          <dgm:chPref val="1"/>
          <dgm:dir/>
          <dgm:animOne val="branch"/>
          <dgm:animLvl val="lvl"/>
          <dgm:resizeHandles/>
        </dgm:presLayoutVars>
      </dgm:prSet>
      <dgm:spPr/>
    </dgm:pt>
    <dgm:pt modelId="{9B432C9E-9ED5-4B9A-BDDC-C06525175C60}" type="pres">
      <dgm:prSet presAssocID="{52ACD473-55B8-462F-B3C8-7DE6BEE0C4E7}" presName="hierRoot1" presStyleCnt="0">
        <dgm:presLayoutVars>
          <dgm:hierBranch/>
        </dgm:presLayoutVars>
      </dgm:prSet>
      <dgm:spPr/>
    </dgm:pt>
    <dgm:pt modelId="{8BB4DEAC-7A0F-4371-8DA4-3ECD0A0A908D}" type="pres">
      <dgm:prSet presAssocID="{52ACD473-55B8-462F-B3C8-7DE6BEE0C4E7}" presName="rootComposite1" presStyleCnt="0"/>
      <dgm:spPr/>
    </dgm:pt>
    <dgm:pt modelId="{6380E420-EF72-44E3-8186-B7C5A369E613}" type="pres">
      <dgm:prSet presAssocID="{52ACD473-55B8-462F-B3C8-7DE6BEE0C4E7}" presName="rootText1" presStyleLbl="node0" presStyleIdx="0" presStyleCnt="1">
        <dgm:presLayoutVars>
          <dgm:chPref val="3"/>
        </dgm:presLayoutVars>
      </dgm:prSet>
      <dgm:spPr/>
    </dgm:pt>
    <dgm:pt modelId="{620F74E4-5834-4BCC-A1E1-66ADBBC385DB}" type="pres">
      <dgm:prSet presAssocID="{52ACD473-55B8-462F-B3C8-7DE6BEE0C4E7}" presName="rootConnector1" presStyleLbl="node1" presStyleIdx="0" presStyleCnt="0"/>
      <dgm:spPr/>
    </dgm:pt>
    <dgm:pt modelId="{8C1442C4-7C1D-4E06-A8B1-E903097B3AF3}" type="pres">
      <dgm:prSet presAssocID="{52ACD473-55B8-462F-B3C8-7DE6BEE0C4E7}" presName="hierChild2" presStyleCnt="0"/>
      <dgm:spPr/>
    </dgm:pt>
    <dgm:pt modelId="{6738D343-DD33-4E95-9CE7-87D818D326CE}" type="pres">
      <dgm:prSet presAssocID="{41335CEB-1CBC-427C-B28D-2CDBBB4820E5}" presName="Name35" presStyleLbl="parChTrans1D2" presStyleIdx="0" presStyleCnt="2"/>
      <dgm:spPr/>
    </dgm:pt>
    <dgm:pt modelId="{9A85F9A7-10F5-4155-BC86-B380302BE8F8}" type="pres">
      <dgm:prSet presAssocID="{77F47843-5058-445A-911C-3DD226B1D34E}" presName="hierRoot2" presStyleCnt="0">
        <dgm:presLayoutVars>
          <dgm:hierBranch/>
        </dgm:presLayoutVars>
      </dgm:prSet>
      <dgm:spPr/>
    </dgm:pt>
    <dgm:pt modelId="{A2A40C04-7B1D-4D23-AAA9-FFAC42FAD6D4}" type="pres">
      <dgm:prSet presAssocID="{77F47843-5058-445A-911C-3DD226B1D34E}" presName="rootComposite" presStyleCnt="0"/>
      <dgm:spPr/>
    </dgm:pt>
    <dgm:pt modelId="{4B3B1D8D-4203-407B-B03E-2B72973BD8B3}" type="pres">
      <dgm:prSet presAssocID="{77F47843-5058-445A-911C-3DD226B1D34E}" presName="rootText" presStyleLbl="node2" presStyleIdx="0" presStyleCnt="2">
        <dgm:presLayoutVars>
          <dgm:chPref val="3"/>
        </dgm:presLayoutVars>
      </dgm:prSet>
      <dgm:spPr/>
    </dgm:pt>
    <dgm:pt modelId="{DFACBA12-DBC3-4F78-BCA4-EB759F65D9A0}" type="pres">
      <dgm:prSet presAssocID="{77F47843-5058-445A-911C-3DD226B1D34E}" presName="rootConnector" presStyleLbl="node2" presStyleIdx="0" presStyleCnt="2"/>
      <dgm:spPr/>
    </dgm:pt>
    <dgm:pt modelId="{213AEADA-D024-4002-865A-8E07F814CE4D}" type="pres">
      <dgm:prSet presAssocID="{77F47843-5058-445A-911C-3DD226B1D34E}" presName="hierChild4" presStyleCnt="0"/>
      <dgm:spPr/>
    </dgm:pt>
    <dgm:pt modelId="{DA86A410-37D2-4F16-89D6-111F47F3D09E}" type="pres">
      <dgm:prSet presAssocID="{77F47843-5058-445A-911C-3DD226B1D34E}" presName="hierChild5" presStyleCnt="0"/>
      <dgm:spPr/>
    </dgm:pt>
    <dgm:pt modelId="{77C14EAD-C9E8-43B0-AE84-21DFE53880E7}" type="pres">
      <dgm:prSet presAssocID="{9307ACAC-9D2C-4206-9A15-A2421EF9729E}" presName="Name35" presStyleLbl="parChTrans1D2" presStyleIdx="1" presStyleCnt="2"/>
      <dgm:spPr/>
    </dgm:pt>
    <dgm:pt modelId="{FBED42BD-C1AC-41E1-82DB-E28CD733FFCD}" type="pres">
      <dgm:prSet presAssocID="{1619585A-23B6-496E-8368-79E7A672776F}" presName="hierRoot2" presStyleCnt="0">
        <dgm:presLayoutVars>
          <dgm:hierBranch/>
        </dgm:presLayoutVars>
      </dgm:prSet>
      <dgm:spPr/>
    </dgm:pt>
    <dgm:pt modelId="{EFD6F930-0AC7-4BD3-9C73-FAE0CEAD5BA2}" type="pres">
      <dgm:prSet presAssocID="{1619585A-23B6-496E-8368-79E7A672776F}" presName="rootComposite" presStyleCnt="0"/>
      <dgm:spPr/>
    </dgm:pt>
    <dgm:pt modelId="{E7980D58-8BD5-416A-9469-0FF7D7155644}" type="pres">
      <dgm:prSet presAssocID="{1619585A-23B6-496E-8368-79E7A672776F}" presName="rootText" presStyleLbl="node2" presStyleIdx="1" presStyleCnt="2">
        <dgm:presLayoutVars>
          <dgm:chPref val="3"/>
        </dgm:presLayoutVars>
      </dgm:prSet>
      <dgm:spPr/>
    </dgm:pt>
    <dgm:pt modelId="{FF38A681-11F3-47CC-A04D-24DC8EBE0CF6}" type="pres">
      <dgm:prSet presAssocID="{1619585A-23B6-496E-8368-79E7A672776F}" presName="rootConnector" presStyleLbl="node2" presStyleIdx="1" presStyleCnt="2"/>
      <dgm:spPr/>
    </dgm:pt>
    <dgm:pt modelId="{41926652-FE2A-4A02-9D0C-7B8499E5D7BE}" type="pres">
      <dgm:prSet presAssocID="{1619585A-23B6-496E-8368-79E7A672776F}" presName="hierChild4" presStyleCnt="0"/>
      <dgm:spPr/>
    </dgm:pt>
    <dgm:pt modelId="{348493B9-7F85-4B6D-A99F-8BE7CC925B59}" type="pres">
      <dgm:prSet presAssocID="{91D39CF0-B5FB-4DCE-B5B4-1D04E3E1FDCE}" presName="Name35" presStyleLbl="parChTrans1D3" presStyleIdx="0" presStyleCnt="2"/>
      <dgm:spPr/>
    </dgm:pt>
    <dgm:pt modelId="{B802AA95-865C-479D-8596-C07855D30A7F}" type="pres">
      <dgm:prSet presAssocID="{3F9E36F1-5723-480E-8AE6-B068070394C9}" presName="hierRoot2" presStyleCnt="0">
        <dgm:presLayoutVars>
          <dgm:hierBranch val="r"/>
        </dgm:presLayoutVars>
      </dgm:prSet>
      <dgm:spPr/>
    </dgm:pt>
    <dgm:pt modelId="{855B24A1-2CCC-4233-94D9-6EAEFCAEA554}" type="pres">
      <dgm:prSet presAssocID="{3F9E36F1-5723-480E-8AE6-B068070394C9}" presName="rootComposite" presStyleCnt="0"/>
      <dgm:spPr/>
    </dgm:pt>
    <dgm:pt modelId="{C6E72DC0-AD43-449D-B24A-6CF0E7549247}" type="pres">
      <dgm:prSet presAssocID="{3F9E36F1-5723-480E-8AE6-B068070394C9}" presName="rootText" presStyleLbl="node3" presStyleIdx="0" presStyleCnt="2">
        <dgm:presLayoutVars>
          <dgm:chPref val="3"/>
        </dgm:presLayoutVars>
      </dgm:prSet>
      <dgm:spPr/>
    </dgm:pt>
    <dgm:pt modelId="{2980771F-6059-4DDA-A6FB-4349579B9200}" type="pres">
      <dgm:prSet presAssocID="{3F9E36F1-5723-480E-8AE6-B068070394C9}" presName="rootConnector" presStyleLbl="node3" presStyleIdx="0" presStyleCnt="2"/>
      <dgm:spPr/>
    </dgm:pt>
    <dgm:pt modelId="{C4D6B455-7116-4E41-B7E4-CD41EBBACD46}" type="pres">
      <dgm:prSet presAssocID="{3F9E36F1-5723-480E-8AE6-B068070394C9}" presName="hierChild4" presStyleCnt="0"/>
      <dgm:spPr/>
    </dgm:pt>
    <dgm:pt modelId="{42053289-8B0F-4DED-8AFF-9D6B2F2E5518}" type="pres">
      <dgm:prSet presAssocID="{3F9E36F1-5723-480E-8AE6-B068070394C9}" presName="hierChild5" presStyleCnt="0"/>
      <dgm:spPr/>
    </dgm:pt>
    <dgm:pt modelId="{CEB9E284-EAA6-4A1E-9E29-894148899DEF}" type="pres">
      <dgm:prSet presAssocID="{79D4E7E6-9213-4035-A20B-A4302A2F6E91}" presName="Name35" presStyleLbl="parChTrans1D3" presStyleIdx="1" presStyleCnt="2"/>
      <dgm:spPr/>
    </dgm:pt>
    <dgm:pt modelId="{BBA397BF-4E67-4C1E-93D9-56E9746F3D22}" type="pres">
      <dgm:prSet presAssocID="{AA4EAD86-4CCA-4CAD-978C-9F5555673806}" presName="hierRoot2" presStyleCnt="0">
        <dgm:presLayoutVars>
          <dgm:hierBranch val="r"/>
        </dgm:presLayoutVars>
      </dgm:prSet>
      <dgm:spPr/>
    </dgm:pt>
    <dgm:pt modelId="{BBD57BDF-45CE-4D9E-A16B-2D5BA860E2A6}" type="pres">
      <dgm:prSet presAssocID="{AA4EAD86-4CCA-4CAD-978C-9F5555673806}" presName="rootComposite" presStyleCnt="0"/>
      <dgm:spPr/>
    </dgm:pt>
    <dgm:pt modelId="{7BE74F08-8ACA-4A7C-94CD-A6939078B9D5}" type="pres">
      <dgm:prSet presAssocID="{AA4EAD86-4CCA-4CAD-978C-9F5555673806}" presName="rootText" presStyleLbl="node3" presStyleIdx="1" presStyleCnt="2">
        <dgm:presLayoutVars>
          <dgm:chPref val="3"/>
        </dgm:presLayoutVars>
      </dgm:prSet>
      <dgm:spPr/>
    </dgm:pt>
    <dgm:pt modelId="{EA6A03B9-DCFE-4DB3-A124-90F6DB8BF116}" type="pres">
      <dgm:prSet presAssocID="{AA4EAD86-4CCA-4CAD-978C-9F5555673806}" presName="rootConnector" presStyleLbl="node3" presStyleIdx="1" presStyleCnt="2"/>
      <dgm:spPr/>
    </dgm:pt>
    <dgm:pt modelId="{DE5A119E-6CF9-42EB-B167-FAC4B6986CD1}" type="pres">
      <dgm:prSet presAssocID="{AA4EAD86-4CCA-4CAD-978C-9F5555673806}" presName="hierChild4" presStyleCnt="0"/>
      <dgm:spPr/>
    </dgm:pt>
    <dgm:pt modelId="{24059C3D-2D0E-417C-A621-3FF014C040F4}" type="pres">
      <dgm:prSet presAssocID="{AA4EAD86-4CCA-4CAD-978C-9F5555673806}" presName="hierChild5" presStyleCnt="0"/>
      <dgm:spPr/>
    </dgm:pt>
    <dgm:pt modelId="{CD068BEE-3C59-4087-8A70-04A33B8FD71F}" type="pres">
      <dgm:prSet presAssocID="{1619585A-23B6-496E-8368-79E7A672776F}" presName="hierChild5" presStyleCnt="0"/>
      <dgm:spPr/>
    </dgm:pt>
    <dgm:pt modelId="{54BB82A7-BB2F-45BD-9356-3DF99A22BEB7}" type="pres">
      <dgm:prSet presAssocID="{52ACD473-55B8-462F-B3C8-7DE6BEE0C4E7}" presName="hierChild3" presStyleCnt="0"/>
      <dgm:spPr/>
    </dgm:pt>
  </dgm:ptLst>
  <dgm:cxnLst>
    <dgm:cxn modelId="{DA474B09-ED61-4515-9C28-61B17FE3A1DD}" type="presOf" srcId="{9307ACAC-9D2C-4206-9A15-A2421EF9729E}" destId="{77C14EAD-C9E8-43B0-AE84-21DFE53880E7}" srcOrd="0" destOrd="0" presId="urn:microsoft.com/office/officeart/2005/8/layout/orgChart1"/>
    <dgm:cxn modelId="{AD7CAA09-7597-47A3-9E7A-F9B00C56E9E2}" type="presOf" srcId="{3F9E36F1-5723-480E-8AE6-B068070394C9}" destId="{2980771F-6059-4DDA-A6FB-4349579B9200}" srcOrd="1" destOrd="0" presId="urn:microsoft.com/office/officeart/2005/8/layout/orgChart1"/>
    <dgm:cxn modelId="{6B64E609-4124-415C-BEA6-B3969466B5A5}" srcId="{48322D41-A579-44C8-A190-6DEDDE9DE6F6}" destId="{52ACD473-55B8-462F-B3C8-7DE6BEE0C4E7}" srcOrd="0" destOrd="0" parTransId="{41D2DC5A-2049-4E70-9482-4AE170673FB0}" sibTransId="{56877ADF-5A91-4D49-A498-5ADE500148C8}"/>
    <dgm:cxn modelId="{008AFA0E-8832-4CC4-8093-BC3806CF9069}" srcId="{1619585A-23B6-496E-8368-79E7A672776F}" destId="{3F9E36F1-5723-480E-8AE6-B068070394C9}" srcOrd="0" destOrd="0" parTransId="{91D39CF0-B5FB-4DCE-B5B4-1D04E3E1FDCE}" sibTransId="{6B885F82-E7A7-4D82-844D-EB940076DE0C}"/>
    <dgm:cxn modelId="{4B6F0914-8E07-4925-B55F-EE68FF96BD77}" srcId="{52ACD473-55B8-462F-B3C8-7DE6BEE0C4E7}" destId="{77F47843-5058-445A-911C-3DD226B1D34E}" srcOrd="0" destOrd="0" parTransId="{41335CEB-1CBC-427C-B28D-2CDBBB4820E5}" sibTransId="{E120C1F0-A449-4880-B073-35A756A32C28}"/>
    <dgm:cxn modelId="{48D12D60-9017-49AD-BBF9-08A68DDF8D0E}" type="presOf" srcId="{3F9E36F1-5723-480E-8AE6-B068070394C9}" destId="{C6E72DC0-AD43-449D-B24A-6CF0E7549247}" srcOrd="0" destOrd="0" presId="urn:microsoft.com/office/officeart/2005/8/layout/orgChart1"/>
    <dgm:cxn modelId="{1CCA9465-F119-43DE-9175-A4F6CB2B6F9D}" type="presOf" srcId="{79D4E7E6-9213-4035-A20B-A4302A2F6E91}" destId="{CEB9E284-EAA6-4A1E-9E29-894148899DEF}" srcOrd="0" destOrd="0" presId="urn:microsoft.com/office/officeart/2005/8/layout/orgChart1"/>
    <dgm:cxn modelId="{EF9E5B6D-D448-4251-B8EF-FFB69C5DBDF1}" type="presOf" srcId="{41335CEB-1CBC-427C-B28D-2CDBBB4820E5}" destId="{6738D343-DD33-4E95-9CE7-87D818D326CE}" srcOrd="0" destOrd="0" presId="urn:microsoft.com/office/officeart/2005/8/layout/orgChart1"/>
    <dgm:cxn modelId="{90ECE574-3942-4C2F-B80F-C5C7FE9FABC2}" type="presOf" srcId="{77F47843-5058-445A-911C-3DD226B1D34E}" destId="{DFACBA12-DBC3-4F78-BCA4-EB759F65D9A0}" srcOrd="1" destOrd="0" presId="urn:microsoft.com/office/officeart/2005/8/layout/orgChart1"/>
    <dgm:cxn modelId="{A7F41A59-EC83-470F-B7DE-838D70F7523E}" type="presOf" srcId="{AA4EAD86-4CCA-4CAD-978C-9F5555673806}" destId="{7BE74F08-8ACA-4A7C-94CD-A6939078B9D5}" srcOrd="0" destOrd="0" presId="urn:microsoft.com/office/officeart/2005/8/layout/orgChart1"/>
    <dgm:cxn modelId="{D5478688-42CE-40BE-B5FE-162A2D308D92}" type="presOf" srcId="{91D39CF0-B5FB-4DCE-B5B4-1D04E3E1FDCE}" destId="{348493B9-7F85-4B6D-A99F-8BE7CC925B59}" srcOrd="0" destOrd="0" presId="urn:microsoft.com/office/officeart/2005/8/layout/orgChart1"/>
    <dgm:cxn modelId="{432B8589-1EAE-4078-8D82-A7492C046E79}" type="presOf" srcId="{48322D41-A579-44C8-A190-6DEDDE9DE6F6}" destId="{408DDB8B-D5FF-4570-8853-7EE217A8F0FA}" srcOrd="0" destOrd="0" presId="urn:microsoft.com/office/officeart/2005/8/layout/orgChart1"/>
    <dgm:cxn modelId="{7E090A99-45D7-4145-9F30-A3319E0E3978}" type="presOf" srcId="{77F47843-5058-445A-911C-3DD226B1D34E}" destId="{4B3B1D8D-4203-407B-B03E-2B72973BD8B3}" srcOrd="0" destOrd="0" presId="urn:microsoft.com/office/officeart/2005/8/layout/orgChart1"/>
    <dgm:cxn modelId="{10E5BCB6-6D71-420E-B7C5-037529335BCD}" type="presOf" srcId="{52ACD473-55B8-462F-B3C8-7DE6BEE0C4E7}" destId="{620F74E4-5834-4BCC-A1E1-66ADBBC385DB}" srcOrd="1" destOrd="0" presId="urn:microsoft.com/office/officeart/2005/8/layout/orgChart1"/>
    <dgm:cxn modelId="{1FC9C9D0-4EC0-4173-BC8D-179EB445EEE1}" type="presOf" srcId="{AA4EAD86-4CCA-4CAD-978C-9F5555673806}" destId="{EA6A03B9-DCFE-4DB3-A124-90F6DB8BF116}" srcOrd="1" destOrd="0" presId="urn:microsoft.com/office/officeart/2005/8/layout/orgChart1"/>
    <dgm:cxn modelId="{ACB3F3DD-D885-4B61-BD15-E7BBC97CC391}" type="presOf" srcId="{52ACD473-55B8-462F-B3C8-7DE6BEE0C4E7}" destId="{6380E420-EF72-44E3-8186-B7C5A369E613}" srcOrd="0" destOrd="0" presId="urn:microsoft.com/office/officeart/2005/8/layout/orgChart1"/>
    <dgm:cxn modelId="{B81DADE3-37FF-45E9-B6DF-34B073F0C814}" srcId="{52ACD473-55B8-462F-B3C8-7DE6BEE0C4E7}" destId="{1619585A-23B6-496E-8368-79E7A672776F}" srcOrd="1" destOrd="0" parTransId="{9307ACAC-9D2C-4206-9A15-A2421EF9729E}" sibTransId="{1882E5F9-F5CA-4E47-BEB1-351856BFF65C}"/>
    <dgm:cxn modelId="{7A2A69E8-ACF9-415A-B40F-D43D9B7CE951}" srcId="{1619585A-23B6-496E-8368-79E7A672776F}" destId="{AA4EAD86-4CCA-4CAD-978C-9F5555673806}" srcOrd="1" destOrd="0" parTransId="{79D4E7E6-9213-4035-A20B-A4302A2F6E91}" sibTransId="{10A7AAC4-640E-4172-BE5F-F42A50995BB3}"/>
    <dgm:cxn modelId="{C96C31E9-2FE4-4A8C-A6C7-F46E0B8EA31E}" type="presOf" srcId="{1619585A-23B6-496E-8368-79E7A672776F}" destId="{FF38A681-11F3-47CC-A04D-24DC8EBE0CF6}" srcOrd="1" destOrd="0" presId="urn:microsoft.com/office/officeart/2005/8/layout/orgChart1"/>
    <dgm:cxn modelId="{C1F9C1ED-77A4-406A-AB7F-6C265B15C530}" type="presOf" srcId="{1619585A-23B6-496E-8368-79E7A672776F}" destId="{E7980D58-8BD5-416A-9469-0FF7D7155644}" srcOrd="0" destOrd="0" presId="urn:microsoft.com/office/officeart/2005/8/layout/orgChart1"/>
    <dgm:cxn modelId="{C3F7666F-B770-4E66-9E7B-619F420B48E8}" type="presParOf" srcId="{408DDB8B-D5FF-4570-8853-7EE217A8F0FA}" destId="{9B432C9E-9ED5-4B9A-BDDC-C06525175C60}" srcOrd="0" destOrd="0" presId="urn:microsoft.com/office/officeart/2005/8/layout/orgChart1"/>
    <dgm:cxn modelId="{61A0C065-4FB8-445D-868A-8837C0A1104D}" type="presParOf" srcId="{9B432C9E-9ED5-4B9A-BDDC-C06525175C60}" destId="{8BB4DEAC-7A0F-4371-8DA4-3ECD0A0A908D}" srcOrd="0" destOrd="0" presId="urn:microsoft.com/office/officeart/2005/8/layout/orgChart1"/>
    <dgm:cxn modelId="{3DBC2119-1348-41E7-8754-3752DE1F7A6C}" type="presParOf" srcId="{8BB4DEAC-7A0F-4371-8DA4-3ECD0A0A908D}" destId="{6380E420-EF72-44E3-8186-B7C5A369E613}" srcOrd="0" destOrd="0" presId="urn:microsoft.com/office/officeart/2005/8/layout/orgChart1"/>
    <dgm:cxn modelId="{FEBAF78A-8294-42E4-8DCF-3306118DDD14}" type="presParOf" srcId="{8BB4DEAC-7A0F-4371-8DA4-3ECD0A0A908D}" destId="{620F74E4-5834-4BCC-A1E1-66ADBBC385DB}" srcOrd="1" destOrd="0" presId="urn:microsoft.com/office/officeart/2005/8/layout/orgChart1"/>
    <dgm:cxn modelId="{02B1DFFA-D791-40A4-AFBE-B46591B77870}" type="presParOf" srcId="{9B432C9E-9ED5-4B9A-BDDC-C06525175C60}" destId="{8C1442C4-7C1D-4E06-A8B1-E903097B3AF3}" srcOrd="1" destOrd="0" presId="urn:microsoft.com/office/officeart/2005/8/layout/orgChart1"/>
    <dgm:cxn modelId="{84F709E3-1250-4E50-BD78-CCDDBBE233A0}" type="presParOf" srcId="{8C1442C4-7C1D-4E06-A8B1-E903097B3AF3}" destId="{6738D343-DD33-4E95-9CE7-87D818D326CE}" srcOrd="0" destOrd="0" presId="urn:microsoft.com/office/officeart/2005/8/layout/orgChart1"/>
    <dgm:cxn modelId="{FAB68D27-D18B-4D0D-9101-702D7DB6EB34}" type="presParOf" srcId="{8C1442C4-7C1D-4E06-A8B1-E903097B3AF3}" destId="{9A85F9A7-10F5-4155-BC86-B380302BE8F8}" srcOrd="1" destOrd="0" presId="urn:microsoft.com/office/officeart/2005/8/layout/orgChart1"/>
    <dgm:cxn modelId="{23FC2E7F-54EF-4764-A5FE-8414D8D53DEE}" type="presParOf" srcId="{9A85F9A7-10F5-4155-BC86-B380302BE8F8}" destId="{A2A40C04-7B1D-4D23-AAA9-FFAC42FAD6D4}" srcOrd="0" destOrd="0" presId="urn:microsoft.com/office/officeart/2005/8/layout/orgChart1"/>
    <dgm:cxn modelId="{62428317-3799-4599-9E76-C0906F2C6EB2}" type="presParOf" srcId="{A2A40C04-7B1D-4D23-AAA9-FFAC42FAD6D4}" destId="{4B3B1D8D-4203-407B-B03E-2B72973BD8B3}" srcOrd="0" destOrd="0" presId="urn:microsoft.com/office/officeart/2005/8/layout/orgChart1"/>
    <dgm:cxn modelId="{D42AA907-0863-4E85-8840-B96B02FD068C}" type="presParOf" srcId="{A2A40C04-7B1D-4D23-AAA9-FFAC42FAD6D4}" destId="{DFACBA12-DBC3-4F78-BCA4-EB759F65D9A0}" srcOrd="1" destOrd="0" presId="urn:microsoft.com/office/officeart/2005/8/layout/orgChart1"/>
    <dgm:cxn modelId="{1F1C2140-F72D-4F6D-84A5-DAAB5FE88ED1}" type="presParOf" srcId="{9A85F9A7-10F5-4155-BC86-B380302BE8F8}" destId="{213AEADA-D024-4002-865A-8E07F814CE4D}" srcOrd="1" destOrd="0" presId="urn:microsoft.com/office/officeart/2005/8/layout/orgChart1"/>
    <dgm:cxn modelId="{C3B02248-65B4-4527-A2B0-EC1A128B27C3}" type="presParOf" srcId="{9A85F9A7-10F5-4155-BC86-B380302BE8F8}" destId="{DA86A410-37D2-4F16-89D6-111F47F3D09E}" srcOrd="2" destOrd="0" presId="urn:microsoft.com/office/officeart/2005/8/layout/orgChart1"/>
    <dgm:cxn modelId="{A014F41D-14B3-49C4-A6AD-C3A0CE7D5403}" type="presParOf" srcId="{8C1442C4-7C1D-4E06-A8B1-E903097B3AF3}" destId="{77C14EAD-C9E8-43B0-AE84-21DFE53880E7}" srcOrd="2" destOrd="0" presId="urn:microsoft.com/office/officeart/2005/8/layout/orgChart1"/>
    <dgm:cxn modelId="{7C5D055F-374E-4733-BCC0-9534120CFE19}" type="presParOf" srcId="{8C1442C4-7C1D-4E06-A8B1-E903097B3AF3}" destId="{FBED42BD-C1AC-41E1-82DB-E28CD733FFCD}" srcOrd="3" destOrd="0" presId="urn:microsoft.com/office/officeart/2005/8/layout/orgChart1"/>
    <dgm:cxn modelId="{9564C1CD-9619-4C04-AB7F-9B34AD6B1317}" type="presParOf" srcId="{FBED42BD-C1AC-41E1-82DB-E28CD733FFCD}" destId="{EFD6F930-0AC7-4BD3-9C73-FAE0CEAD5BA2}" srcOrd="0" destOrd="0" presId="urn:microsoft.com/office/officeart/2005/8/layout/orgChart1"/>
    <dgm:cxn modelId="{EF67DB21-5A07-4BAD-804A-85214C7C835D}" type="presParOf" srcId="{EFD6F930-0AC7-4BD3-9C73-FAE0CEAD5BA2}" destId="{E7980D58-8BD5-416A-9469-0FF7D7155644}" srcOrd="0" destOrd="0" presId="urn:microsoft.com/office/officeart/2005/8/layout/orgChart1"/>
    <dgm:cxn modelId="{29554A1A-0B10-47F9-A448-BDA64DD1BC53}" type="presParOf" srcId="{EFD6F930-0AC7-4BD3-9C73-FAE0CEAD5BA2}" destId="{FF38A681-11F3-47CC-A04D-24DC8EBE0CF6}" srcOrd="1" destOrd="0" presId="urn:microsoft.com/office/officeart/2005/8/layout/orgChart1"/>
    <dgm:cxn modelId="{F5ED8FDD-5C18-4CB9-98B0-ED43DF62F58B}" type="presParOf" srcId="{FBED42BD-C1AC-41E1-82DB-E28CD733FFCD}" destId="{41926652-FE2A-4A02-9D0C-7B8499E5D7BE}" srcOrd="1" destOrd="0" presId="urn:microsoft.com/office/officeart/2005/8/layout/orgChart1"/>
    <dgm:cxn modelId="{79C5532E-800C-4918-843D-2CE6CD4E790B}" type="presParOf" srcId="{41926652-FE2A-4A02-9D0C-7B8499E5D7BE}" destId="{348493B9-7F85-4B6D-A99F-8BE7CC925B59}" srcOrd="0" destOrd="0" presId="urn:microsoft.com/office/officeart/2005/8/layout/orgChart1"/>
    <dgm:cxn modelId="{4F907E34-CF75-4768-ABBD-3980F88AE93A}" type="presParOf" srcId="{41926652-FE2A-4A02-9D0C-7B8499E5D7BE}" destId="{B802AA95-865C-479D-8596-C07855D30A7F}" srcOrd="1" destOrd="0" presId="urn:microsoft.com/office/officeart/2005/8/layout/orgChart1"/>
    <dgm:cxn modelId="{898D3538-FF8A-41DD-BFCB-166670A1E366}" type="presParOf" srcId="{B802AA95-865C-479D-8596-C07855D30A7F}" destId="{855B24A1-2CCC-4233-94D9-6EAEFCAEA554}" srcOrd="0" destOrd="0" presId="urn:microsoft.com/office/officeart/2005/8/layout/orgChart1"/>
    <dgm:cxn modelId="{C25F867E-6D4E-4D0F-BB24-2C11767C156C}" type="presParOf" srcId="{855B24A1-2CCC-4233-94D9-6EAEFCAEA554}" destId="{C6E72DC0-AD43-449D-B24A-6CF0E7549247}" srcOrd="0" destOrd="0" presId="urn:microsoft.com/office/officeart/2005/8/layout/orgChart1"/>
    <dgm:cxn modelId="{4FB8F49F-AF77-46BD-9DC3-3ACF56C749CD}" type="presParOf" srcId="{855B24A1-2CCC-4233-94D9-6EAEFCAEA554}" destId="{2980771F-6059-4DDA-A6FB-4349579B9200}" srcOrd="1" destOrd="0" presId="urn:microsoft.com/office/officeart/2005/8/layout/orgChart1"/>
    <dgm:cxn modelId="{38B7B95F-E362-4FF7-9742-7ED3F58FFD5C}" type="presParOf" srcId="{B802AA95-865C-479D-8596-C07855D30A7F}" destId="{C4D6B455-7116-4E41-B7E4-CD41EBBACD46}" srcOrd="1" destOrd="0" presId="urn:microsoft.com/office/officeart/2005/8/layout/orgChart1"/>
    <dgm:cxn modelId="{95040E73-6788-4CA0-92A2-AED60CC64D09}" type="presParOf" srcId="{B802AA95-865C-479D-8596-C07855D30A7F}" destId="{42053289-8B0F-4DED-8AFF-9D6B2F2E5518}" srcOrd="2" destOrd="0" presId="urn:microsoft.com/office/officeart/2005/8/layout/orgChart1"/>
    <dgm:cxn modelId="{3693326A-2A97-4E10-BD5F-CC00118E5CEE}" type="presParOf" srcId="{41926652-FE2A-4A02-9D0C-7B8499E5D7BE}" destId="{CEB9E284-EAA6-4A1E-9E29-894148899DEF}" srcOrd="2" destOrd="0" presId="urn:microsoft.com/office/officeart/2005/8/layout/orgChart1"/>
    <dgm:cxn modelId="{22ACB8E6-5495-483B-ADD5-CD151A874ED1}" type="presParOf" srcId="{41926652-FE2A-4A02-9D0C-7B8499E5D7BE}" destId="{BBA397BF-4E67-4C1E-93D9-56E9746F3D22}" srcOrd="3" destOrd="0" presId="urn:microsoft.com/office/officeart/2005/8/layout/orgChart1"/>
    <dgm:cxn modelId="{336AFE69-131A-4426-92CC-DF64C6CE6CE2}" type="presParOf" srcId="{BBA397BF-4E67-4C1E-93D9-56E9746F3D22}" destId="{BBD57BDF-45CE-4D9E-A16B-2D5BA860E2A6}" srcOrd="0" destOrd="0" presId="urn:microsoft.com/office/officeart/2005/8/layout/orgChart1"/>
    <dgm:cxn modelId="{F19538F0-6F03-400E-8FA1-D92A136B8F71}" type="presParOf" srcId="{BBD57BDF-45CE-4D9E-A16B-2D5BA860E2A6}" destId="{7BE74F08-8ACA-4A7C-94CD-A6939078B9D5}" srcOrd="0" destOrd="0" presId="urn:microsoft.com/office/officeart/2005/8/layout/orgChart1"/>
    <dgm:cxn modelId="{6E8C1CB8-9B09-4E60-9926-A71034079C6E}" type="presParOf" srcId="{BBD57BDF-45CE-4D9E-A16B-2D5BA860E2A6}" destId="{EA6A03B9-DCFE-4DB3-A124-90F6DB8BF116}" srcOrd="1" destOrd="0" presId="urn:microsoft.com/office/officeart/2005/8/layout/orgChart1"/>
    <dgm:cxn modelId="{B5FBA40E-0490-4DCA-B4D4-CF93B33574CA}" type="presParOf" srcId="{BBA397BF-4E67-4C1E-93D9-56E9746F3D22}" destId="{DE5A119E-6CF9-42EB-B167-FAC4B6986CD1}" srcOrd="1" destOrd="0" presId="urn:microsoft.com/office/officeart/2005/8/layout/orgChart1"/>
    <dgm:cxn modelId="{39F35D23-0940-4258-81FC-396B5ECC632F}" type="presParOf" srcId="{BBA397BF-4E67-4C1E-93D9-56E9746F3D22}" destId="{24059C3D-2D0E-417C-A621-3FF014C040F4}" srcOrd="2" destOrd="0" presId="urn:microsoft.com/office/officeart/2005/8/layout/orgChart1"/>
    <dgm:cxn modelId="{1569A23A-7584-4C1F-A922-E6016E8E8450}" type="presParOf" srcId="{FBED42BD-C1AC-41E1-82DB-E28CD733FFCD}" destId="{CD068BEE-3C59-4087-8A70-04A33B8FD71F}" srcOrd="2" destOrd="0" presId="urn:microsoft.com/office/officeart/2005/8/layout/orgChart1"/>
    <dgm:cxn modelId="{790590DF-20AC-4A95-9E86-BF35F7A6358F}" type="presParOf" srcId="{9B432C9E-9ED5-4B9A-BDDC-C06525175C60}" destId="{54BB82A7-BB2F-45BD-9356-3DF99A22BEB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322D41-A579-44C8-A190-6DEDDE9DE6F6}" type="doc">
      <dgm:prSet loTypeId="urn:microsoft.com/office/officeart/2005/8/layout/orgChart1" loCatId="hierarchy" qsTypeId="urn:microsoft.com/office/officeart/2005/8/quickstyle/simple1" qsCatId="simple" csTypeId="urn:microsoft.com/office/officeart/2005/8/colors/accent0_2" csCatId="mainScheme"/>
      <dgm:spPr/>
    </dgm:pt>
    <dgm:pt modelId="{52ACD473-55B8-462F-B3C8-7DE6BEE0C4E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Data</a:t>
          </a:r>
          <a:endParaRPr kumimoji="0" lang="en-US" altLang="en-US" b="0" i="0" u="none" strike="noStrike" cap="none" normalizeH="0" baseline="0">
            <a:ln/>
            <a:effectLst/>
            <a:latin typeface="Arial" pitchFamily="34" charset="0"/>
          </a:endParaRPr>
        </a:p>
      </dgm:t>
    </dgm:pt>
    <dgm:pt modelId="{41D2DC5A-2049-4E70-9482-4AE170673FB0}" type="parTrans" cxnId="{6B64E609-4124-415C-BEA6-B3969466B5A5}">
      <dgm:prSet/>
      <dgm:spPr/>
      <dgm:t>
        <a:bodyPr/>
        <a:lstStyle/>
        <a:p>
          <a:endParaRPr lang="en-ZA"/>
        </a:p>
      </dgm:t>
    </dgm:pt>
    <dgm:pt modelId="{56877ADF-5A91-4D49-A498-5ADE500148C8}" type="sibTrans" cxnId="{6B64E609-4124-415C-BEA6-B3969466B5A5}">
      <dgm:prSet/>
      <dgm:spPr/>
      <dgm:t>
        <a:bodyPr/>
        <a:lstStyle/>
        <a:p>
          <a:endParaRPr lang="en-ZA"/>
        </a:p>
      </dgm:t>
    </dgm:pt>
    <dgm:pt modelId="{77F47843-5058-445A-911C-3DD226B1D34E}">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Categorical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dgm:t>
    </dgm:pt>
    <dgm:pt modelId="{41335CEB-1CBC-427C-B28D-2CDBBB4820E5}" type="parTrans" cxnId="{4B6F0914-8E07-4925-B55F-EE68FF96BD77}">
      <dgm:prSet/>
      <dgm:spPr/>
      <dgm:t>
        <a:bodyPr/>
        <a:lstStyle/>
        <a:p>
          <a:endParaRPr lang="en-ZA"/>
        </a:p>
      </dgm:t>
    </dgm:pt>
    <dgm:pt modelId="{E120C1F0-A449-4880-B073-35A756A32C28}" type="sibTrans" cxnId="{4B6F0914-8E07-4925-B55F-EE68FF96BD77}">
      <dgm:prSet/>
      <dgm:spPr/>
      <dgm:t>
        <a:bodyPr/>
        <a:lstStyle/>
        <a:p>
          <a:endParaRPr lang="en-ZA"/>
        </a:p>
      </dgm:t>
    </dgm:pt>
    <dgm:pt modelId="{1619585A-23B6-496E-8368-79E7A672776F}">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Numerical </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b="1" i="0" u="none" strike="noStrike" cap="none" normalizeH="0" baseline="0">
            <a:ln/>
            <a:effectLst/>
            <a:latin typeface="Arial" pitchFamily="34" charset="0"/>
          </a:endParaRPr>
        </a:p>
      </dgm:t>
    </dgm:pt>
    <dgm:pt modelId="{9307ACAC-9D2C-4206-9A15-A2421EF9729E}" type="parTrans" cxnId="{B81DADE3-37FF-45E9-B6DF-34B073F0C814}">
      <dgm:prSet/>
      <dgm:spPr/>
      <dgm:t>
        <a:bodyPr/>
        <a:lstStyle/>
        <a:p>
          <a:endParaRPr lang="en-ZA"/>
        </a:p>
      </dgm:t>
    </dgm:pt>
    <dgm:pt modelId="{1882E5F9-F5CA-4E47-BEB1-351856BFF65C}" type="sibTrans" cxnId="{B81DADE3-37FF-45E9-B6DF-34B073F0C814}">
      <dgm:prSet/>
      <dgm:spPr/>
      <dgm:t>
        <a:bodyPr/>
        <a:lstStyle/>
        <a:p>
          <a:endParaRPr lang="en-ZA"/>
        </a:p>
      </dgm:t>
    </dgm:pt>
    <dgm:pt modelId="{3F9E36F1-5723-480E-8AE6-B068070394C9}">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Discrete</a:t>
          </a:r>
          <a:endParaRPr kumimoji="0" lang="en-US" altLang="en-US" b="0" i="0" u="none" strike="noStrike" cap="none" normalizeH="0" baseline="0">
            <a:ln/>
            <a:effectLst/>
            <a:latin typeface="Arial" pitchFamily="34" charset="0"/>
          </a:endParaRPr>
        </a:p>
      </dgm:t>
    </dgm:pt>
    <dgm:pt modelId="{91D39CF0-B5FB-4DCE-B5B4-1D04E3E1FDCE}" type="parTrans" cxnId="{008AFA0E-8832-4CC4-8093-BC3806CF9069}">
      <dgm:prSet/>
      <dgm:spPr/>
      <dgm:t>
        <a:bodyPr/>
        <a:lstStyle/>
        <a:p>
          <a:endParaRPr lang="en-ZA"/>
        </a:p>
      </dgm:t>
    </dgm:pt>
    <dgm:pt modelId="{6B885F82-E7A7-4D82-844D-EB940076DE0C}" type="sibTrans" cxnId="{008AFA0E-8832-4CC4-8093-BC3806CF9069}">
      <dgm:prSet/>
      <dgm:spPr/>
      <dgm:t>
        <a:bodyPr/>
        <a:lstStyle/>
        <a:p>
          <a:endParaRPr lang="en-ZA"/>
        </a:p>
      </dgm:t>
    </dgm:pt>
    <dgm:pt modelId="{AA4EAD86-4CCA-4CAD-978C-9F555567380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b="1" i="0" u="none" strike="noStrike" cap="none" normalizeH="0" baseline="0">
              <a:ln/>
              <a:effectLst/>
              <a:latin typeface="Arial" pitchFamily="34" charset="0"/>
            </a:rPr>
            <a:t>Continuous</a:t>
          </a:r>
          <a:endParaRPr kumimoji="0" lang="en-US" altLang="en-US" b="0" i="0" u="none" strike="noStrike" cap="none" normalizeH="0" baseline="0">
            <a:ln/>
            <a:effectLst/>
            <a:latin typeface="Arial" pitchFamily="34" charset="0"/>
          </a:endParaRPr>
        </a:p>
      </dgm:t>
    </dgm:pt>
    <dgm:pt modelId="{79D4E7E6-9213-4035-A20B-A4302A2F6E91}" type="parTrans" cxnId="{7A2A69E8-ACF9-415A-B40F-D43D9B7CE951}">
      <dgm:prSet/>
      <dgm:spPr/>
      <dgm:t>
        <a:bodyPr/>
        <a:lstStyle/>
        <a:p>
          <a:endParaRPr lang="en-ZA"/>
        </a:p>
      </dgm:t>
    </dgm:pt>
    <dgm:pt modelId="{10A7AAC4-640E-4172-BE5F-F42A50995BB3}" type="sibTrans" cxnId="{7A2A69E8-ACF9-415A-B40F-D43D9B7CE951}">
      <dgm:prSet/>
      <dgm:spPr/>
      <dgm:t>
        <a:bodyPr/>
        <a:lstStyle/>
        <a:p>
          <a:endParaRPr lang="en-ZA"/>
        </a:p>
      </dgm:t>
    </dgm:pt>
    <dgm:pt modelId="{408DDB8B-D5FF-4570-8853-7EE217A8F0FA}" type="pres">
      <dgm:prSet presAssocID="{48322D41-A579-44C8-A190-6DEDDE9DE6F6}" presName="hierChild1" presStyleCnt="0">
        <dgm:presLayoutVars>
          <dgm:orgChart val="1"/>
          <dgm:chPref val="1"/>
          <dgm:dir/>
          <dgm:animOne val="branch"/>
          <dgm:animLvl val="lvl"/>
          <dgm:resizeHandles/>
        </dgm:presLayoutVars>
      </dgm:prSet>
      <dgm:spPr/>
    </dgm:pt>
    <dgm:pt modelId="{9B432C9E-9ED5-4B9A-BDDC-C06525175C60}" type="pres">
      <dgm:prSet presAssocID="{52ACD473-55B8-462F-B3C8-7DE6BEE0C4E7}" presName="hierRoot1" presStyleCnt="0">
        <dgm:presLayoutVars>
          <dgm:hierBranch/>
        </dgm:presLayoutVars>
      </dgm:prSet>
      <dgm:spPr/>
    </dgm:pt>
    <dgm:pt modelId="{8BB4DEAC-7A0F-4371-8DA4-3ECD0A0A908D}" type="pres">
      <dgm:prSet presAssocID="{52ACD473-55B8-462F-B3C8-7DE6BEE0C4E7}" presName="rootComposite1" presStyleCnt="0"/>
      <dgm:spPr/>
    </dgm:pt>
    <dgm:pt modelId="{6380E420-EF72-44E3-8186-B7C5A369E613}" type="pres">
      <dgm:prSet presAssocID="{52ACD473-55B8-462F-B3C8-7DE6BEE0C4E7}" presName="rootText1" presStyleLbl="node0" presStyleIdx="0" presStyleCnt="1">
        <dgm:presLayoutVars>
          <dgm:chPref val="3"/>
        </dgm:presLayoutVars>
      </dgm:prSet>
      <dgm:spPr/>
    </dgm:pt>
    <dgm:pt modelId="{620F74E4-5834-4BCC-A1E1-66ADBBC385DB}" type="pres">
      <dgm:prSet presAssocID="{52ACD473-55B8-462F-B3C8-7DE6BEE0C4E7}" presName="rootConnector1" presStyleLbl="node1" presStyleIdx="0" presStyleCnt="0"/>
      <dgm:spPr/>
    </dgm:pt>
    <dgm:pt modelId="{8C1442C4-7C1D-4E06-A8B1-E903097B3AF3}" type="pres">
      <dgm:prSet presAssocID="{52ACD473-55B8-462F-B3C8-7DE6BEE0C4E7}" presName="hierChild2" presStyleCnt="0"/>
      <dgm:spPr/>
    </dgm:pt>
    <dgm:pt modelId="{6738D343-DD33-4E95-9CE7-87D818D326CE}" type="pres">
      <dgm:prSet presAssocID="{41335CEB-1CBC-427C-B28D-2CDBBB4820E5}" presName="Name35" presStyleLbl="parChTrans1D2" presStyleIdx="0" presStyleCnt="2"/>
      <dgm:spPr/>
    </dgm:pt>
    <dgm:pt modelId="{9A85F9A7-10F5-4155-BC86-B380302BE8F8}" type="pres">
      <dgm:prSet presAssocID="{77F47843-5058-445A-911C-3DD226B1D34E}" presName="hierRoot2" presStyleCnt="0">
        <dgm:presLayoutVars>
          <dgm:hierBranch/>
        </dgm:presLayoutVars>
      </dgm:prSet>
      <dgm:spPr/>
    </dgm:pt>
    <dgm:pt modelId="{A2A40C04-7B1D-4D23-AAA9-FFAC42FAD6D4}" type="pres">
      <dgm:prSet presAssocID="{77F47843-5058-445A-911C-3DD226B1D34E}" presName="rootComposite" presStyleCnt="0"/>
      <dgm:spPr/>
    </dgm:pt>
    <dgm:pt modelId="{4B3B1D8D-4203-407B-B03E-2B72973BD8B3}" type="pres">
      <dgm:prSet presAssocID="{77F47843-5058-445A-911C-3DD226B1D34E}" presName="rootText" presStyleLbl="node2" presStyleIdx="0" presStyleCnt="2">
        <dgm:presLayoutVars>
          <dgm:chPref val="3"/>
        </dgm:presLayoutVars>
      </dgm:prSet>
      <dgm:spPr/>
    </dgm:pt>
    <dgm:pt modelId="{DFACBA12-DBC3-4F78-BCA4-EB759F65D9A0}" type="pres">
      <dgm:prSet presAssocID="{77F47843-5058-445A-911C-3DD226B1D34E}" presName="rootConnector" presStyleLbl="node2" presStyleIdx="0" presStyleCnt="2"/>
      <dgm:spPr/>
    </dgm:pt>
    <dgm:pt modelId="{213AEADA-D024-4002-865A-8E07F814CE4D}" type="pres">
      <dgm:prSet presAssocID="{77F47843-5058-445A-911C-3DD226B1D34E}" presName="hierChild4" presStyleCnt="0"/>
      <dgm:spPr/>
    </dgm:pt>
    <dgm:pt modelId="{DA86A410-37D2-4F16-89D6-111F47F3D09E}" type="pres">
      <dgm:prSet presAssocID="{77F47843-5058-445A-911C-3DD226B1D34E}" presName="hierChild5" presStyleCnt="0"/>
      <dgm:spPr/>
    </dgm:pt>
    <dgm:pt modelId="{77C14EAD-C9E8-43B0-AE84-21DFE53880E7}" type="pres">
      <dgm:prSet presAssocID="{9307ACAC-9D2C-4206-9A15-A2421EF9729E}" presName="Name35" presStyleLbl="parChTrans1D2" presStyleIdx="1" presStyleCnt="2"/>
      <dgm:spPr/>
    </dgm:pt>
    <dgm:pt modelId="{FBED42BD-C1AC-41E1-82DB-E28CD733FFCD}" type="pres">
      <dgm:prSet presAssocID="{1619585A-23B6-496E-8368-79E7A672776F}" presName="hierRoot2" presStyleCnt="0">
        <dgm:presLayoutVars>
          <dgm:hierBranch/>
        </dgm:presLayoutVars>
      </dgm:prSet>
      <dgm:spPr/>
    </dgm:pt>
    <dgm:pt modelId="{EFD6F930-0AC7-4BD3-9C73-FAE0CEAD5BA2}" type="pres">
      <dgm:prSet presAssocID="{1619585A-23B6-496E-8368-79E7A672776F}" presName="rootComposite" presStyleCnt="0"/>
      <dgm:spPr/>
    </dgm:pt>
    <dgm:pt modelId="{E7980D58-8BD5-416A-9469-0FF7D7155644}" type="pres">
      <dgm:prSet presAssocID="{1619585A-23B6-496E-8368-79E7A672776F}" presName="rootText" presStyleLbl="node2" presStyleIdx="1" presStyleCnt="2">
        <dgm:presLayoutVars>
          <dgm:chPref val="3"/>
        </dgm:presLayoutVars>
      </dgm:prSet>
      <dgm:spPr/>
    </dgm:pt>
    <dgm:pt modelId="{FF38A681-11F3-47CC-A04D-24DC8EBE0CF6}" type="pres">
      <dgm:prSet presAssocID="{1619585A-23B6-496E-8368-79E7A672776F}" presName="rootConnector" presStyleLbl="node2" presStyleIdx="1" presStyleCnt="2"/>
      <dgm:spPr/>
    </dgm:pt>
    <dgm:pt modelId="{41926652-FE2A-4A02-9D0C-7B8499E5D7BE}" type="pres">
      <dgm:prSet presAssocID="{1619585A-23B6-496E-8368-79E7A672776F}" presName="hierChild4" presStyleCnt="0"/>
      <dgm:spPr/>
    </dgm:pt>
    <dgm:pt modelId="{348493B9-7F85-4B6D-A99F-8BE7CC925B59}" type="pres">
      <dgm:prSet presAssocID="{91D39CF0-B5FB-4DCE-B5B4-1D04E3E1FDCE}" presName="Name35" presStyleLbl="parChTrans1D3" presStyleIdx="0" presStyleCnt="2"/>
      <dgm:spPr/>
    </dgm:pt>
    <dgm:pt modelId="{B802AA95-865C-479D-8596-C07855D30A7F}" type="pres">
      <dgm:prSet presAssocID="{3F9E36F1-5723-480E-8AE6-B068070394C9}" presName="hierRoot2" presStyleCnt="0">
        <dgm:presLayoutVars>
          <dgm:hierBranch val="r"/>
        </dgm:presLayoutVars>
      </dgm:prSet>
      <dgm:spPr/>
    </dgm:pt>
    <dgm:pt modelId="{855B24A1-2CCC-4233-94D9-6EAEFCAEA554}" type="pres">
      <dgm:prSet presAssocID="{3F9E36F1-5723-480E-8AE6-B068070394C9}" presName="rootComposite" presStyleCnt="0"/>
      <dgm:spPr/>
    </dgm:pt>
    <dgm:pt modelId="{C6E72DC0-AD43-449D-B24A-6CF0E7549247}" type="pres">
      <dgm:prSet presAssocID="{3F9E36F1-5723-480E-8AE6-B068070394C9}" presName="rootText" presStyleLbl="node3" presStyleIdx="0" presStyleCnt="2">
        <dgm:presLayoutVars>
          <dgm:chPref val="3"/>
        </dgm:presLayoutVars>
      </dgm:prSet>
      <dgm:spPr/>
    </dgm:pt>
    <dgm:pt modelId="{2980771F-6059-4DDA-A6FB-4349579B9200}" type="pres">
      <dgm:prSet presAssocID="{3F9E36F1-5723-480E-8AE6-B068070394C9}" presName="rootConnector" presStyleLbl="node3" presStyleIdx="0" presStyleCnt="2"/>
      <dgm:spPr/>
    </dgm:pt>
    <dgm:pt modelId="{C4D6B455-7116-4E41-B7E4-CD41EBBACD46}" type="pres">
      <dgm:prSet presAssocID="{3F9E36F1-5723-480E-8AE6-B068070394C9}" presName="hierChild4" presStyleCnt="0"/>
      <dgm:spPr/>
    </dgm:pt>
    <dgm:pt modelId="{42053289-8B0F-4DED-8AFF-9D6B2F2E5518}" type="pres">
      <dgm:prSet presAssocID="{3F9E36F1-5723-480E-8AE6-B068070394C9}" presName="hierChild5" presStyleCnt="0"/>
      <dgm:spPr/>
    </dgm:pt>
    <dgm:pt modelId="{CEB9E284-EAA6-4A1E-9E29-894148899DEF}" type="pres">
      <dgm:prSet presAssocID="{79D4E7E6-9213-4035-A20B-A4302A2F6E91}" presName="Name35" presStyleLbl="parChTrans1D3" presStyleIdx="1" presStyleCnt="2"/>
      <dgm:spPr/>
    </dgm:pt>
    <dgm:pt modelId="{BBA397BF-4E67-4C1E-93D9-56E9746F3D22}" type="pres">
      <dgm:prSet presAssocID="{AA4EAD86-4CCA-4CAD-978C-9F5555673806}" presName="hierRoot2" presStyleCnt="0">
        <dgm:presLayoutVars>
          <dgm:hierBranch val="r"/>
        </dgm:presLayoutVars>
      </dgm:prSet>
      <dgm:spPr/>
    </dgm:pt>
    <dgm:pt modelId="{BBD57BDF-45CE-4D9E-A16B-2D5BA860E2A6}" type="pres">
      <dgm:prSet presAssocID="{AA4EAD86-4CCA-4CAD-978C-9F5555673806}" presName="rootComposite" presStyleCnt="0"/>
      <dgm:spPr/>
    </dgm:pt>
    <dgm:pt modelId="{7BE74F08-8ACA-4A7C-94CD-A6939078B9D5}" type="pres">
      <dgm:prSet presAssocID="{AA4EAD86-4CCA-4CAD-978C-9F5555673806}" presName="rootText" presStyleLbl="node3" presStyleIdx="1" presStyleCnt="2">
        <dgm:presLayoutVars>
          <dgm:chPref val="3"/>
        </dgm:presLayoutVars>
      </dgm:prSet>
      <dgm:spPr/>
    </dgm:pt>
    <dgm:pt modelId="{EA6A03B9-DCFE-4DB3-A124-90F6DB8BF116}" type="pres">
      <dgm:prSet presAssocID="{AA4EAD86-4CCA-4CAD-978C-9F5555673806}" presName="rootConnector" presStyleLbl="node3" presStyleIdx="1" presStyleCnt="2"/>
      <dgm:spPr/>
    </dgm:pt>
    <dgm:pt modelId="{DE5A119E-6CF9-42EB-B167-FAC4B6986CD1}" type="pres">
      <dgm:prSet presAssocID="{AA4EAD86-4CCA-4CAD-978C-9F5555673806}" presName="hierChild4" presStyleCnt="0"/>
      <dgm:spPr/>
    </dgm:pt>
    <dgm:pt modelId="{24059C3D-2D0E-417C-A621-3FF014C040F4}" type="pres">
      <dgm:prSet presAssocID="{AA4EAD86-4CCA-4CAD-978C-9F5555673806}" presName="hierChild5" presStyleCnt="0"/>
      <dgm:spPr/>
    </dgm:pt>
    <dgm:pt modelId="{CD068BEE-3C59-4087-8A70-04A33B8FD71F}" type="pres">
      <dgm:prSet presAssocID="{1619585A-23B6-496E-8368-79E7A672776F}" presName="hierChild5" presStyleCnt="0"/>
      <dgm:spPr/>
    </dgm:pt>
    <dgm:pt modelId="{54BB82A7-BB2F-45BD-9356-3DF99A22BEB7}" type="pres">
      <dgm:prSet presAssocID="{52ACD473-55B8-462F-B3C8-7DE6BEE0C4E7}" presName="hierChild3" presStyleCnt="0"/>
      <dgm:spPr/>
    </dgm:pt>
  </dgm:ptLst>
  <dgm:cxnLst>
    <dgm:cxn modelId="{87A9E200-6F73-4149-AF75-99B12FA8B305}" type="presOf" srcId="{41335CEB-1CBC-427C-B28D-2CDBBB4820E5}" destId="{6738D343-DD33-4E95-9CE7-87D818D326CE}" srcOrd="0" destOrd="0" presId="urn:microsoft.com/office/officeart/2005/8/layout/orgChart1"/>
    <dgm:cxn modelId="{F2C3E205-FC7F-49B9-A3AA-8D50AFC8F26F}" type="presOf" srcId="{52ACD473-55B8-462F-B3C8-7DE6BEE0C4E7}" destId="{620F74E4-5834-4BCC-A1E1-66ADBBC385DB}" srcOrd="1" destOrd="0" presId="urn:microsoft.com/office/officeart/2005/8/layout/orgChart1"/>
    <dgm:cxn modelId="{6B64E609-4124-415C-BEA6-B3969466B5A5}" srcId="{48322D41-A579-44C8-A190-6DEDDE9DE6F6}" destId="{52ACD473-55B8-462F-B3C8-7DE6BEE0C4E7}" srcOrd="0" destOrd="0" parTransId="{41D2DC5A-2049-4E70-9482-4AE170673FB0}" sibTransId="{56877ADF-5A91-4D49-A498-5ADE500148C8}"/>
    <dgm:cxn modelId="{008AFA0E-8832-4CC4-8093-BC3806CF9069}" srcId="{1619585A-23B6-496E-8368-79E7A672776F}" destId="{3F9E36F1-5723-480E-8AE6-B068070394C9}" srcOrd="0" destOrd="0" parTransId="{91D39CF0-B5FB-4DCE-B5B4-1D04E3E1FDCE}" sibTransId="{6B885F82-E7A7-4D82-844D-EB940076DE0C}"/>
    <dgm:cxn modelId="{4B6F0914-8E07-4925-B55F-EE68FF96BD77}" srcId="{52ACD473-55B8-462F-B3C8-7DE6BEE0C4E7}" destId="{77F47843-5058-445A-911C-3DD226B1D34E}" srcOrd="0" destOrd="0" parTransId="{41335CEB-1CBC-427C-B28D-2CDBBB4820E5}" sibTransId="{E120C1F0-A449-4880-B073-35A756A32C28}"/>
    <dgm:cxn modelId="{DBD61A17-0188-45DD-A82D-CF8ADC8C9DDF}" type="presOf" srcId="{3F9E36F1-5723-480E-8AE6-B068070394C9}" destId="{2980771F-6059-4DDA-A6FB-4349579B9200}" srcOrd="1" destOrd="0" presId="urn:microsoft.com/office/officeart/2005/8/layout/orgChart1"/>
    <dgm:cxn modelId="{7B07D617-89F8-4680-926D-EA6B1B3338D0}" type="presOf" srcId="{77F47843-5058-445A-911C-3DD226B1D34E}" destId="{DFACBA12-DBC3-4F78-BCA4-EB759F65D9A0}" srcOrd="1" destOrd="0" presId="urn:microsoft.com/office/officeart/2005/8/layout/orgChart1"/>
    <dgm:cxn modelId="{19D8F747-2366-4080-81FB-94304EC75A0C}" type="presOf" srcId="{9307ACAC-9D2C-4206-9A15-A2421EF9729E}" destId="{77C14EAD-C9E8-43B0-AE84-21DFE53880E7}" srcOrd="0" destOrd="0" presId="urn:microsoft.com/office/officeart/2005/8/layout/orgChart1"/>
    <dgm:cxn modelId="{701AA750-83D9-43FA-BB20-60625B932528}" type="presOf" srcId="{3F9E36F1-5723-480E-8AE6-B068070394C9}" destId="{C6E72DC0-AD43-449D-B24A-6CF0E7549247}" srcOrd="0" destOrd="0" presId="urn:microsoft.com/office/officeart/2005/8/layout/orgChart1"/>
    <dgm:cxn modelId="{3A86CB52-68CB-4E1C-BC85-C28C5B144A75}" type="presOf" srcId="{52ACD473-55B8-462F-B3C8-7DE6BEE0C4E7}" destId="{6380E420-EF72-44E3-8186-B7C5A369E613}" srcOrd="0" destOrd="0" presId="urn:microsoft.com/office/officeart/2005/8/layout/orgChart1"/>
    <dgm:cxn modelId="{47619C87-A876-403E-AAEC-01417BCBE583}" type="presOf" srcId="{77F47843-5058-445A-911C-3DD226B1D34E}" destId="{4B3B1D8D-4203-407B-B03E-2B72973BD8B3}" srcOrd="0" destOrd="0" presId="urn:microsoft.com/office/officeart/2005/8/layout/orgChart1"/>
    <dgm:cxn modelId="{B37BEF8C-2C4C-42E8-BEA2-7485E531B103}" type="presOf" srcId="{1619585A-23B6-496E-8368-79E7A672776F}" destId="{FF38A681-11F3-47CC-A04D-24DC8EBE0CF6}" srcOrd="1" destOrd="0" presId="urn:microsoft.com/office/officeart/2005/8/layout/orgChart1"/>
    <dgm:cxn modelId="{1BDCF69A-0199-4343-9B0B-2B0BD12ED208}" type="presOf" srcId="{AA4EAD86-4CCA-4CAD-978C-9F5555673806}" destId="{EA6A03B9-DCFE-4DB3-A124-90F6DB8BF116}" srcOrd="1" destOrd="0" presId="urn:microsoft.com/office/officeart/2005/8/layout/orgChart1"/>
    <dgm:cxn modelId="{B5AC52A6-39F6-4774-8981-9E1063832EC1}" type="presOf" srcId="{91D39CF0-B5FB-4DCE-B5B4-1D04E3E1FDCE}" destId="{348493B9-7F85-4B6D-A99F-8BE7CC925B59}" srcOrd="0" destOrd="0" presId="urn:microsoft.com/office/officeart/2005/8/layout/orgChart1"/>
    <dgm:cxn modelId="{695750B6-CF0A-4B32-88A9-1D636A54FB9A}" type="presOf" srcId="{79D4E7E6-9213-4035-A20B-A4302A2F6E91}" destId="{CEB9E284-EAA6-4A1E-9E29-894148899DEF}" srcOrd="0" destOrd="0" presId="urn:microsoft.com/office/officeart/2005/8/layout/orgChart1"/>
    <dgm:cxn modelId="{C0AACEB9-78DF-4549-A4E4-D5A66DA67E3A}" type="presOf" srcId="{AA4EAD86-4CCA-4CAD-978C-9F5555673806}" destId="{7BE74F08-8ACA-4A7C-94CD-A6939078B9D5}" srcOrd="0" destOrd="0" presId="urn:microsoft.com/office/officeart/2005/8/layout/orgChart1"/>
    <dgm:cxn modelId="{F8A9F8DF-A94A-46E0-A623-D4158859C33C}" type="presOf" srcId="{1619585A-23B6-496E-8368-79E7A672776F}" destId="{E7980D58-8BD5-416A-9469-0FF7D7155644}" srcOrd="0" destOrd="0" presId="urn:microsoft.com/office/officeart/2005/8/layout/orgChart1"/>
    <dgm:cxn modelId="{B81DADE3-37FF-45E9-B6DF-34B073F0C814}" srcId="{52ACD473-55B8-462F-B3C8-7DE6BEE0C4E7}" destId="{1619585A-23B6-496E-8368-79E7A672776F}" srcOrd="1" destOrd="0" parTransId="{9307ACAC-9D2C-4206-9A15-A2421EF9729E}" sibTransId="{1882E5F9-F5CA-4E47-BEB1-351856BFF65C}"/>
    <dgm:cxn modelId="{7A2A69E8-ACF9-415A-B40F-D43D9B7CE951}" srcId="{1619585A-23B6-496E-8368-79E7A672776F}" destId="{AA4EAD86-4CCA-4CAD-978C-9F5555673806}" srcOrd="1" destOrd="0" parTransId="{79D4E7E6-9213-4035-A20B-A4302A2F6E91}" sibTransId="{10A7AAC4-640E-4172-BE5F-F42A50995BB3}"/>
    <dgm:cxn modelId="{CC39D7F9-534A-421A-B61C-E4831C0A7CBF}" type="presOf" srcId="{48322D41-A579-44C8-A190-6DEDDE9DE6F6}" destId="{408DDB8B-D5FF-4570-8853-7EE217A8F0FA}" srcOrd="0" destOrd="0" presId="urn:microsoft.com/office/officeart/2005/8/layout/orgChart1"/>
    <dgm:cxn modelId="{8BD70988-E916-4B82-98A3-50AB5F74310E}" type="presParOf" srcId="{408DDB8B-D5FF-4570-8853-7EE217A8F0FA}" destId="{9B432C9E-9ED5-4B9A-BDDC-C06525175C60}" srcOrd="0" destOrd="0" presId="urn:microsoft.com/office/officeart/2005/8/layout/orgChart1"/>
    <dgm:cxn modelId="{7A534157-A74B-478A-B9FB-5A0FB2EF0D7C}" type="presParOf" srcId="{9B432C9E-9ED5-4B9A-BDDC-C06525175C60}" destId="{8BB4DEAC-7A0F-4371-8DA4-3ECD0A0A908D}" srcOrd="0" destOrd="0" presId="urn:microsoft.com/office/officeart/2005/8/layout/orgChart1"/>
    <dgm:cxn modelId="{C89B8AFF-AD01-4FC0-BFEF-044A868E409C}" type="presParOf" srcId="{8BB4DEAC-7A0F-4371-8DA4-3ECD0A0A908D}" destId="{6380E420-EF72-44E3-8186-B7C5A369E613}" srcOrd="0" destOrd="0" presId="urn:microsoft.com/office/officeart/2005/8/layout/orgChart1"/>
    <dgm:cxn modelId="{F482A4A1-D854-427F-8417-FBF010DC1C70}" type="presParOf" srcId="{8BB4DEAC-7A0F-4371-8DA4-3ECD0A0A908D}" destId="{620F74E4-5834-4BCC-A1E1-66ADBBC385DB}" srcOrd="1" destOrd="0" presId="urn:microsoft.com/office/officeart/2005/8/layout/orgChart1"/>
    <dgm:cxn modelId="{4392A505-16AA-4447-A5B3-2144C8F2E858}" type="presParOf" srcId="{9B432C9E-9ED5-4B9A-BDDC-C06525175C60}" destId="{8C1442C4-7C1D-4E06-A8B1-E903097B3AF3}" srcOrd="1" destOrd="0" presId="urn:microsoft.com/office/officeart/2005/8/layout/orgChart1"/>
    <dgm:cxn modelId="{977FBCE9-7C6A-4BED-9C5E-88ADB501ED33}" type="presParOf" srcId="{8C1442C4-7C1D-4E06-A8B1-E903097B3AF3}" destId="{6738D343-DD33-4E95-9CE7-87D818D326CE}" srcOrd="0" destOrd="0" presId="urn:microsoft.com/office/officeart/2005/8/layout/orgChart1"/>
    <dgm:cxn modelId="{9FF332F6-C360-4C11-B08B-0660C011A447}" type="presParOf" srcId="{8C1442C4-7C1D-4E06-A8B1-E903097B3AF3}" destId="{9A85F9A7-10F5-4155-BC86-B380302BE8F8}" srcOrd="1" destOrd="0" presId="urn:microsoft.com/office/officeart/2005/8/layout/orgChart1"/>
    <dgm:cxn modelId="{23B7FD3B-56CC-4A83-972B-433255A21538}" type="presParOf" srcId="{9A85F9A7-10F5-4155-BC86-B380302BE8F8}" destId="{A2A40C04-7B1D-4D23-AAA9-FFAC42FAD6D4}" srcOrd="0" destOrd="0" presId="urn:microsoft.com/office/officeart/2005/8/layout/orgChart1"/>
    <dgm:cxn modelId="{9F01E23E-EF01-41D3-8F54-395AAE5DC99D}" type="presParOf" srcId="{A2A40C04-7B1D-4D23-AAA9-FFAC42FAD6D4}" destId="{4B3B1D8D-4203-407B-B03E-2B72973BD8B3}" srcOrd="0" destOrd="0" presId="urn:microsoft.com/office/officeart/2005/8/layout/orgChart1"/>
    <dgm:cxn modelId="{D222E61D-2428-45F2-B9E5-32A43EEBE30E}" type="presParOf" srcId="{A2A40C04-7B1D-4D23-AAA9-FFAC42FAD6D4}" destId="{DFACBA12-DBC3-4F78-BCA4-EB759F65D9A0}" srcOrd="1" destOrd="0" presId="urn:microsoft.com/office/officeart/2005/8/layout/orgChart1"/>
    <dgm:cxn modelId="{724AD7B1-313B-421D-9125-C9A551C32CFF}" type="presParOf" srcId="{9A85F9A7-10F5-4155-BC86-B380302BE8F8}" destId="{213AEADA-D024-4002-865A-8E07F814CE4D}" srcOrd="1" destOrd="0" presId="urn:microsoft.com/office/officeart/2005/8/layout/orgChart1"/>
    <dgm:cxn modelId="{1C2CD806-2572-4B8C-8739-893A292DC224}" type="presParOf" srcId="{9A85F9A7-10F5-4155-BC86-B380302BE8F8}" destId="{DA86A410-37D2-4F16-89D6-111F47F3D09E}" srcOrd="2" destOrd="0" presId="urn:microsoft.com/office/officeart/2005/8/layout/orgChart1"/>
    <dgm:cxn modelId="{E2E3B912-71DA-4A41-BEEF-F8C32463EA7F}" type="presParOf" srcId="{8C1442C4-7C1D-4E06-A8B1-E903097B3AF3}" destId="{77C14EAD-C9E8-43B0-AE84-21DFE53880E7}" srcOrd="2" destOrd="0" presId="urn:microsoft.com/office/officeart/2005/8/layout/orgChart1"/>
    <dgm:cxn modelId="{28AF1361-E2FF-4C94-8E87-8E57215F5A59}" type="presParOf" srcId="{8C1442C4-7C1D-4E06-A8B1-E903097B3AF3}" destId="{FBED42BD-C1AC-41E1-82DB-E28CD733FFCD}" srcOrd="3" destOrd="0" presId="urn:microsoft.com/office/officeart/2005/8/layout/orgChart1"/>
    <dgm:cxn modelId="{1F277E35-3999-44D0-83C3-AA1192FD6FEB}" type="presParOf" srcId="{FBED42BD-C1AC-41E1-82DB-E28CD733FFCD}" destId="{EFD6F930-0AC7-4BD3-9C73-FAE0CEAD5BA2}" srcOrd="0" destOrd="0" presId="urn:microsoft.com/office/officeart/2005/8/layout/orgChart1"/>
    <dgm:cxn modelId="{DABA702C-ADC1-4726-9C06-E19D42224F3C}" type="presParOf" srcId="{EFD6F930-0AC7-4BD3-9C73-FAE0CEAD5BA2}" destId="{E7980D58-8BD5-416A-9469-0FF7D7155644}" srcOrd="0" destOrd="0" presId="urn:microsoft.com/office/officeart/2005/8/layout/orgChart1"/>
    <dgm:cxn modelId="{F86B9980-D1CB-45A9-86CD-E48D0666D200}" type="presParOf" srcId="{EFD6F930-0AC7-4BD3-9C73-FAE0CEAD5BA2}" destId="{FF38A681-11F3-47CC-A04D-24DC8EBE0CF6}" srcOrd="1" destOrd="0" presId="urn:microsoft.com/office/officeart/2005/8/layout/orgChart1"/>
    <dgm:cxn modelId="{D702BE5A-18C3-4AAA-8768-344CF5F7E381}" type="presParOf" srcId="{FBED42BD-C1AC-41E1-82DB-E28CD733FFCD}" destId="{41926652-FE2A-4A02-9D0C-7B8499E5D7BE}" srcOrd="1" destOrd="0" presId="urn:microsoft.com/office/officeart/2005/8/layout/orgChart1"/>
    <dgm:cxn modelId="{2484BB80-8922-4865-9FC8-5163A7ECB281}" type="presParOf" srcId="{41926652-FE2A-4A02-9D0C-7B8499E5D7BE}" destId="{348493B9-7F85-4B6D-A99F-8BE7CC925B59}" srcOrd="0" destOrd="0" presId="urn:microsoft.com/office/officeart/2005/8/layout/orgChart1"/>
    <dgm:cxn modelId="{8A086CD8-793A-4BAB-8694-A135144FD8CD}" type="presParOf" srcId="{41926652-FE2A-4A02-9D0C-7B8499E5D7BE}" destId="{B802AA95-865C-479D-8596-C07855D30A7F}" srcOrd="1" destOrd="0" presId="urn:microsoft.com/office/officeart/2005/8/layout/orgChart1"/>
    <dgm:cxn modelId="{2CD167F1-4337-491F-9D90-CD6C1C251F49}" type="presParOf" srcId="{B802AA95-865C-479D-8596-C07855D30A7F}" destId="{855B24A1-2CCC-4233-94D9-6EAEFCAEA554}" srcOrd="0" destOrd="0" presId="urn:microsoft.com/office/officeart/2005/8/layout/orgChart1"/>
    <dgm:cxn modelId="{26F5A45D-5286-4B87-917A-252F9479D208}" type="presParOf" srcId="{855B24A1-2CCC-4233-94D9-6EAEFCAEA554}" destId="{C6E72DC0-AD43-449D-B24A-6CF0E7549247}" srcOrd="0" destOrd="0" presId="urn:microsoft.com/office/officeart/2005/8/layout/orgChart1"/>
    <dgm:cxn modelId="{B988AA2B-D9CA-4D29-BDC0-FFFBA5A915B5}" type="presParOf" srcId="{855B24A1-2CCC-4233-94D9-6EAEFCAEA554}" destId="{2980771F-6059-4DDA-A6FB-4349579B9200}" srcOrd="1" destOrd="0" presId="urn:microsoft.com/office/officeart/2005/8/layout/orgChart1"/>
    <dgm:cxn modelId="{61CFD929-955F-4926-A1C4-657FFBBA0932}" type="presParOf" srcId="{B802AA95-865C-479D-8596-C07855D30A7F}" destId="{C4D6B455-7116-4E41-B7E4-CD41EBBACD46}" srcOrd="1" destOrd="0" presId="urn:microsoft.com/office/officeart/2005/8/layout/orgChart1"/>
    <dgm:cxn modelId="{C263ADE8-1267-4DFC-8536-A255DA511BD9}" type="presParOf" srcId="{B802AA95-865C-479D-8596-C07855D30A7F}" destId="{42053289-8B0F-4DED-8AFF-9D6B2F2E5518}" srcOrd="2" destOrd="0" presId="urn:microsoft.com/office/officeart/2005/8/layout/orgChart1"/>
    <dgm:cxn modelId="{0779269B-CB6C-4603-B777-21091A5D52F9}" type="presParOf" srcId="{41926652-FE2A-4A02-9D0C-7B8499E5D7BE}" destId="{CEB9E284-EAA6-4A1E-9E29-894148899DEF}" srcOrd="2" destOrd="0" presId="urn:microsoft.com/office/officeart/2005/8/layout/orgChart1"/>
    <dgm:cxn modelId="{20840E30-FCAB-4010-9928-DCD1A9B02652}" type="presParOf" srcId="{41926652-FE2A-4A02-9D0C-7B8499E5D7BE}" destId="{BBA397BF-4E67-4C1E-93D9-56E9746F3D22}" srcOrd="3" destOrd="0" presId="urn:microsoft.com/office/officeart/2005/8/layout/orgChart1"/>
    <dgm:cxn modelId="{890B1F3F-5287-404C-8E81-AE2DAB131FA6}" type="presParOf" srcId="{BBA397BF-4E67-4C1E-93D9-56E9746F3D22}" destId="{BBD57BDF-45CE-4D9E-A16B-2D5BA860E2A6}" srcOrd="0" destOrd="0" presId="urn:microsoft.com/office/officeart/2005/8/layout/orgChart1"/>
    <dgm:cxn modelId="{8275C4DF-5B6C-4D70-9888-668C3EC9D5F4}" type="presParOf" srcId="{BBD57BDF-45CE-4D9E-A16B-2D5BA860E2A6}" destId="{7BE74F08-8ACA-4A7C-94CD-A6939078B9D5}" srcOrd="0" destOrd="0" presId="urn:microsoft.com/office/officeart/2005/8/layout/orgChart1"/>
    <dgm:cxn modelId="{FFB87C36-11B0-4D03-B466-8A639354EFCE}" type="presParOf" srcId="{BBD57BDF-45CE-4D9E-A16B-2D5BA860E2A6}" destId="{EA6A03B9-DCFE-4DB3-A124-90F6DB8BF116}" srcOrd="1" destOrd="0" presId="urn:microsoft.com/office/officeart/2005/8/layout/orgChart1"/>
    <dgm:cxn modelId="{96ACB6F5-AF07-4757-840F-185105F045A6}" type="presParOf" srcId="{BBA397BF-4E67-4C1E-93D9-56E9746F3D22}" destId="{DE5A119E-6CF9-42EB-B167-FAC4B6986CD1}" srcOrd="1" destOrd="0" presId="urn:microsoft.com/office/officeart/2005/8/layout/orgChart1"/>
    <dgm:cxn modelId="{DAFDA234-8A8E-4772-A453-DAE1B49B9147}" type="presParOf" srcId="{BBA397BF-4E67-4C1E-93D9-56E9746F3D22}" destId="{24059C3D-2D0E-417C-A621-3FF014C040F4}" srcOrd="2" destOrd="0" presId="urn:microsoft.com/office/officeart/2005/8/layout/orgChart1"/>
    <dgm:cxn modelId="{10CD9BB4-02F2-4266-B2FF-390859FC9389}" type="presParOf" srcId="{FBED42BD-C1AC-41E1-82DB-E28CD733FFCD}" destId="{CD068BEE-3C59-4087-8A70-04A33B8FD71F}" srcOrd="2" destOrd="0" presId="urn:microsoft.com/office/officeart/2005/8/layout/orgChart1"/>
    <dgm:cxn modelId="{EEC26ABB-8E14-4A14-B791-ED215D97E7F5}" type="presParOf" srcId="{9B432C9E-9ED5-4B9A-BDDC-C06525175C60}" destId="{54BB82A7-BB2F-45BD-9356-3DF99A22BEB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9E284-EAA6-4A1E-9E29-894148899DEF}">
      <dsp:nvSpPr>
        <dsp:cNvPr id="0" name=""/>
        <dsp:cNvSpPr/>
      </dsp:nvSpPr>
      <dsp:spPr>
        <a:xfrm>
          <a:off x="4257273" y="2400597"/>
          <a:ext cx="1199346" cy="416302"/>
        </a:xfrm>
        <a:custGeom>
          <a:avLst/>
          <a:gdLst/>
          <a:ahLst/>
          <a:cxnLst/>
          <a:rect l="0" t="0" r="0" b="0"/>
          <a:pathLst>
            <a:path>
              <a:moveTo>
                <a:pt x="0" y="0"/>
              </a:moveTo>
              <a:lnTo>
                <a:pt x="0" y="208151"/>
              </a:lnTo>
              <a:lnTo>
                <a:pt x="1199346" y="208151"/>
              </a:lnTo>
              <a:lnTo>
                <a:pt x="1199346" y="416302"/>
              </a:lnTo>
            </a:path>
          </a:pathLst>
        </a:custGeom>
        <a:noFill/>
        <a:ln w="11429" cap="flat" cmpd="sng" algn="ctr">
          <a:solidFill>
            <a:schemeClr val="dk2">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48493B9-7F85-4B6D-A99F-8BE7CC925B59}">
      <dsp:nvSpPr>
        <dsp:cNvPr id="0" name=""/>
        <dsp:cNvSpPr/>
      </dsp:nvSpPr>
      <dsp:spPr>
        <a:xfrm>
          <a:off x="3057926" y="2400597"/>
          <a:ext cx="1199346" cy="416302"/>
        </a:xfrm>
        <a:custGeom>
          <a:avLst/>
          <a:gdLst/>
          <a:ahLst/>
          <a:cxnLst/>
          <a:rect l="0" t="0" r="0" b="0"/>
          <a:pathLst>
            <a:path>
              <a:moveTo>
                <a:pt x="1199346" y="0"/>
              </a:moveTo>
              <a:lnTo>
                <a:pt x="1199346" y="208151"/>
              </a:lnTo>
              <a:lnTo>
                <a:pt x="0" y="208151"/>
              </a:lnTo>
              <a:lnTo>
                <a:pt x="0" y="416302"/>
              </a:lnTo>
            </a:path>
          </a:pathLst>
        </a:custGeom>
        <a:noFill/>
        <a:ln w="11429" cap="flat" cmpd="sng" algn="ctr">
          <a:solidFill>
            <a:schemeClr val="dk2">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7C14EAD-C9E8-43B0-AE84-21DFE53880E7}">
      <dsp:nvSpPr>
        <dsp:cNvPr id="0" name=""/>
        <dsp:cNvSpPr/>
      </dsp:nvSpPr>
      <dsp:spPr>
        <a:xfrm>
          <a:off x="3057926" y="993100"/>
          <a:ext cx="1199346" cy="416302"/>
        </a:xfrm>
        <a:custGeom>
          <a:avLst/>
          <a:gdLst/>
          <a:ahLst/>
          <a:cxnLst/>
          <a:rect l="0" t="0" r="0" b="0"/>
          <a:pathLst>
            <a:path>
              <a:moveTo>
                <a:pt x="0" y="0"/>
              </a:moveTo>
              <a:lnTo>
                <a:pt x="0" y="208151"/>
              </a:lnTo>
              <a:lnTo>
                <a:pt x="1199346" y="208151"/>
              </a:lnTo>
              <a:lnTo>
                <a:pt x="1199346" y="416302"/>
              </a:lnTo>
            </a:path>
          </a:pathLst>
        </a:custGeom>
        <a:noFill/>
        <a:ln w="11429" cap="flat" cmpd="sng" algn="ctr">
          <a:solidFill>
            <a:schemeClr val="dk2">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6738D343-DD33-4E95-9CE7-87D818D326CE}">
      <dsp:nvSpPr>
        <dsp:cNvPr id="0" name=""/>
        <dsp:cNvSpPr/>
      </dsp:nvSpPr>
      <dsp:spPr>
        <a:xfrm>
          <a:off x="1858580" y="993100"/>
          <a:ext cx="1199346" cy="416302"/>
        </a:xfrm>
        <a:custGeom>
          <a:avLst/>
          <a:gdLst/>
          <a:ahLst/>
          <a:cxnLst/>
          <a:rect l="0" t="0" r="0" b="0"/>
          <a:pathLst>
            <a:path>
              <a:moveTo>
                <a:pt x="1199346" y="0"/>
              </a:moveTo>
              <a:lnTo>
                <a:pt x="1199346" y="208151"/>
              </a:lnTo>
              <a:lnTo>
                <a:pt x="0" y="208151"/>
              </a:lnTo>
              <a:lnTo>
                <a:pt x="0" y="416302"/>
              </a:lnTo>
            </a:path>
          </a:pathLst>
        </a:custGeom>
        <a:noFill/>
        <a:ln w="11429" cap="flat" cmpd="sng" algn="ctr">
          <a:solidFill>
            <a:schemeClr val="dk2">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6380E420-EF72-44E3-8186-B7C5A369E613}">
      <dsp:nvSpPr>
        <dsp:cNvPr id="0" name=""/>
        <dsp:cNvSpPr/>
      </dsp:nvSpPr>
      <dsp:spPr>
        <a:xfrm>
          <a:off x="2066731" y="1904"/>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Data</a:t>
          </a:r>
          <a:endParaRPr kumimoji="0" lang="en-US" altLang="en-US" sz="2100" b="0" i="0" u="none" strike="noStrike" kern="1200" cap="none" normalizeH="0" baseline="0">
            <a:ln/>
            <a:effectLst/>
            <a:latin typeface="Arial" pitchFamily="34" charset="0"/>
          </a:endParaRPr>
        </a:p>
      </dsp:txBody>
      <dsp:txXfrm>
        <a:off x="2066731" y="1904"/>
        <a:ext cx="1982390" cy="991195"/>
      </dsp:txXfrm>
    </dsp:sp>
    <dsp:sp modelId="{4B3B1D8D-4203-407B-B03E-2B72973BD8B3}">
      <dsp:nvSpPr>
        <dsp:cNvPr id="0" name=""/>
        <dsp:cNvSpPr/>
      </dsp:nvSpPr>
      <dsp:spPr>
        <a:xfrm>
          <a:off x="867385" y="1409402"/>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Categorical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dsp:txBody>
      <dsp:txXfrm>
        <a:off x="867385" y="1409402"/>
        <a:ext cx="1982390" cy="991195"/>
      </dsp:txXfrm>
    </dsp:sp>
    <dsp:sp modelId="{E7980D58-8BD5-416A-9469-0FF7D7155644}">
      <dsp:nvSpPr>
        <dsp:cNvPr id="0" name=""/>
        <dsp:cNvSpPr/>
      </dsp:nvSpPr>
      <dsp:spPr>
        <a:xfrm>
          <a:off x="3266077" y="1409402"/>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Numerical </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dsp:txBody>
      <dsp:txXfrm>
        <a:off x="3266077" y="1409402"/>
        <a:ext cx="1982390" cy="991195"/>
      </dsp:txXfrm>
    </dsp:sp>
    <dsp:sp modelId="{C6E72DC0-AD43-449D-B24A-6CF0E7549247}">
      <dsp:nvSpPr>
        <dsp:cNvPr id="0" name=""/>
        <dsp:cNvSpPr/>
      </dsp:nvSpPr>
      <dsp:spPr>
        <a:xfrm>
          <a:off x="2066731" y="2816899"/>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Discrete</a:t>
          </a:r>
          <a:endParaRPr kumimoji="0" lang="en-US" altLang="en-US" sz="2100" b="0" i="0" u="none" strike="noStrike" kern="1200" cap="none" normalizeH="0" baseline="0">
            <a:ln/>
            <a:effectLst/>
            <a:latin typeface="Arial" pitchFamily="34" charset="0"/>
          </a:endParaRPr>
        </a:p>
      </dsp:txBody>
      <dsp:txXfrm>
        <a:off x="2066731" y="2816899"/>
        <a:ext cx="1982390" cy="991195"/>
      </dsp:txXfrm>
    </dsp:sp>
    <dsp:sp modelId="{7BE74F08-8ACA-4A7C-94CD-A6939078B9D5}">
      <dsp:nvSpPr>
        <dsp:cNvPr id="0" name=""/>
        <dsp:cNvSpPr/>
      </dsp:nvSpPr>
      <dsp:spPr>
        <a:xfrm>
          <a:off x="4465424" y="2816899"/>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Continuous</a:t>
          </a:r>
          <a:endParaRPr kumimoji="0" lang="en-US" altLang="en-US" sz="2100" b="0" i="0" u="none" strike="noStrike" kern="1200" cap="none" normalizeH="0" baseline="0">
            <a:ln/>
            <a:effectLst/>
            <a:latin typeface="Arial" pitchFamily="34" charset="0"/>
          </a:endParaRPr>
        </a:p>
      </dsp:txBody>
      <dsp:txXfrm>
        <a:off x="4465424" y="2816899"/>
        <a:ext cx="1982390" cy="9911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B9E284-EAA6-4A1E-9E29-894148899DEF}">
      <dsp:nvSpPr>
        <dsp:cNvPr id="0" name=""/>
        <dsp:cNvSpPr/>
      </dsp:nvSpPr>
      <dsp:spPr>
        <a:xfrm>
          <a:off x="4257273" y="2400597"/>
          <a:ext cx="1199346" cy="416302"/>
        </a:xfrm>
        <a:custGeom>
          <a:avLst/>
          <a:gdLst/>
          <a:ahLst/>
          <a:cxnLst/>
          <a:rect l="0" t="0" r="0" b="0"/>
          <a:pathLst>
            <a:path>
              <a:moveTo>
                <a:pt x="0" y="0"/>
              </a:moveTo>
              <a:lnTo>
                <a:pt x="0" y="208151"/>
              </a:lnTo>
              <a:lnTo>
                <a:pt x="1199346" y="208151"/>
              </a:lnTo>
              <a:lnTo>
                <a:pt x="1199346" y="416302"/>
              </a:lnTo>
            </a:path>
          </a:pathLst>
        </a:custGeom>
        <a:noFill/>
        <a:ln w="11429" cap="flat" cmpd="sng" algn="ctr">
          <a:solidFill>
            <a:schemeClr val="dk2">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348493B9-7F85-4B6D-A99F-8BE7CC925B59}">
      <dsp:nvSpPr>
        <dsp:cNvPr id="0" name=""/>
        <dsp:cNvSpPr/>
      </dsp:nvSpPr>
      <dsp:spPr>
        <a:xfrm>
          <a:off x="3057926" y="2400597"/>
          <a:ext cx="1199346" cy="416302"/>
        </a:xfrm>
        <a:custGeom>
          <a:avLst/>
          <a:gdLst/>
          <a:ahLst/>
          <a:cxnLst/>
          <a:rect l="0" t="0" r="0" b="0"/>
          <a:pathLst>
            <a:path>
              <a:moveTo>
                <a:pt x="1199346" y="0"/>
              </a:moveTo>
              <a:lnTo>
                <a:pt x="1199346" y="208151"/>
              </a:lnTo>
              <a:lnTo>
                <a:pt x="0" y="208151"/>
              </a:lnTo>
              <a:lnTo>
                <a:pt x="0" y="416302"/>
              </a:lnTo>
            </a:path>
          </a:pathLst>
        </a:custGeom>
        <a:noFill/>
        <a:ln w="11429" cap="flat" cmpd="sng" algn="ctr">
          <a:solidFill>
            <a:schemeClr val="dk2">
              <a:shade val="8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77C14EAD-C9E8-43B0-AE84-21DFE53880E7}">
      <dsp:nvSpPr>
        <dsp:cNvPr id="0" name=""/>
        <dsp:cNvSpPr/>
      </dsp:nvSpPr>
      <dsp:spPr>
        <a:xfrm>
          <a:off x="3057926" y="993100"/>
          <a:ext cx="1199346" cy="416302"/>
        </a:xfrm>
        <a:custGeom>
          <a:avLst/>
          <a:gdLst/>
          <a:ahLst/>
          <a:cxnLst/>
          <a:rect l="0" t="0" r="0" b="0"/>
          <a:pathLst>
            <a:path>
              <a:moveTo>
                <a:pt x="0" y="0"/>
              </a:moveTo>
              <a:lnTo>
                <a:pt x="0" y="208151"/>
              </a:lnTo>
              <a:lnTo>
                <a:pt x="1199346" y="208151"/>
              </a:lnTo>
              <a:lnTo>
                <a:pt x="1199346" y="416302"/>
              </a:lnTo>
            </a:path>
          </a:pathLst>
        </a:custGeom>
        <a:noFill/>
        <a:ln w="11429" cap="flat" cmpd="sng" algn="ctr">
          <a:solidFill>
            <a:schemeClr val="dk2">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6738D343-DD33-4E95-9CE7-87D818D326CE}">
      <dsp:nvSpPr>
        <dsp:cNvPr id="0" name=""/>
        <dsp:cNvSpPr/>
      </dsp:nvSpPr>
      <dsp:spPr>
        <a:xfrm>
          <a:off x="1858580" y="993100"/>
          <a:ext cx="1199346" cy="416302"/>
        </a:xfrm>
        <a:custGeom>
          <a:avLst/>
          <a:gdLst/>
          <a:ahLst/>
          <a:cxnLst/>
          <a:rect l="0" t="0" r="0" b="0"/>
          <a:pathLst>
            <a:path>
              <a:moveTo>
                <a:pt x="1199346" y="0"/>
              </a:moveTo>
              <a:lnTo>
                <a:pt x="1199346" y="208151"/>
              </a:lnTo>
              <a:lnTo>
                <a:pt x="0" y="208151"/>
              </a:lnTo>
              <a:lnTo>
                <a:pt x="0" y="416302"/>
              </a:lnTo>
            </a:path>
          </a:pathLst>
        </a:custGeom>
        <a:noFill/>
        <a:ln w="11429" cap="flat" cmpd="sng" algn="ctr">
          <a:solidFill>
            <a:schemeClr val="dk2">
              <a:shade val="60000"/>
              <a:hueOff val="0"/>
              <a:satOff val="0"/>
              <a:lumOff val="0"/>
              <a:alphaOff val="0"/>
            </a:schemeClr>
          </a:solidFill>
          <a:prstDash val="sysDash"/>
        </a:ln>
        <a:effectLst/>
      </dsp:spPr>
      <dsp:style>
        <a:lnRef idx="2">
          <a:scrgbClr r="0" g="0" b="0"/>
        </a:lnRef>
        <a:fillRef idx="0">
          <a:scrgbClr r="0" g="0" b="0"/>
        </a:fillRef>
        <a:effectRef idx="0">
          <a:scrgbClr r="0" g="0" b="0"/>
        </a:effectRef>
        <a:fontRef idx="minor"/>
      </dsp:style>
    </dsp:sp>
    <dsp:sp modelId="{6380E420-EF72-44E3-8186-B7C5A369E613}">
      <dsp:nvSpPr>
        <dsp:cNvPr id="0" name=""/>
        <dsp:cNvSpPr/>
      </dsp:nvSpPr>
      <dsp:spPr>
        <a:xfrm>
          <a:off x="2066731" y="1904"/>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Data</a:t>
          </a:r>
          <a:endParaRPr kumimoji="0" lang="en-US" altLang="en-US" sz="2100" b="0" i="0" u="none" strike="noStrike" kern="1200" cap="none" normalizeH="0" baseline="0">
            <a:ln/>
            <a:effectLst/>
            <a:latin typeface="Arial" pitchFamily="34" charset="0"/>
          </a:endParaRPr>
        </a:p>
      </dsp:txBody>
      <dsp:txXfrm>
        <a:off x="2066731" y="1904"/>
        <a:ext cx="1982390" cy="991195"/>
      </dsp:txXfrm>
    </dsp:sp>
    <dsp:sp modelId="{4B3B1D8D-4203-407B-B03E-2B72973BD8B3}">
      <dsp:nvSpPr>
        <dsp:cNvPr id="0" name=""/>
        <dsp:cNvSpPr/>
      </dsp:nvSpPr>
      <dsp:spPr>
        <a:xfrm>
          <a:off x="867385" y="1409402"/>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Categorical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dsp:txBody>
      <dsp:txXfrm>
        <a:off x="867385" y="1409402"/>
        <a:ext cx="1982390" cy="991195"/>
      </dsp:txXfrm>
    </dsp:sp>
    <dsp:sp modelId="{E7980D58-8BD5-416A-9469-0FF7D7155644}">
      <dsp:nvSpPr>
        <dsp:cNvPr id="0" name=""/>
        <dsp:cNvSpPr/>
      </dsp:nvSpPr>
      <dsp:spPr>
        <a:xfrm>
          <a:off x="3266077" y="1409402"/>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Numerical </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en-US" sz="2100" b="1" i="0" u="none" strike="noStrike" kern="1200" cap="none" normalizeH="0" baseline="0">
            <a:ln/>
            <a:effectLst/>
            <a:latin typeface="Arial" pitchFamily="34" charset="0"/>
          </a:endParaRPr>
        </a:p>
      </dsp:txBody>
      <dsp:txXfrm>
        <a:off x="3266077" y="1409402"/>
        <a:ext cx="1982390" cy="991195"/>
      </dsp:txXfrm>
    </dsp:sp>
    <dsp:sp modelId="{C6E72DC0-AD43-449D-B24A-6CF0E7549247}">
      <dsp:nvSpPr>
        <dsp:cNvPr id="0" name=""/>
        <dsp:cNvSpPr/>
      </dsp:nvSpPr>
      <dsp:spPr>
        <a:xfrm>
          <a:off x="2066731" y="2816899"/>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Discrete</a:t>
          </a:r>
          <a:endParaRPr kumimoji="0" lang="en-US" altLang="en-US" sz="2100" b="0" i="0" u="none" strike="noStrike" kern="1200" cap="none" normalizeH="0" baseline="0">
            <a:ln/>
            <a:effectLst/>
            <a:latin typeface="Arial" pitchFamily="34" charset="0"/>
          </a:endParaRPr>
        </a:p>
      </dsp:txBody>
      <dsp:txXfrm>
        <a:off x="2066731" y="2816899"/>
        <a:ext cx="1982390" cy="991195"/>
      </dsp:txXfrm>
    </dsp:sp>
    <dsp:sp modelId="{7BE74F08-8ACA-4A7C-94CD-A6939078B9D5}">
      <dsp:nvSpPr>
        <dsp:cNvPr id="0" name=""/>
        <dsp:cNvSpPr/>
      </dsp:nvSpPr>
      <dsp:spPr>
        <a:xfrm>
          <a:off x="4465424" y="2816899"/>
          <a:ext cx="1982390" cy="991195"/>
        </a:xfrm>
        <a:prstGeom prst="rect">
          <a:avLst/>
        </a:prstGeom>
        <a:solidFill>
          <a:schemeClr val="lt1">
            <a:hueOff val="0"/>
            <a:satOff val="0"/>
            <a:lumOff val="0"/>
            <a:alphaOff val="0"/>
          </a:schemeClr>
        </a:solidFill>
        <a:ln w="11429" cap="flat" cmpd="sng" algn="ctr">
          <a:solidFill>
            <a:schemeClr val="dk2">
              <a:shade val="80000"/>
              <a:hueOff val="0"/>
              <a:satOff val="0"/>
              <a:lumOff val="0"/>
              <a:alphaOff val="0"/>
            </a:schemeClr>
          </a:solidFill>
          <a:prstDash val="sysDash"/>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2100" b="1" i="0" u="none" strike="noStrike" kern="1200" cap="none" normalizeH="0" baseline="0">
              <a:ln/>
              <a:effectLst/>
              <a:latin typeface="Arial" pitchFamily="34" charset="0"/>
            </a:rPr>
            <a:t>Continuous</a:t>
          </a:r>
          <a:endParaRPr kumimoji="0" lang="en-US" altLang="en-US" sz="2100" b="0" i="0" u="none" strike="noStrike" kern="1200" cap="none" normalizeH="0" baseline="0">
            <a:ln/>
            <a:effectLst/>
            <a:latin typeface="Arial" pitchFamily="34" charset="0"/>
          </a:endParaRPr>
        </a:p>
      </dsp:txBody>
      <dsp:txXfrm>
        <a:off x="4465424" y="2816899"/>
        <a:ext cx="1982390" cy="99119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sz="quarter" idx="1"/>
          </p:nvPr>
        </p:nvSpPr>
        <p:spPr>
          <a:xfrm>
            <a:off x="3778250" y="0"/>
            <a:ext cx="2889250" cy="496888"/>
          </a:xfrm>
          <a:prstGeom prst="rect">
            <a:avLst/>
          </a:prstGeom>
        </p:spPr>
        <p:txBody>
          <a:bodyPr vert="horz" lIns="91440" tIns="45720" rIns="91440" bIns="45720" rtlCol="0"/>
          <a:lstStyle>
            <a:lvl1pPr algn="r">
              <a:defRPr sz="1200"/>
            </a:lvl1pPr>
          </a:lstStyle>
          <a:p>
            <a:fld id="{9177B0D9-A538-4606-B227-3B3D80328DEC}" type="datetimeFigureOut">
              <a:rPr lang="en-ZA" smtClean="0"/>
              <a:t>2025/10/13</a:t>
            </a:fld>
            <a:endParaRPr lang="en-ZA"/>
          </a:p>
        </p:txBody>
      </p:sp>
      <p:sp>
        <p:nvSpPr>
          <p:cNvPr id="4" name="Footer Placeholder 3"/>
          <p:cNvSpPr>
            <a:spLocks noGrp="1"/>
          </p:cNvSpPr>
          <p:nvPr>
            <p:ph type="ftr" sz="quarter" idx="2"/>
          </p:nvPr>
        </p:nvSpPr>
        <p:spPr>
          <a:xfrm>
            <a:off x="0" y="9429750"/>
            <a:ext cx="2889250" cy="496888"/>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p:cNvSpPr>
            <a:spLocks noGrp="1"/>
          </p:cNvSpPr>
          <p:nvPr>
            <p:ph type="sldNum" sz="quarter" idx="3"/>
          </p:nvPr>
        </p:nvSpPr>
        <p:spPr>
          <a:xfrm>
            <a:off x="3778250" y="9429750"/>
            <a:ext cx="2889250" cy="496888"/>
          </a:xfrm>
          <a:prstGeom prst="rect">
            <a:avLst/>
          </a:prstGeom>
        </p:spPr>
        <p:txBody>
          <a:bodyPr vert="horz" lIns="91440" tIns="45720" rIns="91440" bIns="45720" rtlCol="0" anchor="b"/>
          <a:lstStyle>
            <a:lvl1pPr algn="r">
              <a:defRPr sz="1200"/>
            </a:lvl1pPr>
          </a:lstStyle>
          <a:p>
            <a:fld id="{9E1430FD-7887-4D78-8681-34EEF2032F3F}" type="slidenum">
              <a:rPr lang="en-ZA" smtClean="0"/>
              <a:t>‹#›</a:t>
            </a:fld>
            <a:endParaRPr lang="en-ZA"/>
          </a:p>
        </p:txBody>
      </p:sp>
    </p:spTree>
    <p:extLst>
      <p:ext uri="{BB962C8B-B14F-4D97-AF65-F5344CB8AC3E}">
        <p14:creationId xmlns:p14="http://schemas.microsoft.com/office/powerpoint/2010/main" val="417003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2A97F92B-BA43-49D2-839E-0DCEDCEFD747}" type="datetimeFigureOut">
              <a:rPr lang="en-ZA" smtClean="0"/>
              <a:t>2025/10/13</a:t>
            </a:fld>
            <a:endParaRPr lang="en-ZA"/>
          </a:p>
        </p:txBody>
      </p:sp>
      <p:sp>
        <p:nvSpPr>
          <p:cNvPr id="4" name="Slide Image Placeholder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DF67170E-B753-46EF-9C71-892770EBB717}" type="slidenum">
              <a:rPr lang="en-ZA" smtClean="0"/>
              <a:t>‹#›</a:t>
            </a:fld>
            <a:endParaRPr lang="en-ZA"/>
          </a:p>
        </p:txBody>
      </p:sp>
    </p:spTree>
    <p:extLst>
      <p:ext uri="{BB962C8B-B14F-4D97-AF65-F5344CB8AC3E}">
        <p14:creationId xmlns:p14="http://schemas.microsoft.com/office/powerpoint/2010/main" val="3388961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1</a:t>
            </a:fld>
            <a:endParaRPr lang="en-ZA"/>
          </a:p>
        </p:txBody>
      </p:sp>
    </p:spTree>
    <p:extLst>
      <p:ext uri="{BB962C8B-B14F-4D97-AF65-F5344CB8AC3E}">
        <p14:creationId xmlns:p14="http://schemas.microsoft.com/office/powerpoint/2010/main" val="531425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a:t>
            </a:fld>
            <a:endParaRPr lang="en-ZA"/>
          </a:p>
        </p:txBody>
      </p:sp>
    </p:spTree>
    <p:extLst>
      <p:ext uri="{BB962C8B-B14F-4D97-AF65-F5344CB8AC3E}">
        <p14:creationId xmlns:p14="http://schemas.microsoft.com/office/powerpoint/2010/main" val="166505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0788" y="579438"/>
            <a:ext cx="4300537" cy="32258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2649329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0788" y="579438"/>
            <a:ext cx="4300537" cy="32258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2649329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0788" y="579438"/>
            <a:ext cx="4300537" cy="32258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3938055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6</a:t>
            </a:fld>
            <a:endParaRPr lang="en-ZA"/>
          </a:p>
        </p:txBody>
      </p:sp>
    </p:spTree>
    <p:extLst>
      <p:ext uri="{BB962C8B-B14F-4D97-AF65-F5344CB8AC3E}">
        <p14:creationId xmlns:p14="http://schemas.microsoft.com/office/powerpoint/2010/main" val="938560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20788" y="579438"/>
            <a:ext cx="4300537" cy="32258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374075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8</a:t>
            </a:fld>
            <a:endParaRPr lang="en-ZA"/>
          </a:p>
        </p:txBody>
      </p:sp>
    </p:spTree>
    <p:extLst>
      <p:ext uri="{BB962C8B-B14F-4D97-AF65-F5344CB8AC3E}">
        <p14:creationId xmlns:p14="http://schemas.microsoft.com/office/powerpoint/2010/main" val="345682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825756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877352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2952844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39367713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2862569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6804222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15</a:t>
            </a:fld>
            <a:endParaRPr lang="en-ZA"/>
          </a:p>
        </p:txBody>
      </p:sp>
    </p:spTree>
    <p:extLst>
      <p:ext uri="{BB962C8B-B14F-4D97-AF65-F5344CB8AC3E}">
        <p14:creationId xmlns:p14="http://schemas.microsoft.com/office/powerpoint/2010/main" val="41854945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624767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315063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2299566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19</a:t>
            </a:fld>
            <a:endParaRPr lang="en-ZA"/>
          </a:p>
        </p:txBody>
      </p:sp>
    </p:spTree>
    <p:extLst>
      <p:ext uri="{BB962C8B-B14F-4D97-AF65-F5344CB8AC3E}">
        <p14:creationId xmlns:p14="http://schemas.microsoft.com/office/powerpoint/2010/main" val="3928630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20</a:t>
            </a:fld>
            <a:endParaRPr lang="en-ZA"/>
          </a:p>
        </p:txBody>
      </p:sp>
    </p:spTree>
    <p:extLst>
      <p:ext uri="{BB962C8B-B14F-4D97-AF65-F5344CB8AC3E}">
        <p14:creationId xmlns:p14="http://schemas.microsoft.com/office/powerpoint/2010/main" val="14029211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21</a:t>
            </a:fld>
            <a:endParaRPr lang="en-ZA"/>
          </a:p>
        </p:txBody>
      </p:sp>
    </p:spTree>
    <p:extLst>
      <p:ext uri="{BB962C8B-B14F-4D97-AF65-F5344CB8AC3E}">
        <p14:creationId xmlns:p14="http://schemas.microsoft.com/office/powerpoint/2010/main" val="1108707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22</a:t>
            </a:fld>
            <a:endParaRPr lang="en-ZA"/>
          </a:p>
        </p:txBody>
      </p:sp>
    </p:spTree>
    <p:extLst>
      <p:ext uri="{BB962C8B-B14F-4D97-AF65-F5344CB8AC3E}">
        <p14:creationId xmlns:p14="http://schemas.microsoft.com/office/powerpoint/2010/main" val="34687659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4031701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24</a:t>
            </a:fld>
            <a:endParaRPr lang="en-ZA"/>
          </a:p>
        </p:txBody>
      </p:sp>
    </p:spTree>
    <p:extLst>
      <p:ext uri="{BB962C8B-B14F-4D97-AF65-F5344CB8AC3E}">
        <p14:creationId xmlns:p14="http://schemas.microsoft.com/office/powerpoint/2010/main" val="290467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25</a:t>
            </a:fld>
            <a:endParaRPr lang="en-ZA"/>
          </a:p>
        </p:txBody>
      </p:sp>
    </p:spTree>
    <p:extLst>
      <p:ext uri="{BB962C8B-B14F-4D97-AF65-F5344CB8AC3E}">
        <p14:creationId xmlns:p14="http://schemas.microsoft.com/office/powerpoint/2010/main" val="6463255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10"/>
          </p:nvPr>
        </p:nvSpPr>
        <p:spPr/>
        <p:txBody>
          <a:bodyPr/>
          <a:lstStyle/>
          <a:p>
            <a:fld id="{DF67170E-B753-46EF-9C71-892770EBB717}" type="slidenum">
              <a:rPr lang="en-ZA" smtClean="0"/>
              <a:t>26</a:t>
            </a:fld>
            <a:endParaRPr lang="en-ZA"/>
          </a:p>
        </p:txBody>
      </p:sp>
    </p:spTree>
    <p:extLst>
      <p:ext uri="{BB962C8B-B14F-4D97-AF65-F5344CB8AC3E}">
        <p14:creationId xmlns:p14="http://schemas.microsoft.com/office/powerpoint/2010/main" val="6463255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177320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2618920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74800" y="661988"/>
            <a:ext cx="3741738" cy="2806700"/>
          </a:xfrm>
        </p:spPr>
      </p:sp>
      <p:sp>
        <p:nvSpPr>
          <p:cNvPr id="3" name="Notes Placeholder 2"/>
          <p:cNvSpPr>
            <a:spLocks noGrp="1"/>
          </p:cNvSpPr>
          <p:nvPr>
            <p:ph type="body" idx="1"/>
          </p:nvPr>
        </p:nvSpPr>
        <p:spPr/>
        <p:txBody>
          <a:bodyPr/>
          <a:lstStyle/>
          <a:p>
            <a:endParaRPr lang="en-ZA"/>
          </a:p>
        </p:txBody>
      </p:sp>
    </p:spTree>
    <p:extLst>
      <p:ext uri="{BB962C8B-B14F-4D97-AF65-F5344CB8AC3E}">
        <p14:creationId xmlns:p14="http://schemas.microsoft.com/office/powerpoint/2010/main" val="190590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17" name="Footer Placeholder 16"/>
          <p:cNvSpPr>
            <a:spLocks noGrp="1"/>
          </p:cNvSpPr>
          <p:nvPr>
            <p:ph type="ftr" sz="quarter" idx="11"/>
          </p:nvPr>
        </p:nvSpPr>
        <p:spPr/>
        <p:txBody>
          <a:bodyPr/>
          <a:lstStyle/>
          <a:p>
            <a:endParaRPr kumimoji="0"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a:xfrm>
            <a:off x="4361688" y="1026372"/>
            <a:ext cx="457200" cy="441325"/>
          </a:xfrm>
        </p:spPr>
        <p:txBody>
          <a:bodyPr/>
          <a:lstStyle/>
          <a:p>
            <a:fld id="{2C6B1FF6-39B9-40F5-8B67-33C6354A3D4F}" type="slidenum">
              <a:rPr kumimoji="0" lang="en-US" smtClean="0"/>
              <a:pPr eaLnBrk="1" latinLnBrk="0" hangingPunct="1"/>
              <a:t>‹#›</a:t>
            </a:fld>
            <a:endParaRPr kumimoji="0"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kumimoji="0" lang="en-US"/>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pPr eaLnBrk="1" latinLnBrk="0" hangingPunct="1"/>
            <a:fld id="{9D21D778-B565-4D7E-94D7-64010A445B68}" type="datetimeFigureOut">
              <a:rPr lang="en-US" smtClean="0"/>
              <a:pPr eaLnBrk="1" latinLnBrk="0" hangingPunct="1"/>
              <a:t>10/13/2025</a:t>
            </a:fld>
            <a:endParaRPr lang="en-US"/>
          </a:p>
        </p:txBody>
      </p:sp>
      <p:sp>
        <p:nvSpPr>
          <p:cNvPr id="6" name="Footer Placeholder 5"/>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kumimoji="0"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a:t>
            </a:fld>
            <a:endParaRPr kumimoji="0" lang="en-US" dirty="0"/>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4" name="Footer Placeholder 3"/>
          <p:cNvSpPr>
            <a:spLocks noGrp="1"/>
          </p:cNvSpPr>
          <p:nvPr>
            <p:ph type="ftr" sz="quarter" idx="11"/>
          </p:nvPr>
        </p:nvSpPr>
        <p:spPr/>
        <p:txBody>
          <a:bodyPr/>
          <a:lstStyle/>
          <a:p>
            <a:endParaRPr kumimoji="0" lang="en-US" dirty="0"/>
          </a:p>
        </p:txBody>
      </p:sp>
      <p:sp>
        <p:nvSpPr>
          <p:cNvPr id="5" name="Slide Number Placeholder 4"/>
          <p:cNvSpPr>
            <a:spLocks noGrp="1"/>
          </p:cNvSpPr>
          <p:nvPr>
            <p:ph type="sldNum" sz="quarter" idx="12"/>
          </p:nvPr>
        </p:nvSpPr>
        <p:spPr>
          <a:xfrm>
            <a:off x="4343400" y="1036020"/>
            <a:ext cx="457200" cy="441325"/>
          </a:xfrm>
        </p:spPr>
        <p:txBody>
          <a:bodyPr/>
          <a:lstStyle/>
          <a:p>
            <a:fld id="{2C6B1FF6-39B9-40F5-8B67-33C6354A3D4F}" type="slidenum">
              <a:rPr kumimoji="0" lang="en-US" smtClean="0"/>
              <a:pPr eaLnBrk="1" latinLnBrk="0" hangingPunct="1"/>
              <a:t>‹#›</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eaLnBrk="1" latinLnBrk="0" hangingPunct="1"/>
              <a:t>‹#›</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eaLnBrk="1" latinLnBrk="0" hangingPunct="1"/>
              <a:t>‹#›</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2C6B1FF6-39B9-40F5-8B67-33C6354A3D4F}" type="slidenum">
              <a:rPr kumimoji="0" lang="en-US" smtClean="0"/>
              <a:pPr eaLnBrk="1" latinLnBrk="0" hangingPunct="1"/>
              <a:t>‹#›</a:t>
            </a:fld>
            <a:endParaRPr kumimoji="0" lang="en-US" dirty="0"/>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pPr eaLnBrk="1" latinLnBrk="0" hangingPunct="1"/>
            <a:fld id="{9D21D778-B565-4D7E-94D7-64010A445B68}" type="datetimeFigureOut">
              <a:rPr lang="en-US" smtClean="0"/>
              <a:pPr eaLnBrk="1" latinLnBrk="0" hangingPunct="1"/>
              <a:t>10/13/2025</a:t>
            </a:fld>
            <a:endParaRPr lang="en-US" dirty="0"/>
          </a:p>
        </p:txBody>
      </p:sp>
      <p:sp>
        <p:nvSpPr>
          <p:cNvPr id="6" name="Footer Placeholder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C6B1FF6-39B9-40F5-8B67-33C6354A3D4F}" type="slidenum">
              <a:rPr kumimoji="0" lang="en-US" smtClean="0"/>
              <a:pPr eaLnBrk="1" latinLnBrk="0" hangingPunct="1"/>
              <a:t>‹#›</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2C6B1FF6-39B9-40F5-8B67-33C6354A3D4F}" type="slidenum">
              <a:rPr kumimoji="0" lang="en-US" smtClean="0"/>
              <a:pPr eaLnBrk="1" latinLnBrk="0" hangingPunct="1"/>
              <a:t>‹#›</a:t>
            </a:fld>
            <a:endParaRPr kumimoji="0" lang="en-US" dirty="0"/>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eaLnBrk="1" latinLnBrk="0" hangingPunct="1"/>
            <a:fld id="{9D21D778-B565-4D7E-94D7-64010A445B68}" type="datetimeFigureOut">
              <a:rPr lang="en-US" smtClean="0"/>
              <a:pPr eaLnBrk="1" latinLnBrk="0" hangingPunct="1"/>
              <a:t>10/13/2025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10/13/2025</a:t>
            </a:fld>
            <a:endParaRPr lang="en-US" sz="1400" dirty="0">
              <a:solidFill>
                <a:srgbClr val="FFFFFF"/>
              </a:solidFill>
            </a:endParaRPr>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a:t>
            </a:fld>
            <a:endParaRPr kumimoji="0" lang="en-US" sz="1600" dirty="0">
              <a:solidFill>
                <a:schemeClr val="accent3">
                  <a:shade val="75000"/>
                </a:schemeClr>
              </a:solidFill>
            </a:endParaRPr>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icholasSpaull@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3.jpeg"/><Relationship Id="rId4" Type="http://schemas.openxmlformats.org/officeDocument/2006/relationships/hyperlink" Target="http://www.nicspaull.com/teachin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oleObject" Target="../embeddings/oleObject4.bin"/><Relationship Id="rId7"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5.bin"/><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8.bin"/><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10.bin"/><Relationship Id="rId4" Type="http://schemas.openxmlformats.org/officeDocument/2006/relationships/image" Target="../media/image17.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20.wmf"/><Relationship Id="rId4" Type="http://schemas.openxmlformats.org/officeDocument/2006/relationships/image" Target="../media/image19.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hyperlink" Target="http://www.youtube.com/watch?v=k3aKKasOmIw"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gif"/></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0.wmf"/><Relationship Id="rId5" Type="http://schemas.openxmlformats.org/officeDocument/2006/relationships/oleObject" Target="../embeddings/oleObject13.bin"/><Relationship Id="rId4" Type="http://schemas.openxmlformats.org/officeDocument/2006/relationships/image" Target="../media/image29.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27584" y="2819400"/>
            <a:ext cx="7416824" cy="1752600"/>
          </a:xfrm>
        </p:spPr>
        <p:txBody>
          <a:bodyPr>
            <a:normAutofit/>
          </a:bodyPr>
          <a:lstStyle/>
          <a:p>
            <a:endParaRPr lang="en-ZA" dirty="0"/>
          </a:p>
          <a:p>
            <a:r>
              <a:rPr lang="en-ZA" sz="1400" dirty="0"/>
              <a:t>UDM </a:t>
            </a:r>
            <a:r>
              <a:rPr lang="en-ZA" sz="1400" dirty="0" err="1"/>
              <a:t>Msc</a:t>
            </a:r>
            <a:r>
              <a:rPr lang="en-ZA" sz="1400" dirty="0"/>
              <a:t> course in education &amp; development </a:t>
            </a:r>
          </a:p>
          <a:p>
            <a:r>
              <a:rPr lang="en-ZA" sz="1400" dirty="0"/>
              <a:t>2013</a:t>
            </a:r>
          </a:p>
          <a:p>
            <a:endParaRPr lang="en-ZA" dirty="0"/>
          </a:p>
          <a:p>
            <a:endParaRPr lang="en-ZA" sz="400" cap="none" dirty="0"/>
          </a:p>
          <a:p>
            <a:r>
              <a:rPr lang="en-ZA" sz="1200" b="0" cap="none" dirty="0">
                <a:hlinkClick r:id="rId3"/>
              </a:rPr>
              <a:t>NicholasSpaull@gmail.com</a:t>
            </a:r>
            <a:r>
              <a:rPr lang="en-ZA" sz="1200" b="0" cap="none" dirty="0"/>
              <a:t> – </a:t>
            </a:r>
            <a:r>
              <a:rPr lang="en-ZA" sz="1200" b="0" cap="none" dirty="0">
                <a:hlinkClick r:id="rId4"/>
              </a:rPr>
              <a:t>www.nicspaull.com/teaching</a:t>
            </a:r>
            <a:r>
              <a:rPr lang="en-ZA" sz="1200" b="0" cap="none" dirty="0"/>
              <a:t> </a:t>
            </a:r>
          </a:p>
        </p:txBody>
      </p:sp>
      <p:sp>
        <p:nvSpPr>
          <p:cNvPr id="3" name="Title 2"/>
          <p:cNvSpPr>
            <a:spLocks noGrp="1"/>
          </p:cNvSpPr>
          <p:nvPr>
            <p:ph type="ctrTitle"/>
          </p:nvPr>
        </p:nvSpPr>
        <p:spPr/>
        <p:txBody>
          <a:bodyPr/>
          <a:lstStyle/>
          <a:p>
            <a:r>
              <a:rPr lang="en-ZA" dirty="0"/>
              <a:t>Day 2: Core statistics 101</a:t>
            </a:r>
          </a:p>
        </p:txBody>
      </p:sp>
      <p:pic>
        <p:nvPicPr>
          <p:cNvPr id="8194" name="Picture 2" descr="ud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928" y="260648"/>
            <a:ext cx="1197744" cy="119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http://vassarstats.net/textbook/f0204.gif"/>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776" y="4725144"/>
            <a:ext cx="4135652" cy="1515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4137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Introduction</a:t>
            </a:r>
          </a:p>
        </p:txBody>
      </p:sp>
      <p:sp>
        <p:nvSpPr>
          <p:cNvPr id="3" name="Content Placeholder 2"/>
          <p:cNvSpPr>
            <a:spLocks noGrp="1"/>
          </p:cNvSpPr>
          <p:nvPr>
            <p:ph sz="quarter" idx="1"/>
          </p:nvPr>
        </p:nvSpPr>
        <p:spPr/>
        <p:txBody>
          <a:bodyPr/>
          <a:lstStyle/>
          <a:p>
            <a:r>
              <a:rPr lang="en-ZA" dirty="0"/>
              <a:t>What are statistics?</a:t>
            </a:r>
          </a:p>
          <a:p>
            <a:pPr lvl="1"/>
            <a:r>
              <a:rPr lang="en-ZA" dirty="0"/>
              <a:t>“the practice or science of collecting and analysing numerical data in large quantities”</a:t>
            </a:r>
          </a:p>
          <a:p>
            <a:pPr lvl="1"/>
            <a:endParaRPr lang="en-ZA" dirty="0"/>
          </a:p>
          <a:p>
            <a:r>
              <a:rPr lang="en-ZA" dirty="0"/>
              <a:t>Why do we need descriptive statistics?</a:t>
            </a:r>
          </a:p>
          <a:p>
            <a:pPr lvl="1"/>
            <a:r>
              <a:rPr lang="en-ZA" dirty="0"/>
              <a:t>When we look at large amounts of data, there is very little “face value” information. If you had a dataset listing the income of 10,000 people and someone asked you if the income of the group was high or low it would be difficult to answer that question without using summary statistics (mean, median, mode etc.). </a:t>
            </a:r>
          </a:p>
          <a:p>
            <a:endParaRPr lang="en-ZA" dirty="0"/>
          </a:p>
        </p:txBody>
      </p:sp>
    </p:spTree>
    <p:extLst>
      <p:ext uri="{BB962C8B-B14F-4D97-AF65-F5344CB8AC3E}">
        <p14:creationId xmlns:p14="http://schemas.microsoft.com/office/powerpoint/2010/main" val="1766036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C821ADAE-7A7D-4618-890E-9646FC415B70}" type="slidenum">
              <a:rPr lang="en-GB" altLang="en-US"/>
              <a:pPr/>
              <a:t>3</a:t>
            </a:fld>
            <a:endParaRPr lang="en-GB" altLang="en-US"/>
          </a:p>
        </p:txBody>
      </p:sp>
      <p:sp>
        <p:nvSpPr>
          <p:cNvPr id="112642" name="Rectangle 2"/>
          <p:cNvSpPr>
            <a:spLocks noGrp="1" noChangeArrowheads="1"/>
          </p:cNvSpPr>
          <p:nvPr>
            <p:ph type="title"/>
          </p:nvPr>
        </p:nvSpPr>
        <p:spPr/>
        <p:txBody>
          <a:bodyPr/>
          <a:lstStyle/>
          <a:p>
            <a:r>
              <a:rPr lang="en-US" altLang="en-US"/>
              <a:t>Types of Data</a:t>
            </a:r>
          </a:p>
        </p:txBody>
      </p:sp>
      <p:graphicFrame>
        <p:nvGraphicFramePr>
          <p:cNvPr id="2" name="Diagram 1"/>
          <p:cNvGraphicFramePr/>
          <p:nvPr>
            <p:extLst>
              <p:ext uri="{D42A27DB-BD31-4B8C-83A1-F6EECF244321}">
                <p14:modId xmlns:p14="http://schemas.microsoft.com/office/powerpoint/2010/main" val="4030112621"/>
              </p:ext>
            </p:extLst>
          </p:nvPr>
        </p:nvGraphicFramePr>
        <p:xfrm>
          <a:off x="533400" y="1447800"/>
          <a:ext cx="73152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599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C821ADAE-7A7D-4618-890E-9646FC415B70}" type="slidenum">
              <a:rPr lang="en-GB" altLang="en-US"/>
              <a:pPr/>
              <a:t>4</a:t>
            </a:fld>
            <a:endParaRPr lang="en-GB" altLang="en-US"/>
          </a:p>
        </p:txBody>
      </p:sp>
      <p:sp>
        <p:nvSpPr>
          <p:cNvPr id="112642" name="Rectangle 2"/>
          <p:cNvSpPr>
            <a:spLocks noGrp="1" noChangeArrowheads="1"/>
          </p:cNvSpPr>
          <p:nvPr>
            <p:ph type="title"/>
          </p:nvPr>
        </p:nvSpPr>
        <p:spPr/>
        <p:txBody>
          <a:bodyPr/>
          <a:lstStyle/>
          <a:p>
            <a:r>
              <a:rPr lang="en-US" altLang="en-US"/>
              <a:t>Types of Data</a:t>
            </a:r>
          </a:p>
        </p:txBody>
      </p:sp>
      <p:graphicFrame>
        <p:nvGraphicFramePr>
          <p:cNvPr id="2" name="Diagram 1"/>
          <p:cNvGraphicFramePr/>
          <p:nvPr>
            <p:extLst>
              <p:ext uri="{D42A27DB-BD31-4B8C-83A1-F6EECF244321}">
                <p14:modId xmlns:p14="http://schemas.microsoft.com/office/powerpoint/2010/main" val="2332290099"/>
              </p:ext>
            </p:extLst>
          </p:nvPr>
        </p:nvGraphicFramePr>
        <p:xfrm>
          <a:off x="533400" y="1447800"/>
          <a:ext cx="73152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2654" name="Text Box 14"/>
          <p:cNvSpPr txBox="1">
            <a:spLocks noChangeArrowheads="1"/>
          </p:cNvSpPr>
          <p:nvPr/>
        </p:nvSpPr>
        <p:spPr bwMode="auto">
          <a:xfrm>
            <a:off x="539552" y="3861697"/>
            <a:ext cx="2514600" cy="11387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342" tIns="42672" rIns="85342" bIns="42672">
            <a:spAutoFit/>
          </a:bodyPr>
          <a:lstStyle>
            <a:lvl1pPr marL="342900" indent="-342900" algn="l" eaLnBrk="0" hangingPunct="0">
              <a:defRPr sz="2400">
                <a:solidFill>
                  <a:schemeClr val="tx1"/>
                </a:solidFill>
                <a:latin typeface="Arial" pitchFamily="34" charset="0"/>
              </a:defRPr>
            </a:lvl1pPr>
            <a:lvl2pPr algn="l" eaLnBrk="0" hangingPunct="0">
              <a:defRPr sz="2400">
                <a:solidFill>
                  <a:schemeClr val="tx1"/>
                </a:solidFill>
                <a:latin typeface="Arial" pitchFamily="34" charset="0"/>
              </a:defRPr>
            </a:lvl2pPr>
            <a:lvl3pPr algn="l" eaLnBrk="0" hangingPunct="0">
              <a:defRPr sz="2400">
                <a:solidFill>
                  <a:schemeClr val="tx1"/>
                </a:solidFill>
                <a:latin typeface="Arial" pitchFamily="34" charset="0"/>
              </a:defRPr>
            </a:lvl3pPr>
            <a:lvl4pPr algn="l" eaLnBrk="0" hangingPunct="0">
              <a:defRPr sz="2400">
                <a:solidFill>
                  <a:schemeClr val="tx1"/>
                </a:solidFill>
                <a:latin typeface="Arial" pitchFamily="34" charset="0"/>
              </a:defRPr>
            </a:lvl4pPr>
            <a:lvl5pPr algn="l" eaLnBrk="0" hangingPunct="0">
              <a:defRPr sz="2400">
                <a:solidFill>
                  <a:schemeClr val="tx1"/>
                </a:solidFill>
                <a:latin typeface="Arial" pitchFamily="34" charset="0"/>
              </a:defRPr>
            </a:lvl5pPr>
            <a:lvl6pPr eaLnBrk="0" fontAlgn="base" hangingPunct="0">
              <a:spcBef>
                <a:spcPct val="0"/>
              </a:spcBef>
              <a:spcAft>
                <a:spcPct val="0"/>
              </a:spcAft>
              <a:defRPr sz="2400">
                <a:solidFill>
                  <a:schemeClr val="tx1"/>
                </a:solidFill>
                <a:latin typeface="Arial" pitchFamily="34" charset="0"/>
              </a:defRPr>
            </a:lvl6pPr>
            <a:lvl7pPr eaLnBrk="0" fontAlgn="base" hangingPunct="0">
              <a:spcBef>
                <a:spcPct val="0"/>
              </a:spcBef>
              <a:spcAft>
                <a:spcPct val="0"/>
              </a:spcAft>
              <a:defRPr sz="2400">
                <a:solidFill>
                  <a:schemeClr val="tx1"/>
                </a:solidFill>
                <a:latin typeface="Arial" pitchFamily="34" charset="0"/>
              </a:defRPr>
            </a:lvl7pPr>
            <a:lvl8pPr eaLnBrk="0" fontAlgn="base" hangingPunct="0">
              <a:spcBef>
                <a:spcPct val="0"/>
              </a:spcBef>
              <a:spcAft>
                <a:spcPct val="0"/>
              </a:spcAft>
              <a:defRPr sz="2400">
                <a:solidFill>
                  <a:schemeClr val="tx1"/>
                </a:solidFill>
                <a:latin typeface="Arial" pitchFamily="34" charset="0"/>
              </a:defRPr>
            </a:lvl8pPr>
            <a:lvl9pPr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buClr>
                <a:schemeClr val="folHlink"/>
              </a:buClr>
              <a:buSzPct val="60000"/>
              <a:buFont typeface="Wingdings" pitchFamily="2" charset="2"/>
              <a:buNone/>
            </a:pPr>
            <a:r>
              <a:rPr lang="en-US" altLang="en-US" sz="1200" b="1" dirty="0">
                <a:solidFill>
                  <a:srgbClr val="FF0000"/>
                </a:solidFill>
              </a:rPr>
              <a:t>Examples:</a:t>
            </a:r>
          </a:p>
          <a:p>
            <a:pPr eaLnBrk="1" hangingPunct="1">
              <a:spcBef>
                <a:spcPct val="50000"/>
              </a:spcBef>
              <a:buClr>
                <a:schemeClr val="folHlink"/>
              </a:buClr>
              <a:buSzPct val="60000"/>
              <a:buFont typeface="Wingdings" pitchFamily="2" charset="2"/>
              <a:buChar char="n"/>
            </a:pPr>
            <a:r>
              <a:rPr lang="en-US" altLang="en-US" sz="1200" b="1" dirty="0">
                <a:solidFill>
                  <a:srgbClr val="FF0000"/>
                </a:solidFill>
              </a:rPr>
              <a:t>Marital Status</a:t>
            </a:r>
          </a:p>
          <a:p>
            <a:pPr eaLnBrk="1" hangingPunct="1">
              <a:spcBef>
                <a:spcPct val="10000"/>
              </a:spcBef>
              <a:buClr>
                <a:schemeClr val="folHlink"/>
              </a:buClr>
              <a:buSzPct val="60000"/>
              <a:buFont typeface="Wingdings" pitchFamily="2" charset="2"/>
              <a:buChar char="n"/>
            </a:pPr>
            <a:r>
              <a:rPr lang="en-US" altLang="en-US" sz="1200" b="1" dirty="0">
                <a:solidFill>
                  <a:srgbClr val="FF0000"/>
                </a:solidFill>
              </a:rPr>
              <a:t>Political Party</a:t>
            </a:r>
          </a:p>
          <a:p>
            <a:pPr eaLnBrk="1" hangingPunct="1">
              <a:buClr>
                <a:schemeClr val="folHlink"/>
              </a:buClr>
              <a:buSzPct val="60000"/>
              <a:buFont typeface="Wingdings" pitchFamily="2" charset="2"/>
              <a:buChar char="n"/>
            </a:pPr>
            <a:r>
              <a:rPr lang="en-US" altLang="en-US" sz="1200" b="1" dirty="0">
                <a:solidFill>
                  <a:srgbClr val="FF0000"/>
                </a:solidFill>
              </a:rPr>
              <a:t>Eye Color</a:t>
            </a:r>
          </a:p>
          <a:p>
            <a:pPr eaLnBrk="1" hangingPunct="1">
              <a:spcBef>
                <a:spcPct val="10000"/>
              </a:spcBef>
              <a:buClr>
                <a:schemeClr val="folHlink"/>
              </a:buClr>
              <a:buSzPct val="60000"/>
              <a:buFont typeface="Wingdings" pitchFamily="2" charset="2"/>
              <a:buNone/>
            </a:pPr>
            <a:r>
              <a:rPr lang="en-US" altLang="en-US" sz="1200" b="1" dirty="0">
                <a:solidFill>
                  <a:srgbClr val="00B283"/>
                </a:solidFill>
              </a:rPr>
              <a:t>      </a:t>
            </a:r>
            <a:r>
              <a:rPr lang="en-US" altLang="en-US" sz="1200" b="1" dirty="0"/>
              <a:t>(Defined categories)</a:t>
            </a:r>
          </a:p>
        </p:txBody>
      </p:sp>
      <p:sp>
        <p:nvSpPr>
          <p:cNvPr id="112655" name="Text Box 15"/>
          <p:cNvSpPr txBox="1">
            <a:spLocks noChangeArrowheads="1"/>
          </p:cNvSpPr>
          <p:nvPr/>
        </p:nvSpPr>
        <p:spPr bwMode="auto">
          <a:xfrm>
            <a:off x="3347864" y="5240594"/>
            <a:ext cx="2286000" cy="109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342" tIns="42672" rIns="85342" bIns="42672">
            <a:spAutoFit/>
          </a:bodyPr>
          <a:lstStyle>
            <a:lvl1pPr marL="342900" indent="-342900" algn="l" eaLnBrk="0" hangingPunct="0">
              <a:defRPr sz="2400">
                <a:solidFill>
                  <a:schemeClr val="tx1"/>
                </a:solidFill>
                <a:latin typeface="Arial" pitchFamily="34" charset="0"/>
              </a:defRPr>
            </a:lvl1pPr>
            <a:lvl2pPr algn="l" eaLnBrk="0" hangingPunct="0">
              <a:defRPr sz="2400">
                <a:solidFill>
                  <a:schemeClr val="tx1"/>
                </a:solidFill>
                <a:latin typeface="Arial" pitchFamily="34" charset="0"/>
              </a:defRPr>
            </a:lvl2pPr>
            <a:lvl3pPr algn="l" eaLnBrk="0" hangingPunct="0">
              <a:defRPr sz="2400">
                <a:solidFill>
                  <a:schemeClr val="tx1"/>
                </a:solidFill>
                <a:latin typeface="Arial" pitchFamily="34" charset="0"/>
              </a:defRPr>
            </a:lvl3pPr>
            <a:lvl4pPr algn="l" eaLnBrk="0" hangingPunct="0">
              <a:defRPr sz="2400">
                <a:solidFill>
                  <a:schemeClr val="tx1"/>
                </a:solidFill>
                <a:latin typeface="Arial" pitchFamily="34" charset="0"/>
              </a:defRPr>
            </a:lvl4pPr>
            <a:lvl5pPr algn="l" eaLnBrk="0" hangingPunct="0">
              <a:defRPr sz="2400">
                <a:solidFill>
                  <a:schemeClr val="tx1"/>
                </a:solidFill>
                <a:latin typeface="Arial" pitchFamily="34" charset="0"/>
              </a:defRPr>
            </a:lvl5pPr>
            <a:lvl6pPr eaLnBrk="0" fontAlgn="base" hangingPunct="0">
              <a:spcBef>
                <a:spcPct val="0"/>
              </a:spcBef>
              <a:spcAft>
                <a:spcPct val="0"/>
              </a:spcAft>
              <a:defRPr sz="2400">
                <a:solidFill>
                  <a:schemeClr val="tx1"/>
                </a:solidFill>
                <a:latin typeface="Arial" pitchFamily="34" charset="0"/>
              </a:defRPr>
            </a:lvl6pPr>
            <a:lvl7pPr eaLnBrk="0" fontAlgn="base" hangingPunct="0">
              <a:spcBef>
                <a:spcPct val="0"/>
              </a:spcBef>
              <a:spcAft>
                <a:spcPct val="0"/>
              </a:spcAft>
              <a:defRPr sz="2400">
                <a:solidFill>
                  <a:schemeClr val="tx1"/>
                </a:solidFill>
                <a:latin typeface="Arial" pitchFamily="34" charset="0"/>
              </a:defRPr>
            </a:lvl7pPr>
            <a:lvl8pPr eaLnBrk="0" fontAlgn="base" hangingPunct="0">
              <a:spcBef>
                <a:spcPct val="0"/>
              </a:spcBef>
              <a:spcAft>
                <a:spcPct val="0"/>
              </a:spcAft>
              <a:defRPr sz="2400">
                <a:solidFill>
                  <a:schemeClr val="tx1"/>
                </a:solidFill>
                <a:latin typeface="Arial" pitchFamily="34" charset="0"/>
              </a:defRPr>
            </a:lvl8pPr>
            <a:lvl9pPr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buClr>
                <a:schemeClr val="folHlink"/>
              </a:buClr>
              <a:buSzPct val="60000"/>
              <a:buFont typeface="Wingdings" pitchFamily="2" charset="2"/>
              <a:buNone/>
            </a:pPr>
            <a:r>
              <a:rPr lang="en-US" altLang="en-US" sz="1400" b="1" dirty="0">
                <a:solidFill>
                  <a:srgbClr val="FF0000"/>
                </a:solidFill>
              </a:rPr>
              <a:t>Examples:</a:t>
            </a:r>
          </a:p>
          <a:p>
            <a:pPr eaLnBrk="1" hangingPunct="1">
              <a:spcBef>
                <a:spcPct val="50000"/>
              </a:spcBef>
              <a:buClr>
                <a:schemeClr val="folHlink"/>
              </a:buClr>
              <a:buSzPct val="60000"/>
              <a:buFont typeface="Wingdings" pitchFamily="2" charset="2"/>
              <a:buChar char="n"/>
            </a:pPr>
            <a:r>
              <a:rPr lang="en-US" altLang="en-US" sz="1400" b="1" dirty="0">
                <a:solidFill>
                  <a:srgbClr val="FF0000"/>
                </a:solidFill>
              </a:rPr>
              <a:t>Number of Children</a:t>
            </a:r>
          </a:p>
          <a:p>
            <a:pPr eaLnBrk="1" hangingPunct="1">
              <a:spcBef>
                <a:spcPct val="10000"/>
              </a:spcBef>
              <a:buClr>
                <a:schemeClr val="folHlink"/>
              </a:buClr>
              <a:buSzPct val="60000"/>
              <a:buFont typeface="Wingdings" pitchFamily="2" charset="2"/>
              <a:buChar char="n"/>
            </a:pPr>
            <a:r>
              <a:rPr lang="en-US" altLang="en-US" sz="1400" b="1" dirty="0">
                <a:solidFill>
                  <a:srgbClr val="FF0000"/>
                </a:solidFill>
              </a:rPr>
              <a:t>Defects per hour</a:t>
            </a:r>
          </a:p>
          <a:p>
            <a:pPr eaLnBrk="1" hangingPunct="1">
              <a:spcBef>
                <a:spcPct val="10000"/>
              </a:spcBef>
              <a:buClr>
                <a:schemeClr val="folHlink"/>
              </a:buClr>
              <a:buSzPct val="60000"/>
              <a:buFont typeface="Wingdings" pitchFamily="2" charset="2"/>
              <a:buNone/>
            </a:pPr>
            <a:r>
              <a:rPr lang="en-US" altLang="en-US" sz="1400" b="1" dirty="0">
                <a:solidFill>
                  <a:srgbClr val="F983C1"/>
                </a:solidFill>
              </a:rPr>
              <a:t>      </a:t>
            </a:r>
            <a:r>
              <a:rPr lang="en-US" altLang="en-US" sz="1400" b="1" dirty="0"/>
              <a:t>(Counted items)</a:t>
            </a:r>
          </a:p>
        </p:txBody>
      </p:sp>
      <p:sp>
        <p:nvSpPr>
          <p:cNvPr id="112656" name="Text Box 16"/>
          <p:cNvSpPr txBox="1">
            <a:spLocks noChangeArrowheads="1"/>
          </p:cNvSpPr>
          <p:nvPr/>
        </p:nvSpPr>
        <p:spPr bwMode="auto">
          <a:xfrm>
            <a:off x="6248400" y="5229200"/>
            <a:ext cx="2743200" cy="109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342" tIns="42672" rIns="85342" bIns="42672">
            <a:spAutoFit/>
          </a:bodyPr>
          <a:lstStyle>
            <a:lvl1pPr marL="342900" indent="-342900" algn="l" eaLnBrk="0" hangingPunct="0">
              <a:defRPr sz="2400">
                <a:solidFill>
                  <a:schemeClr val="tx1"/>
                </a:solidFill>
                <a:latin typeface="Arial" pitchFamily="34" charset="0"/>
              </a:defRPr>
            </a:lvl1pPr>
            <a:lvl2pPr algn="l" eaLnBrk="0" hangingPunct="0">
              <a:defRPr sz="2400">
                <a:solidFill>
                  <a:schemeClr val="tx1"/>
                </a:solidFill>
                <a:latin typeface="Arial" pitchFamily="34" charset="0"/>
              </a:defRPr>
            </a:lvl2pPr>
            <a:lvl3pPr algn="l" eaLnBrk="0" hangingPunct="0">
              <a:defRPr sz="2400">
                <a:solidFill>
                  <a:schemeClr val="tx1"/>
                </a:solidFill>
                <a:latin typeface="Arial" pitchFamily="34" charset="0"/>
              </a:defRPr>
            </a:lvl3pPr>
            <a:lvl4pPr algn="l" eaLnBrk="0" hangingPunct="0">
              <a:defRPr sz="2400">
                <a:solidFill>
                  <a:schemeClr val="tx1"/>
                </a:solidFill>
                <a:latin typeface="Arial" pitchFamily="34" charset="0"/>
              </a:defRPr>
            </a:lvl4pPr>
            <a:lvl5pPr algn="l" eaLnBrk="0" hangingPunct="0">
              <a:defRPr sz="2400">
                <a:solidFill>
                  <a:schemeClr val="tx1"/>
                </a:solidFill>
                <a:latin typeface="Arial" pitchFamily="34" charset="0"/>
              </a:defRPr>
            </a:lvl5pPr>
            <a:lvl6pPr eaLnBrk="0" fontAlgn="base" hangingPunct="0">
              <a:spcBef>
                <a:spcPct val="0"/>
              </a:spcBef>
              <a:spcAft>
                <a:spcPct val="0"/>
              </a:spcAft>
              <a:defRPr sz="2400">
                <a:solidFill>
                  <a:schemeClr val="tx1"/>
                </a:solidFill>
                <a:latin typeface="Arial" pitchFamily="34" charset="0"/>
              </a:defRPr>
            </a:lvl6pPr>
            <a:lvl7pPr eaLnBrk="0" fontAlgn="base" hangingPunct="0">
              <a:spcBef>
                <a:spcPct val="0"/>
              </a:spcBef>
              <a:spcAft>
                <a:spcPct val="0"/>
              </a:spcAft>
              <a:defRPr sz="2400">
                <a:solidFill>
                  <a:schemeClr val="tx1"/>
                </a:solidFill>
                <a:latin typeface="Arial" pitchFamily="34" charset="0"/>
              </a:defRPr>
            </a:lvl7pPr>
            <a:lvl8pPr eaLnBrk="0" fontAlgn="base" hangingPunct="0">
              <a:spcBef>
                <a:spcPct val="0"/>
              </a:spcBef>
              <a:spcAft>
                <a:spcPct val="0"/>
              </a:spcAft>
              <a:defRPr sz="2400">
                <a:solidFill>
                  <a:schemeClr val="tx1"/>
                </a:solidFill>
                <a:latin typeface="Arial" pitchFamily="34" charset="0"/>
              </a:defRPr>
            </a:lvl8pPr>
            <a:lvl9pPr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buClr>
                <a:schemeClr val="folHlink"/>
              </a:buClr>
              <a:buSzPct val="60000"/>
              <a:buFont typeface="Wingdings" pitchFamily="2" charset="2"/>
              <a:buNone/>
            </a:pPr>
            <a:r>
              <a:rPr lang="en-US" altLang="en-US" sz="1400" b="1" dirty="0">
                <a:solidFill>
                  <a:srgbClr val="FF0000"/>
                </a:solidFill>
              </a:rPr>
              <a:t>Examples:</a:t>
            </a:r>
          </a:p>
          <a:p>
            <a:pPr eaLnBrk="1" hangingPunct="1">
              <a:spcBef>
                <a:spcPct val="50000"/>
              </a:spcBef>
              <a:buClr>
                <a:schemeClr val="folHlink"/>
              </a:buClr>
              <a:buSzPct val="60000"/>
              <a:buFont typeface="Wingdings" pitchFamily="2" charset="2"/>
              <a:buChar char="n"/>
            </a:pPr>
            <a:r>
              <a:rPr lang="en-US" altLang="en-US" sz="1400" b="1" dirty="0">
                <a:solidFill>
                  <a:srgbClr val="FF0000"/>
                </a:solidFill>
              </a:rPr>
              <a:t>Weight</a:t>
            </a:r>
          </a:p>
          <a:p>
            <a:pPr eaLnBrk="1" hangingPunct="1">
              <a:spcBef>
                <a:spcPct val="10000"/>
              </a:spcBef>
              <a:buClr>
                <a:schemeClr val="folHlink"/>
              </a:buClr>
              <a:buSzPct val="60000"/>
              <a:buFont typeface="Wingdings" pitchFamily="2" charset="2"/>
              <a:buChar char="n"/>
            </a:pPr>
            <a:r>
              <a:rPr lang="en-US" altLang="en-US" sz="1400" b="1" dirty="0">
                <a:solidFill>
                  <a:srgbClr val="FF0000"/>
                </a:solidFill>
              </a:rPr>
              <a:t>Voltage</a:t>
            </a:r>
          </a:p>
          <a:p>
            <a:pPr eaLnBrk="1" hangingPunct="1">
              <a:spcBef>
                <a:spcPct val="10000"/>
              </a:spcBef>
              <a:buClr>
                <a:schemeClr val="folHlink"/>
              </a:buClr>
              <a:buSzPct val="60000"/>
              <a:buFont typeface="Wingdings" pitchFamily="2" charset="2"/>
              <a:buNone/>
            </a:pPr>
            <a:r>
              <a:rPr lang="en-US" altLang="en-US" sz="1400" b="1" dirty="0">
                <a:solidFill>
                  <a:srgbClr val="F983C1"/>
                </a:solidFill>
              </a:rPr>
              <a:t>    </a:t>
            </a:r>
            <a:r>
              <a:rPr lang="en-US" altLang="en-US" sz="1400" b="1" dirty="0"/>
              <a:t>(Measured characteristics)</a:t>
            </a:r>
          </a:p>
        </p:txBody>
      </p:sp>
    </p:spTree>
    <p:extLst>
      <p:ext uri="{BB962C8B-B14F-4D97-AF65-F5344CB8AC3E}">
        <p14:creationId xmlns:p14="http://schemas.microsoft.com/office/powerpoint/2010/main" val="154816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5" grpId="0"/>
      <p:bldP spid="11265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3"/>
          <p:cNvSpPr>
            <a:spLocks noGrp="1"/>
          </p:cNvSpPr>
          <p:nvPr>
            <p:ph type="sldNum" sz="quarter" idx="10"/>
          </p:nvPr>
        </p:nvSpPr>
        <p:spPr/>
        <p:txBody>
          <a:bodyPr/>
          <a:lstStyle/>
          <a:p>
            <a:fld id="{8A84CF42-E592-45DC-A42E-AF9DD5DED39B}" type="slidenum">
              <a:rPr lang="en-GB" altLang="en-US"/>
              <a:pPr/>
              <a:t>5</a:t>
            </a:fld>
            <a:endParaRPr lang="en-GB" altLang="en-US"/>
          </a:p>
        </p:txBody>
      </p:sp>
      <p:sp>
        <p:nvSpPr>
          <p:cNvPr id="64514" name="Rectangle 2"/>
          <p:cNvSpPr>
            <a:spLocks noGrp="1" noChangeArrowheads="1"/>
          </p:cNvSpPr>
          <p:nvPr>
            <p:ph type="title"/>
          </p:nvPr>
        </p:nvSpPr>
        <p:spPr>
          <a:xfrm>
            <a:off x="1143000" y="381000"/>
            <a:ext cx="6418263" cy="527720"/>
          </a:xfrm>
        </p:spPr>
        <p:txBody>
          <a:bodyPr>
            <a:normAutofit fontScale="90000"/>
          </a:bodyPr>
          <a:lstStyle/>
          <a:p>
            <a:r>
              <a:rPr lang="en-US" altLang="en-US" dirty="0"/>
              <a:t>Collecting Data</a:t>
            </a:r>
          </a:p>
        </p:txBody>
      </p:sp>
      <p:sp>
        <p:nvSpPr>
          <p:cNvPr id="64516" name="Line 4"/>
          <p:cNvSpPr>
            <a:spLocks noChangeShapeType="1"/>
          </p:cNvSpPr>
          <p:nvPr/>
        </p:nvSpPr>
        <p:spPr bwMode="auto">
          <a:xfrm>
            <a:off x="4343400" y="3276600"/>
            <a:ext cx="0" cy="60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17" name="Line 5"/>
          <p:cNvSpPr>
            <a:spLocks noChangeShapeType="1"/>
          </p:cNvSpPr>
          <p:nvPr/>
        </p:nvSpPr>
        <p:spPr bwMode="auto">
          <a:xfrm>
            <a:off x="7010400" y="2590800"/>
            <a:ext cx="0" cy="533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18" name="Rectangle 6"/>
          <p:cNvSpPr>
            <a:spLocks noChangeArrowheads="1"/>
          </p:cNvSpPr>
          <p:nvPr/>
        </p:nvSpPr>
        <p:spPr bwMode="auto">
          <a:xfrm>
            <a:off x="609600" y="1828800"/>
            <a:ext cx="80200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20" name="Rectangle 8"/>
          <p:cNvSpPr>
            <a:spLocks noChangeArrowheads="1"/>
          </p:cNvSpPr>
          <p:nvPr/>
        </p:nvSpPr>
        <p:spPr bwMode="auto">
          <a:xfrm>
            <a:off x="4953000" y="1752600"/>
            <a:ext cx="4114800" cy="610680"/>
          </a:xfrm>
          <a:prstGeom prst="rect">
            <a:avLst/>
          </a:prstGeom>
          <a:solidFill>
            <a:srgbClr val="CBDDF7"/>
          </a:solidFill>
          <a:ln w="127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lnSpc>
                <a:spcPct val="70000"/>
              </a:lnSpc>
              <a:spcBef>
                <a:spcPct val="50000"/>
              </a:spcBef>
            </a:pPr>
            <a:r>
              <a:rPr lang="en-US" altLang="en-US" sz="2400" b="1" dirty="0"/>
              <a:t>Secondary Sources</a:t>
            </a:r>
            <a:endParaRPr lang="en-US" altLang="en-US" sz="1400" b="1" dirty="0"/>
          </a:p>
          <a:p>
            <a:pPr eaLnBrk="0" hangingPunct="0">
              <a:lnSpc>
                <a:spcPct val="70000"/>
              </a:lnSpc>
              <a:spcBef>
                <a:spcPct val="50000"/>
              </a:spcBef>
            </a:pPr>
            <a:r>
              <a:rPr lang="en-US" altLang="en-US" sz="1400" b="1" dirty="0"/>
              <a:t>Data Compilation</a:t>
            </a:r>
          </a:p>
        </p:txBody>
      </p:sp>
      <p:sp>
        <p:nvSpPr>
          <p:cNvPr id="64521" name="Line 9"/>
          <p:cNvSpPr>
            <a:spLocks noChangeShapeType="1"/>
          </p:cNvSpPr>
          <p:nvPr/>
        </p:nvSpPr>
        <p:spPr bwMode="auto">
          <a:xfrm>
            <a:off x="2667000" y="2590800"/>
            <a:ext cx="0" cy="685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22" name="Line 10"/>
          <p:cNvSpPr>
            <a:spLocks noChangeShapeType="1"/>
          </p:cNvSpPr>
          <p:nvPr/>
        </p:nvSpPr>
        <p:spPr bwMode="auto">
          <a:xfrm>
            <a:off x="1603375" y="3276600"/>
            <a:ext cx="2752725"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23" name="Line 11"/>
          <p:cNvSpPr>
            <a:spLocks noChangeShapeType="1"/>
          </p:cNvSpPr>
          <p:nvPr/>
        </p:nvSpPr>
        <p:spPr bwMode="auto">
          <a:xfrm>
            <a:off x="1600200" y="3276600"/>
            <a:ext cx="0" cy="533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24" name="Rectangle 12"/>
          <p:cNvSpPr>
            <a:spLocks noChangeArrowheads="1"/>
          </p:cNvSpPr>
          <p:nvPr/>
        </p:nvSpPr>
        <p:spPr bwMode="auto">
          <a:xfrm>
            <a:off x="533400" y="3810000"/>
            <a:ext cx="2362200" cy="466725"/>
          </a:xfrm>
          <a:prstGeom prst="rect">
            <a:avLst/>
          </a:prstGeom>
          <a:solidFill>
            <a:srgbClr val="FDE0BD"/>
          </a:solidFill>
          <a:ln w="127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dirty="0"/>
              <a:t>Observation</a:t>
            </a:r>
          </a:p>
        </p:txBody>
      </p:sp>
      <p:sp>
        <p:nvSpPr>
          <p:cNvPr id="64525" name="Line 13"/>
          <p:cNvSpPr>
            <a:spLocks noChangeShapeType="1"/>
          </p:cNvSpPr>
          <p:nvPr/>
        </p:nvSpPr>
        <p:spPr bwMode="auto">
          <a:xfrm>
            <a:off x="3048000" y="3276600"/>
            <a:ext cx="0" cy="1905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64526" name="Rectangle 14"/>
          <p:cNvSpPr>
            <a:spLocks noChangeArrowheads="1"/>
          </p:cNvSpPr>
          <p:nvPr/>
        </p:nvSpPr>
        <p:spPr bwMode="auto">
          <a:xfrm>
            <a:off x="1219200" y="5181600"/>
            <a:ext cx="3276600" cy="466725"/>
          </a:xfrm>
          <a:prstGeom prst="rect">
            <a:avLst/>
          </a:prstGeom>
          <a:solidFill>
            <a:srgbClr val="FDE0BD"/>
          </a:solidFill>
          <a:ln w="127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Experimentation</a:t>
            </a:r>
          </a:p>
        </p:txBody>
      </p:sp>
      <p:grpSp>
        <p:nvGrpSpPr>
          <p:cNvPr id="64528" name="Group 16"/>
          <p:cNvGrpSpPr>
            <a:grpSpLocks/>
          </p:cNvGrpSpPr>
          <p:nvPr/>
        </p:nvGrpSpPr>
        <p:grpSpPr bwMode="auto">
          <a:xfrm>
            <a:off x="3962400" y="5638800"/>
            <a:ext cx="685800" cy="762000"/>
            <a:chOff x="2544" y="3552"/>
            <a:chExt cx="553" cy="578"/>
          </a:xfrm>
        </p:grpSpPr>
        <p:grpSp>
          <p:nvGrpSpPr>
            <p:cNvPr id="64529" name="Group 17"/>
            <p:cNvGrpSpPr>
              <a:grpSpLocks/>
            </p:cNvGrpSpPr>
            <p:nvPr/>
          </p:nvGrpSpPr>
          <p:grpSpPr bwMode="auto">
            <a:xfrm>
              <a:off x="2544" y="3618"/>
              <a:ext cx="354" cy="438"/>
              <a:chOff x="2544" y="3618"/>
              <a:chExt cx="354" cy="438"/>
            </a:xfrm>
          </p:grpSpPr>
          <p:sp>
            <p:nvSpPr>
              <p:cNvPr id="64530" name="Freeform 18"/>
              <p:cNvSpPr>
                <a:spLocks/>
              </p:cNvSpPr>
              <p:nvPr/>
            </p:nvSpPr>
            <p:spPr bwMode="auto">
              <a:xfrm>
                <a:off x="2544" y="3618"/>
                <a:ext cx="354" cy="438"/>
              </a:xfrm>
              <a:custGeom>
                <a:avLst/>
                <a:gdLst>
                  <a:gd name="T0" fmla="*/ 105 w 354"/>
                  <a:gd name="T1" fmla="*/ 0 h 438"/>
                  <a:gd name="T2" fmla="*/ 248 w 354"/>
                  <a:gd name="T3" fmla="*/ 0 h 438"/>
                  <a:gd name="T4" fmla="*/ 248 w 354"/>
                  <a:gd name="T5" fmla="*/ 26 h 438"/>
                  <a:gd name="T6" fmla="*/ 232 w 354"/>
                  <a:gd name="T7" fmla="*/ 26 h 438"/>
                  <a:gd name="T8" fmla="*/ 232 w 354"/>
                  <a:gd name="T9" fmla="*/ 118 h 438"/>
                  <a:gd name="T10" fmla="*/ 351 w 354"/>
                  <a:gd name="T11" fmla="*/ 417 h 438"/>
                  <a:gd name="T12" fmla="*/ 352 w 354"/>
                  <a:gd name="T13" fmla="*/ 419 h 438"/>
                  <a:gd name="T14" fmla="*/ 352 w 354"/>
                  <a:gd name="T15" fmla="*/ 420 h 438"/>
                  <a:gd name="T16" fmla="*/ 353 w 354"/>
                  <a:gd name="T17" fmla="*/ 422 h 438"/>
                  <a:gd name="T18" fmla="*/ 352 w 354"/>
                  <a:gd name="T19" fmla="*/ 425 h 438"/>
                  <a:gd name="T20" fmla="*/ 352 w 354"/>
                  <a:gd name="T21" fmla="*/ 427 h 438"/>
                  <a:gd name="T22" fmla="*/ 351 w 354"/>
                  <a:gd name="T23" fmla="*/ 429 h 438"/>
                  <a:gd name="T24" fmla="*/ 350 w 354"/>
                  <a:gd name="T25" fmla="*/ 430 h 438"/>
                  <a:gd name="T26" fmla="*/ 349 w 354"/>
                  <a:gd name="T27" fmla="*/ 432 h 438"/>
                  <a:gd name="T28" fmla="*/ 348 w 354"/>
                  <a:gd name="T29" fmla="*/ 433 h 438"/>
                  <a:gd name="T30" fmla="*/ 346 w 354"/>
                  <a:gd name="T31" fmla="*/ 435 h 438"/>
                  <a:gd name="T32" fmla="*/ 344 w 354"/>
                  <a:gd name="T33" fmla="*/ 436 h 438"/>
                  <a:gd name="T34" fmla="*/ 343 w 354"/>
                  <a:gd name="T35" fmla="*/ 436 h 438"/>
                  <a:gd name="T36" fmla="*/ 341 w 354"/>
                  <a:gd name="T37" fmla="*/ 437 h 438"/>
                  <a:gd name="T38" fmla="*/ 339 w 354"/>
                  <a:gd name="T39" fmla="*/ 437 h 438"/>
                  <a:gd name="T40" fmla="*/ 15 w 354"/>
                  <a:gd name="T41" fmla="*/ 437 h 438"/>
                  <a:gd name="T42" fmla="*/ 13 w 354"/>
                  <a:gd name="T43" fmla="*/ 437 h 438"/>
                  <a:gd name="T44" fmla="*/ 11 w 354"/>
                  <a:gd name="T45" fmla="*/ 436 h 438"/>
                  <a:gd name="T46" fmla="*/ 9 w 354"/>
                  <a:gd name="T47" fmla="*/ 436 h 438"/>
                  <a:gd name="T48" fmla="*/ 7 w 354"/>
                  <a:gd name="T49" fmla="*/ 435 h 438"/>
                  <a:gd name="T50" fmla="*/ 5 w 354"/>
                  <a:gd name="T51" fmla="*/ 433 h 438"/>
                  <a:gd name="T52" fmla="*/ 3 w 354"/>
                  <a:gd name="T53" fmla="*/ 431 h 438"/>
                  <a:gd name="T54" fmla="*/ 2 w 354"/>
                  <a:gd name="T55" fmla="*/ 429 h 438"/>
                  <a:gd name="T56" fmla="*/ 1 w 354"/>
                  <a:gd name="T57" fmla="*/ 427 h 438"/>
                  <a:gd name="T58" fmla="*/ 0 w 354"/>
                  <a:gd name="T59" fmla="*/ 424 h 438"/>
                  <a:gd name="T60" fmla="*/ 0 w 354"/>
                  <a:gd name="T61" fmla="*/ 421 h 438"/>
                  <a:gd name="T62" fmla="*/ 1 w 354"/>
                  <a:gd name="T63" fmla="*/ 418 h 438"/>
                  <a:gd name="T64" fmla="*/ 2 w 354"/>
                  <a:gd name="T65" fmla="*/ 416 h 438"/>
                  <a:gd name="T66" fmla="*/ 2 w 354"/>
                  <a:gd name="T67" fmla="*/ 414 h 438"/>
                  <a:gd name="T68" fmla="*/ 4 w 354"/>
                  <a:gd name="T69" fmla="*/ 410 h 438"/>
                  <a:gd name="T70" fmla="*/ 121 w 354"/>
                  <a:gd name="T71" fmla="*/ 118 h 438"/>
                  <a:gd name="T72" fmla="*/ 121 w 354"/>
                  <a:gd name="T73" fmla="*/ 26 h 438"/>
                  <a:gd name="T74" fmla="*/ 105 w 354"/>
                  <a:gd name="T75" fmla="*/ 26 h 438"/>
                  <a:gd name="T76" fmla="*/ 105 w 354"/>
                  <a:gd name="T77"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4" h="438">
                    <a:moveTo>
                      <a:pt x="105" y="0"/>
                    </a:moveTo>
                    <a:lnTo>
                      <a:pt x="248" y="0"/>
                    </a:lnTo>
                    <a:lnTo>
                      <a:pt x="248" y="26"/>
                    </a:lnTo>
                    <a:lnTo>
                      <a:pt x="232" y="26"/>
                    </a:lnTo>
                    <a:lnTo>
                      <a:pt x="232" y="118"/>
                    </a:lnTo>
                    <a:lnTo>
                      <a:pt x="351" y="417"/>
                    </a:lnTo>
                    <a:lnTo>
                      <a:pt x="352" y="419"/>
                    </a:lnTo>
                    <a:lnTo>
                      <a:pt x="352" y="420"/>
                    </a:lnTo>
                    <a:lnTo>
                      <a:pt x="353" y="422"/>
                    </a:lnTo>
                    <a:lnTo>
                      <a:pt x="352" y="425"/>
                    </a:lnTo>
                    <a:lnTo>
                      <a:pt x="352" y="427"/>
                    </a:lnTo>
                    <a:lnTo>
                      <a:pt x="351" y="429"/>
                    </a:lnTo>
                    <a:lnTo>
                      <a:pt x="350" y="430"/>
                    </a:lnTo>
                    <a:lnTo>
                      <a:pt x="349" y="432"/>
                    </a:lnTo>
                    <a:lnTo>
                      <a:pt x="348" y="433"/>
                    </a:lnTo>
                    <a:lnTo>
                      <a:pt x="346" y="435"/>
                    </a:lnTo>
                    <a:lnTo>
                      <a:pt x="344" y="436"/>
                    </a:lnTo>
                    <a:lnTo>
                      <a:pt x="343" y="436"/>
                    </a:lnTo>
                    <a:lnTo>
                      <a:pt x="341" y="437"/>
                    </a:lnTo>
                    <a:lnTo>
                      <a:pt x="339" y="437"/>
                    </a:lnTo>
                    <a:lnTo>
                      <a:pt x="15" y="437"/>
                    </a:lnTo>
                    <a:lnTo>
                      <a:pt x="13" y="437"/>
                    </a:lnTo>
                    <a:lnTo>
                      <a:pt x="11" y="436"/>
                    </a:lnTo>
                    <a:lnTo>
                      <a:pt x="9" y="436"/>
                    </a:lnTo>
                    <a:lnTo>
                      <a:pt x="7" y="435"/>
                    </a:lnTo>
                    <a:lnTo>
                      <a:pt x="5" y="433"/>
                    </a:lnTo>
                    <a:lnTo>
                      <a:pt x="3" y="431"/>
                    </a:lnTo>
                    <a:lnTo>
                      <a:pt x="2" y="429"/>
                    </a:lnTo>
                    <a:lnTo>
                      <a:pt x="1" y="427"/>
                    </a:lnTo>
                    <a:lnTo>
                      <a:pt x="0" y="424"/>
                    </a:lnTo>
                    <a:lnTo>
                      <a:pt x="0" y="421"/>
                    </a:lnTo>
                    <a:lnTo>
                      <a:pt x="1" y="418"/>
                    </a:lnTo>
                    <a:lnTo>
                      <a:pt x="2" y="416"/>
                    </a:lnTo>
                    <a:lnTo>
                      <a:pt x="2" y="414"/>
                    </a:lnTo>
                    <a:lnTo>
                      <a:pt x="4" y="410"/>
                    </a:lnTo>
                    <a:lnTo>
                      <a:pt x="121" y="118"/>
                    </a:lnTo>
                    <a:lnTo>
                      <a:pt x="121" y="26"/>
                    </a:lnTo>
                    <a:lnTo>
                      <a:pt x="105" y="26"/>
                    </a:lnTo>
                    <a:lnTo>
                      <a:pt x="105" y="0"/>
                    </a:lnTo>
                  </a:path>
                </a:pathLst>
              </a:custGeom>
              <a:noFill/>
              <a:ln w="12700" cap="rnd" cmpd="sng">
                <a:solidFill>
                  <a:srgbClr val="009FBF"/>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ZA"/>
              </a:p>
            </p:txBody>
          </p:sp>
          <p:sp>
            <p:nvSpPr>
              <p:cNvPr id="64531" name="Freeform 19"/>
              <p:cNvSpPr>
                <a:spLocks/>
              </p:cNvSpPr>
              <p:nvPr/>
            </p:nvSpPr>
            <p:spPr bwMode="auto">
              <a:xfrm>
                <a:off x="2544" y="3736"/>
                <a:ext cx="354" cy="320"/>
              </a:xfrm>
              <a:custGeom>
                <a:avLst/>
                <a:gdLst>
                  <a:gd name="T0" fmla="*/ 232 w 354"/>
                  <a:gd name="T1" fmla="*/ 0 h 320"/>
                  <a:gd name="T2" fmla="*/ 351 w 354"/>
                  <a:gd name="T3" fmla="*/ 299 h 320"/>
                  <a:gd name="T4" fmla="*/ 352 w 354"/>
                  <a:gd name="T5" fmla="*/ 301 h 320"/>
                  <a:gd name="T6" fmla="*/ 352 w 354"/>
                  <a:gd name="T7" fmla="*/ 302 h 320"/>
                  <a:gd name="T8" fmla="*/ 353 w 354"/>
                  <a:gd name="T9" fmla="*/ 304 h 320"/>
                  <a:gd name="T10" fmla="*/ 352 w 354"/>
                  <a:gd name="T11" fmla="*/ 307 h 320"/>
                  <a:gd name="T12" fmla="*/ 352 w 354"/>
                  <a:gd name="T13" fmla="*/ 309 h 320"/>
                  <a:gd name="T14" fmla="*/ 351 w 354"/>
                  <a:gd name="T15" fmla="*/ 311 h 320"/>
                  <a:gd name="T16" fmla="*/ 350 w 354"/>
                  <a:gd name="T17" fmla="*/ 312 h 320"/>
                  <a:gd name="T18" fmla="*/ 349 w 354"/>
                  <a:gd name="T19" fmla="*/ 314 h 320"/>
                  <a:gd name="T20" fmla="*/ 348 w 354"/>
                  <a:gd name="T21" fmla="*/ 315 h 320"/>
                  <a:gd name="T22" fmla="*/ 346 w 354"/>
                  <a:gd name="T23" fmla="*/ 317 h 320"/>
                  <a:gd name="T24" fmla="*/ 344 w 354"/>
                  <a:gd name="T25" fmla="*/ 318 h 320"/>
                  <a:gd name="T26" fmla="*/ 343 w 354"/>
                  <a:gd name="T27" fmla="*/ 318 h 320"/>
                  <a:gd name="T28" fmla="*/ 341 w 354"/>
                  <a:gd name="T29" fmla="*/ 319 h 320"/>
                  <a:gd name="T30" fmla="*/ 339 w 354"/>
                  <a:gd name="T31" fmla="*/ 319 h 320"/>
                  <a:gd name="T32" fmla="*/ 15 w 354"/>
                  <a:gd name="T33" fmla="*/ 319 h 320"/>
                  <a:gd name="T34" fmla="*/ 13 w 354"/>
                  <a:gd name="T35" fmla="*/ 319 h 320"/>
                  <a:gd name="T36" fmla="*/ 11 w 354"/>
                  <a:gd name="T37" fmla="*/ 318 h 320"/>
                  <a:gd name="T38" fmla="*/ 9 w 354"/>
                  <a:gd name="T39" fmla="*/ 318 h 320"/>
                  <a:gd name="T40" fmla="*/ 7 w 354"/>
                  <a:gd name="T41" fmla="*/ 317 h 320"/>
                  <a:gd name="T42" fmla="*/ 5 w 354"/>
                  <a:gd name="T43" fmla="*/ 315 h 320"/>
                  <a:gd name="T44" fmla="*/ 3 w 354"/>
                  <a:gd name="T45" fmla="*/ 313 h 320"/>
                  <a:gd name="T46" fmla="*/ 2 w 354"/>
                  <a:gd name="T47" fmla="*/ 311 h 320"/>
                  <a:gd name="T48" fmla="*/ 1 w 354"/>
                  <a:gd name="T49" fmla="*/ 309 h 320"/>
                  <a:gd name="T50" fmla="*/ 0 w 354"/>
                  <a:gd name="T51" fmla="*/ 306 h 320"/>
                  <a:gd name="T52" fmla="*/ 0 w 354"/>
                  <a:gd name="T53" fmla="*/ 303 h 320"/>
                  <a:gd name="T54" fmla="*/ 1 w 354"/>
                  <a:gd name="T55" fmla="*/ 300 h 320"/>
                  <a:gd name="T56" fmla="*/ 2 w 354"/>
                  <a:gd name="T57" fmla="*/ 298 h 320"/>
                  <a:gd name="T58" fmla="*/ 2 w 354"/>
                  <a:gd name="T59" fmla="*/ 296 h 320"/>
                  <a:gd name="T60" fmla="*/ 4 w 354"/>
                  <a:gd name="T61" fmla="*/ 292 h 320"/>
                  <a:gd name="T62" fmla="*/ 121 w 354"/>
                  <a:gd name="T63" fmla="*/ 0 h 320"/>
                  <a:gd name="T64" fmla="*/ 232 w 354"/>
                  <a:gd name="T65" fmla="*/ 0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4" h="320">
                    <a:moveTo>
                      <a:pt x="232" y="0"/>
                    </a:moveTo>
                    <a:lnTo>
                      <a:pt x="351" y="299"/>
                    </a:lnTo>
                    <a:lnTo>
                      <a:pt x="352" y="301"/>
                    </a:lnTo>
                    <a:lnTo>
                      <a:pt x="352" y="302"/>
                    </a:lnTo>
                    <a:lnTo>
                      <a:pt x="353" y="304"/>
                    </a:lnTo>
                    <a:lnTo>
                      <a:pt x="352" y="307"/>
                    </a:lnTo>
                    <a:lnTo>
                      <a:pt x="352" y="309"/>
                    </a:lnTo>
                    <a:lnTo>
                      <a:pt x="351" y="311"/>
                    </a:lnTo>
                    <a:lnTo>
                      <a:pt x="350" y="312"/>
                    </a:lnTo>
                    <a:lnTo>
                      <a:pt x="349" y="314"/>
                    </a:lnTo>
                    <a:lnTo>
                      <a:pt x="348" y="315"/>
                    </a:lnTo>
                    <a:lnTo>
                      <a:pt x="346" y="317"/>
                    </a:lnTo>
                    <a:lnTo>
                      <a:pt x="344" y="318"/>
                    </a:lnTo>
                    <a:lnTo>
                      <a:pt x="343" y="318"/>
                    </a:lnTo>
                    <a:lnTo>
                      <a:pt x="341" y="319"/>
                    </a:lnTo>
                    <a:lnTo>
                      <a:pt x="339" y="319"/>
                    </a:lnTo>
                    <a:lnTo>
                      <a:pt x="15" y="319"/>
                    </a:lnTo>
                    <a:lnTo>
                      <a:pt x="13" y="319"/>
                    </a:lnTo>
                    <a:lnTo>
                      <a:pt x="11" y="318"/>
                    </a:lnTo>
                    <a:lnTo>
                      <a:pt x="9" y="318"/>
                    </a:lnTo>
                    <a:lnTo>
                      <a:pt x="7" y="317"/>
                    </a:lnTo>
                    <a:lnTo>
                      <a:pt x="5" y="315"/>
                    </a:lnTo>
                    <a:lnTo>
                      <a:pt x="3" y="313"/>
                    </a:lnTo>
                    <a:lnTo>
                      <a:pt x="2" y="311"/>
                    </a:lnTo>
                    <a:lnTo>
                      <a:pt x="1" y="309"/>
                    </a:lnTo>
                    <a:lnTo>
                      <a:pt x="0" y="306"/>
                    </a:lnTo>
                    <a:lnTo>
                      <a:pt x="0" y="303"/>
                    </a:lnTo>
                    <a:lnTo>
                      <a:pt x="1" y="300"/>
                    </a:lnTo>
                    <a:lnTo>
                      <a:pt x="2" y="298"/>
                    </a:lnTo>
                    <a:lnTo>
                      <a:pt x="2" y="296"/>
                    </a:lnTo>
                    <a:lnTo>
                      <a:pt x="4" y="292"/>
                    </a:lnTo>
                    <a:lnTo>
                      <a:pt x="121" y="0"/>
                    </a:lnTo>
                    <a:lnTo>
                      <a:pt x="232" y="0"/>
                    </a:lnTo>
                  </a:path>
                </a:pathLst>
              </a:custGeom>
              <a:solidFill>
                <a:srgbClr val="00DFFF"/>
              </a:solidFill>
              <a:ln w="12700" cap="rnd" cmpd="sng">
                <a:solidFill>
                  <a:srgbClr val="009FBF"/>
                </a:solidFill>
                <a:prstDash val="solid"/>
                <a:round/>
                <a:headEnd type="none" w="med" len="med"/>
                <a:tailEnd type="none" w="med" len="med"/>
              </a:ln>
              <a:effectLst>
                <a:outerShdw dist="35921" dir="2700000" algn="ctr" rotWithShape="0">
                  <a:schemeClr val="bg2"/>
                </a:outerShdw>
              </a:effectLst>
            </p:spPr>
            <p:txBody>
              <a:bodyPr/>
              <a:lstStyle/>
              <a:p>
                <a:endParaRPr lang="en-ZA"/>
              </a:p>
            </p:txBody>
          </p:sp>
        </p:grpSp>
        <p:grpSp>
          <p:nvGrpSpPr>
            <p:cNvPr id="64532" name="Group 20"/>
            <p:cNvGrpSpPr>
              <a:grpSpLocks/>
            </p:cNvGrpSpPr>
            <p:nvPr/>
          </p:nvGrpSpPr>
          <p:grpSpPr bwMode="auto">
            <a:xfrm>
              <a:off x="2937" y="3552"/>
              <a:ext cx="160" cy="539"/>
              <a:chOff x="2937" y="3552"/>
              <a:chExt cx="160" cy="539"/>
            </a:xfrm>
          </p:grpSpPr>
          <p:sp>
            <p:nvSpPr>
              <p:cNvPr id="64533" name="Freeform 21"/>
              <p:cNvSpPr>
                <a:spLocks/>
              </p:cNvSpPr>
              <p:nvPr/>
            </p:nvSpPr>
            <p:spPr bwMode="auto">
              <a:xfrm>
                <a:off x="2937" y="3552"/>
                <a:ext cx="160" cy="539"/>
              </a:xfrm>
              <a:custGeom>
                <a:avLst/>
                <a:gdLst>
                  <a:gd name="T0" fmla="*/ 0 w 160"/>
                  <a:gd name="T1" fmla="*/ 0 h 539"/>
                  <a:gd name="T2" fmla="*/ 159 w 160"/>
                  <a:gd name="T3" fmla="*/ 0 h 539"/>
                  <a:gd name="T4" fmla="*/ 159 w 160"/>
                  <a:gd name="T5" fmla="*/ 17 h 539"/>
                  <a:gd name="T6" fmla="*/ 143 w 160"/>
                  <a:gd name="T7" fmla="*/ 17 h 539"/>
                  <a:gd name="T8" fmla="*/ 143 w 160"/>
                  <a:gd name="T9" fmla="*/ 94 h 539"/>
                  <a:gd name="T10" fmla="*/ 143 w 160"/>
                  <a:gd name="T11" fmla="*/ 470 h 539"/>
                  <a:gd name="T12" fmla="*/ 143 w 160"/>
                  <a:gd name="T13" fmla="*/ 480 h 539"/>
                  <a:gd name="T14" fmla="*/ 142 w 160"/>
                  <a:gd name="T15" fmla="*/ 487 h 539"/>
                  <a:gd name="T16" fmla="*/ 141 w 160"/>
                  <a:gd name="T17" fmla="*/ 491 h 539"/>
                  <a:gd name="T18" fmla="*/ 139 w 160"/>
                  <a:gd name="T19" fmla="*/ 496 h 539"/>
                  <a:gd name="T20" fmla="*/ 137 w 160"/>
                  <a:gd name="T21" fmla="*/ 501 h 539"/>
                  <a:gd name="T22" fmla="*/ 134 w 160"/>
                  <a:gd name="T23" fmla="*/ 507 h 539"/>
                  <a:gd name="T24" fmla="*/ 130 w 160"/>
                  <a:gd name="T25" fmla="*/ 512 h 539"/>
                  <a:gd name="T26" fmla="*/ 127 w 160"/>
                  <a:gd name="T27" fmla="*/ 517 h 539"/>
                  <a:gd name="T28" fmla="*/ 122 w 160"/>
                  <a:gd name="T29" fmla="*/ 521 h 539"/>
                  <a:gd name="T30" fmla="*/ 119 w 160"/>
                  <a:gd name="T31" fmla="*/ 525 h 539"/>
                  <a:gd name="T32" fmla="*/ 115 w 160"/>
                  <a:gd name="T33" fmla="*/ 527 h 539"/>
                  <a:gd name="T34" fmla="*/ 112 w 160"/>
                  <a:gd name="T35" fmla="*/ 530 h 539"/>
                  <a:gd name="T36" fmla="*/ 107 w 160"/>
                  <a:gd name="T37" fmla="*/ 532 h 539"/>
                  <a:gd name="T38" fmla="*/ 102 w 160"/>
                  <a:gd name="T39" fmla="*/ 534 h 539"/>
                  <a:gd name="T40" fmla="*/ 97 w 160"/>
                  <a:gd name="T41" fmla="*/ 536 h 539"/>
                  <a:gd name="T42" fmla="*/ 93 w 160"/>
                  <a:gd name="T43" fmla="*/ 537 h 539"/>
                  <a:gd name="T44" fmla="*/ 89 w 160"/>
                  <a:gd name="T45" fmla="*/ 538 h 539"/>
                  <a:gd name="T46" fmla="*/ 84 w 160"/>
                  <a:gd name="T47" fmla="*/ 538 h 539"/>
                  <a:gd name="T48" fmla="*/ 80 w 160"/>
                  <a:gd name="T49" fmla="*/ 538 h 539"/>
                  <a:gd name="T50" fmla="*/ 75 w 160"/>
                  <a:gd name="T51" fmla="*/ 538 h 539"/>
                  <a:gd name="T52" fmla="*/ 70 w 160"/>
                  <a:gd name="T53" fmla="*/ 537 h 539"/>
                  <a:gd name="T54" fmla="*/ 65 w 160"/>
                  <a:gd name="T55" fmla="*/ 536 h 539"/>
                  <a:gd name="T56" fmla="*/ 61 w 160"/>
                  <a:gd name="T57" fmla="*/ 535 h 539"/>
                  <a:gd name="T58" fmla="*/ 57 w 160"/>
                  <a:gd name="T59" fmla="*/ 533 h 539"/>
                  <a:gd name="T60" fmla="*/ 52 w 160"/>
                  <a:gd name="T61" fmla="*/ 531 h 539"/>
                  <a:gd name="T62" fmla="*/ 47 w 160"/>
                  <a:gd name="T63" fmla="*/ 528 h 539"/>
                  <a:gd name="T64" fmla="*/ 43 w 160"/>
                  <a:gd name="T65" fmla="*/ 526 h 539"/>
                  <a:gd name="T66" fmla="*/ 40 w 160"/>
                  <a:gd name="T67" fmla="*/ 523 h 539"/>
                  <a:gd name="T68" fmla="*/ 37 w 160"/>
                  <a:gd name="T69" fmla="*/ 520 h 539"/>
                  <a:gd name="T70" fmla="*/ 33 w 160"/>
                  <a:gd name="T71" fmla="*/ 517 h 539"/>
                  <a:gd name="T72" fmla="*/ 29 w 160"/>
                  <a:gd name="T73" fmla="*/ 513 h 539"/>
                  <a:gd name="T74" fmla="*/ 26 w 160"/>
                  <a:gd name="T75" fmla="*/ 509 h 539"/>
                  <a:gd name="T76" fmla="*/ 24 w 160"/>
                  <a:gd name="T77" fmla="*/ 505 h 539"/>
                  <a:gd name="T78" fmla="*/ 21 w 160"/>
                  <a:gd name="T79" fmla="*/ 500 h 539"/>
                  <a:gd name="T80" fmla="*/ 19 w 160"/>
                  <a:gd name="T81" fmla="*/ 495 h 539"/>
                  <a:gd name="T82" fmla="*/ 18 w 160"/>
                  <a:gd name="T83" fmla="*/ 490 h 539"/>
                  <a:gd name="T84" fmla="*/ 17 w 160"/>
                  <a:gd name="T85" fmla="*/ 486 h 539"/>
                  <a:gd name="T86" fmla="*/ 16 w 160"/>
                  <a:gd name="T87" fmla="*/ 481 h 539"/>
                  <a:gd name="T88" fmla="*/ 16 w 160"/>
                  <a:gd name="T89" fmla="*/ 476 h 539"/>
                  <a:gd name="T90" fmla="*/ 16 w 160"/>
                  <a:gd name="T91" fmla="*/ 470 h 539"/>
                  <a:gd name="T92" fmla="*/ 16 w 160"/>
                  <a:gd name="T93" fmla="*/ 94 h 539"/>
                  <a:gd name="T94" fmla="*/ 16 w 160"/>
                  <a:gd name="T95" fmla="*/ 17 h 539"/>
                  <a:gd name="T96" fmla="*/ 0 w 160"/>
                  <a:gd name="T97" fmla="*/ 17 h 539"/>
                  <a:gd name="T98" fmla="*/ 0 w 160"/>
                  <a:gd name="T99"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0" h="539">
                    <a:moveTo>
                      <a:pt x="0" y="0"/>
                    </a:moveTo>
                    <a:lnTo>
                      <a:pt x="159" y="0"/>
                    </a:lnTo>
                    <a:lnTo>
                      <a:pt x="159" y="17"/>
                    </a:lnTo>
                    <a:lnTo>
                      <a:pt x="143" y="17"/>
                    </a:lnTo>
                    <a:lnTo>
                      <a:pt x="143" y="94"/>
                    </a:lnTo>
                    <a:lnTo>
                      <a:pt x="143" y="470"/>
                    </a:lnTo>
                    <a:lnTo>
                      <a:pt x="143" y="480"/>
                    </a:lnTo>
                    <a:lnTo>
                      <a:pt x="142" y="487"/>
                    </a:lnTo>
                    <a:lnTo>
                      <a:pt x="141" y="491"/>
                    </a:lnTo>
                    <a:lnTo>
                      <a:pt x="139" y="496"/>
                    </a:lnTo>
                    <a:lnTo>
                      <a:pt x="137" y="501"/>
                    </a:lnTo>
                    <a:lnTo>
                      <a:pt x="134" y="507"/>
                    </a:lnTo>
                    <a:lnTo>
                      <a:pt x="130" y="512"/>
                    </a:lnTo>
                    <a:lnTo>
                      <a:pt x="127" y="517"/>
                    </a:lnTo>
                    <a:lnTo>
                      <a:pt x="122" y="521"/>
                    </a:lnTo>
                    <a:lnTo>
                      <a:pt x="119" y="525"/>
                    </a:lnTo>
                    <a:lnTo>
                      <a:pt x="115" y="527"/>
                    </a:lnTo>
                    <a:lnTo>
                      <a:pt x="112" y="530"/>
                    </a:lnTo>
                    <a:lnTo>
                      <a:pt x="107" y="532"/>
                    </a:lnTo>
                    <a:lnTo>
                      <a:pt x="102" y="534"/>
                    </a:lnTo>
                    <a:lnTo>
                      <a:pt x="97" y="536"/>
                    </a:lnTo>
                    <a:lnTo>
                      <a:pt x="93" y="537"/>
                    </a:lnTo>
                    <a:lnTo>
                      <a:pt x="89" y="538"/>
                    </a:lnTo>
                    <a:lnTo>
                      <a:pt x="84" y="538"/>
                    </a:lnTo>
                    <a:lnTo>
                      <a:pt x="80" y="538"/>
                    </a:lnTo>
                    <a:lnTo>
                      <a:pt x="75" y="538"/>
                    </a:lnTo>
                    <a:lnTo>
                      <a:pt x="70" y="537"/>
                    </a:lnTo>
                    <a:lnTo>
                      <a:pt x="65" y="536"/>
                    </a:lnTo>
                    <a:lnTo>
                      <a:pt x="61" y="535"/>
                    </a:lnTo>
                    <a:lnTo>
                      <a:pt x="57" y="533"/>
                    </a:lnTo>
                    <a:lnTo>
                      <a:pt x="52" y="531"/>
                    </a:lnTo>
                    <a:lnTo>
                      <a:pt x="47" y="528"/>
                    </a:lnTo>
                    <a:lnTo>
                      <a:pt x="43" y="526"/>
                    </a:lnTo>
                    <a:lnTo>
                      <a:pt x="40" y="523"/>
                    </a:lnTo>
                    <a:lnTo>
                      <a:pt x="37" y="520"/>
                    </a:lnTo>
                    <a:lnTo>
                      <a:pt x="33" y="517"/>
                    </a:lnTo>
                    <a:lnTo>
                      <a:pt x="29" y="513"/>
                    </a:lnTo>
                    <a:lnTo>
                      <a:pt x="26" y="509"/>
                    </a:lnTo>
                    <a:lnTo>
                      <a:pt x="24" y="505"/>
                    </a:lnTo>
                    <a:lnTo>
                      <a:pt x="21" y="500"/>
                    </a:lnTo>
                    <a:lnTo>
                      <a:pt x="19" y="495"/>
                    </a:lnTo>
                    <a:lnTo>
                      <a:pt x="18" y="490"/>
                    </a:lnTo>
                    <a:lnTo>
                      <a:pt x="17" y="486"/>
                    </a:lnTo>
                    <a:lnTo>
                      <a:pt x="16" y="481"/>
                    </a:lnTo>
                    <a:lnTo>
                      <a:pt x="16" y="476"/>
                    </a:lnTo>
                    <a:lnTo>
                      <a:pt x="16" y="470"/>
                    </a:lnTo>
                    <a:lnTo>
                      <a:pt x="16" y="94"/>
                    </a:lnTo>
                    <a:lnTo>
                      <a:pt x="16" y="17"/>
                    </a:lnTo>
                    <a:lnTo>
                      <a:pt x="0" y="17"/>
                    </a:lnTo>
                    <a:lnTo>
                      <a:pt x="0" y="0"/>
                    </a:lnTo>
                  </a:path>
                </a:pathLst>
              </a:custGeom>
              <a:noFill/>
              <a:ln w="12700" cap="rnd" cmpd="sng">
                <a:solidFill>
                  <a:srgbClr val="FF5F00"/>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ZA"/>
              </a:p>
            </p:txBody>
          </p:sp>
          <p:sp>
            <p:nvSpPr>
              <p:cNvPr id="64534" name="Freeform 22"/>
              <p:cNvSpPr>
                <a:spLocks/>
              </p:cNvSpPr>
              <p:nvPr/>
            </p:nvSpPr>
            <p:spPr bwMode="auto">
              <a:xfrm>
                <a:off x="2953" y="3646"/>
                <a:ext cx="128" cy="445"/>
              </a:xfrm>
              <a:custGeom>
                <a:avLst/>
                <a:gdLst>
                  <a:gd name="T0" fmla="*/ 127 w 128"/>
                  <a:gd name="T1" fmla="*/ 0 h 445"/>
                  <a:gd name="T2" fmla="*/ 127 w 128"/>
                  <a:gd name="T3" fmla="*/ 376 h 445"/>
                  <a:gd name="T4" fmla="*/ 127 w 128"/>
                  <a:gd name="T5" fmla="*/ 386 h 445"/>
                  <a:gd name="T6" fmla="*/ 126 w 128"/>
                  <a:gd name="T7" fmla="*/ 393 h 445"/>
                  <a:gd name="T8" fmla="*/ 125 w 128"/>
                  <a:gd name="T9" fmla="*/ 397 h 445"/>
                  <a:gd name="T10" fmla="*/ 123 w 128"/>
                  <a:gd name="T11" fmla="*/ 402 h 445"/>
                  <a:gd name="T12" fmla="*/ 121 w 128"/>
                  <a:gd name="T13" fmla="*/ 407 h 445"/>
                  <a:gd name="T14" fmla="*/ 118 w 128"/>
                  <a:gd name="T15" fmla="*/ 413 h 445"/>
                  <a:gd name="T16" fmla="*/ 114 w 128"/>
                  <a:gd name="T17" fmla="*/ 418 h 445"/>
                  <a:gd name="T18" fmla="*/ 111 w 128"/>
                  <a:gd name="T19" fmla="*/ 423 h 445"/>
                  <a:gd name="T20" fmla="*/ 106 w 128"/>
                  <a:gd name="T21" fmla="*/ 427 h 445"/>
                  <a:gd name="T22" fmla="*/ 103 w 128"/>
                  <a:gd name="T23" fmla="*/ 431 h 445"/>
                  <a:gd name="T24" fmla="*/ 99 w 128"/>
                  <a:gd name="T25" fmla="*/ 433 h 445"/>
                  <a:gd name="T26" fmla="*/ 96 w 128"/>
                  <a:gd name="T27" fmla="*/ 436 h 445"/>
                  <a:gd name="T28" fmla="*/ 91 w 128"/>
                  <a:gd name="T29" fmla="*/ 438 h 445"/>
                  <a:gd name="T30" fmla="*/ 86 w 128"/>
                  <a:gd name="T31" fmla="*/ 440 h 445"/>
                  <a:gd name="T32" fmla="*/ 81 w 128"/>
                  <a:gd name="T33" fmla="*/ 442 h 445"/>
                  <a:gd name="T34" fmla="*/ 77 w 128"/>
                  <a:gd name="T35" fmla="*/ 443 h 445"/>
                  <a:gd name="T36" fmla="*/ 73 w 128"/>
                  <a:gd name="T37" fmla="*/ 444 h 445"/>
                  <a:gd name="T38" fmla="*/ 68 w 128"/>
                  <a:gd name="T39" fmla="*/ 444 h 445"/>
                  <a:gd name="T40" fmla="*/ 64 w 128"/>
                  <a:gd name="T41" fmla="*/ 444 h 445"/>
                  <a:gd name="T42" fmla="*/ 59 w 128"/>
                  <a:gd name="T43" fmla="*/ 444 h 445"/>
                  <a:gd name="T44" fmla="*/ 54 w 128"/>
                  <a:gd name="T45" fmla="*/ 443 h 445"/>
                  <a:gd name="T46" fmla="*/ 49 w 128"/>
                  <a:gd name="T47" fmla="*/ 442 h 445"/>
                  <a:gd name="T48" fmla="*/ 45 w 128"/>
                  <a:gd name="T49" fmla="*/ 441 h 445"/>
                  <a:gd name="T50" fmla="*/ 41 w 128"/>
                  <a:gd name="T51" fmla="*/ 439 h 445"/>
                  <a:gd name="T52" fmla="*/ 36 w 128"/>
                  <a:gd name="T53" fmla="*/ 437 h 445"/>
                  <a:gd name="T54" fmla="*/ 31 w 128"/>
                  <a:gd name="T55" fmla="*/ 434 h 445"/>
                  <a:gd name="T56" fmla="*/ 27 w 128"/>
                  <a:gd name="T57" fmla="*/ 432 h 445"/>
                  <a:gd name="T58" fmla="*/ 24 w 128"/>
                  <a:gd name="T59" fmla="*/ 429 h 445"/>
                  <a:gd name="T60" fmla="*/ 21 w 128"/>
                  <a:gd name="T61" fmla="*/ 426 h 445"/>
                  <a:gd name="T62" fmla="*/ 17 w 128"/>
                  <a:gd name="T63" fmla="*/ 423 h 445"/>
                  <a:gd name="T64" fmla="*/ 13 w 128"/>
                  <a:gd name="T65" fmla="*/ 419 h 445"/>
                  <a:gd name="T66" fmla="*/ 10 w 128"/>
                  <a:gd name="T67" fmla="*/ 415 h 445"/>
                  <a:gd name="T68" fmla="*/ 8 w 128"/>
                  <a:gd name="T69" fmla="*/ 411 h 445"/>
                  <a:gd name="T70" fmla="*/ 5 w 128"/>
                  <a:gd name="T71" fmla="*/ 406 h 445"/>
                  <a:gd name="T72" fmla="*/ 3 w 128"/>
                  <a:gd name="T73" fmla="*/ 401 h 445"/>
                  <a:gd name="T74" fmla="*/ 2 w 128"/>
                  <a:gd name="T75" fmla="*/ 396 h 445"/>
                  <a:gd name="T76" fmla="*/ 1 w 128"/>
                  <a:gd name="T77" fmla="*/ 392 h 445"/>
                  <a:gd name="T78" fmla="*/ 0 w 128"/>
                  <a:gd name="T79" fmla="*/ 387 h 445"/>
                  <a:gd name="T80" fmla="*/ 0 w 128"/>
                  <a:gd name="T81" fmla="*/ 382 h 445"/>
                  <a:gd name="T82" fmla="*/ 0 w 128"/>
                  <a:gd name="T83" fmla="*/ 376 h 445"/>
                  <a:gd name="T84" fmla="*/ 0 w 128"/>
                  <a:gd name="T85" fmla="*/ 0 h 445"/>
                  <a:gd name="T86" fmla="*/ 127 w 128"/>
                  <a:gd name="T87"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8" h="445">
                    <a:moveTo>
                      <a:pt x="127" y="0"/>
                    </a:moveTo>
                    <a:lnTo>
                      <a:pt x="127" y="376"/>
                    </a:lnTo>
                    <a:lnTo>
                      <a:pt x="127" y="386"/>
                    </a:lnTo>
                    <a:lnTo>
                      <a:pt x="126" y="393"/>
                    </a:lnTo>
                    <a:lnTo>
                      <a:pt x="125" y="397"/>
                    </a:lnTo>
                    <a:lnTo>
                      <a:pt x="123" y="402"/>
                    </a:lnTo>
                    <a:lnTo>
                      <a:pt x="121" y="407"/>
                    </a:lnTo>
                    <a:lnTo>
                      <a:pt x="118" y="413"/>
                    </a:lnTo>
                    <a:lnTo>
                      <a:pt x="114" y="418"/>
                    </a:lnTo>
                    <a:lnTo>
                      <a:pt x="111" y="423"/>
                    </a:lnTo>
                    <a:lnTo>
                      <a:pt x="106" y="427"/>
                    </a:lnTo>
                    <a:lnTo>
                      <a:pt x="103" y="431"/>
                    </a:lnTo>
                    <a:lnTo>
                      <a:pt x="99" y="433"/>
                    </a:lnTo>
                    <a:lnTo>
                      <a:pt x="96" y="436"/>
                    </a:lnTo>
                    <a:lnTo>
                      <a:pt x="91" y="438"/>
                    </a:lnTo>
                    <a:lnTo>
                      <a:pt x="86" y="440"/>
                    </a:lnTo>
                    <a:lnTo>
                      <a:pt x="81" y="442"/>
                    </a:lnTo>
                    <a:lnTo>
                      <a:pt x="77" y="443"/>
                    </a:lnTo>
                    <a:lnTo>
                      <a:pt x="73" y="444"/>
                    </a:lnTo>
                    <a:lnTo>
                      <a:pt x="68" y="444"/>
                    </a:lnTo>
                    <a:lnTo>
                      <a:pt x="64" y="444"/>
                    </a:lnTo>
                    <a:lnTo>
                      <a:pt x="59" y="444"/>
                    </a:lnTo>
                    <a:lnTo>
                      <a:pt x="54" y="443"/>
                    </a:lnTo>
                    <a:lnTo>
                      <a:pt x="49" y="442"/>
                    </a:lnTo>
                    <a:lnTo>
                      <a:pt x="45" y="441"/>
                    </a:lnTo>
                    <a:lnTo>
                      <a:pt x="41" y="439"/>
                    </a:lnTo>
                    <a:lnTo>
                      <a:pt x="36" y="437"/>
                    </a:lnTo>
                    <a:lnTo>
                      <a:pt x="31" y="434"/>
                    </a:lnTo>
                    <a:lnTo>
                      <a:pt x="27" y="432"/>
                    </a:lnTo>
                    <a:lnTo>
                      <a:pt x="24" y="429"/>
                    </a:lnTo>
                    <a:lnTo>
                      <a:pt x="21" y="426"/>
                    </a:lnTo>
                    <a:lnTo>
                      <a:pt x="17" y="423"/>
                    </a:lnTo>
                    <a:lnTo>
                      <a:pt x="13" y="419"/>
                    </a:lnTo>
                    <a:lnTo>
                      <a:pt x="10" y="415"/>
                    </a:lnTo>
                    <a:lnTo>
                      <a:pt x="8" y="411"/>
                    </a:lnTo>
                    <a:lnTo>
                      <a:pt x="5" y="406"/>
                    </a:lnTo>
                    <a:lnTo>
                      <a:pt x="3" y="401"/>
                    </a:lnTo>
                    <a:lnTo>
                      <a:pt x="2" y="396"/>
                    </a:lnTo>
                    <a:lnTo>
                      <a:pt x="1" y="392"/>
                    </a:lnTo>
                    <a:lnTo>
                      <a:pt x="0" y="387"/>
                    </a:lnTo>
                    <a:lnTo>
                      <a:pt x="0" y="382"/>
                    </a:lnTo>
                    <a:lnTo>
                      <a:pt x="0" y="376"/>
                    </a:lnTo>
                    <a:lnTo>
                      <a:pt x="0" y="0"/>
                    </a:lnTo>
                    <a:lnTo>
                      <a:pt x="127" y="0"/>
                    </a:lnTo>
                  </a:path>
                </a:pathLst>
              </a:custGeom>
              <a:solidFill>
                <a:srgbClr val="FF9F7F"/>
              </a:solidFill>
              <a:ln w="12700" cap="rnd" cmpd="sng">
                <a:solidFill>
                  <a:srgbClr val="FF5F00"/>
                </a:solidFill>
                <a:prstDash val="solid"/>
                <a:round/>
                <a:headEnd type="none" w="med" len="med"/>
                <a:tailEnd type="none" w="med" len="med"/>
              </a:ln>
              <a:effectLst>
                <a:outerShdw dist="35921" dir="2700000" algn="ctr" rotWithShape="0">
                  <a:schemeClr val="bg2"/>
                </a:outerShdw>
              </a:effectLst>
            </p:spPr>
            <p:txBody>
              <a:bodyPr/>
              <a:lstStyle/>
              <a:p>
                <a:endParaRPr lang="en-ZA"/>
              </a:p>
            </p:txBody>
          </p:sp>
        </p:grpSp>
        <p:grpSp>
          <p:nvGrpSpPr>
            <p:cNvPr id="64535" name="Group 23"/>
            <p:cNvGrpSpPr>
              <a:grpSpLocks/>
            </p:cNvGrpSpPr>
            <p:nvPr/>
          </p:nvGrpSpPr>
          <p:grpSpPr bwMode="auto">
            <a:xfrm>
              <a:off x="2842" y="3591"/>
              <a:ext cx="160" cy="539"/>
              <a:chOff x="2842" y="3591"/>
              <a:chExt cx="160" cy="539"/>
            </a:xfrm>
          </p:grpSpPr>
          <p:sp>
            <p:nvSpPr>
              <p:cNvPr id="64536" name="Freeform 24"/>
              <p:cNvSpPr>
                <a:spLocks/>
              </p:cNvSpPr>
              <p:nvPr/>
            </p:nvSpPr>
            <p:spPr bwMode="auto">
              <a:xfrm>
                <a:off x="2842" y="3591"/>
                <a:ext cx="160" cy="539"/>
              </a:xfrm>
              <a:custGeom>
                <a:avLst/>
                <a:gdLst>
                  <a:gd name="T0" fmla="*/ 0 w 160"/>
                  <a:gd name="T1" fmla="*/ 0 h 539"/>
                  <a:gd name="T2" fmla="*/ 159 w 160"/>
                  <a:gd name="T3" fmla="*/ 0 h 539"/>
                  <a:gd name="T4" fmla="*/ 159 w 160"/>
                  <a:gd name="T5" fmla="*/ 17 h 539"/>
                  <a:gd name="T6" fmla="*/ 143 w 160"/>
                  <a:gd name="T7" fmla="*/ 17 h 539"/>
                  <a:gd name="T8" fmla="*/ 143 w 160"/>
                  <a:gd name="T9" fmla="*/ 94 h 539"/>
                  <a:gd name="T10" fmla="*/ 143 w 160"/>
                  <a:gd name="T11" fmla="*/ 470 h 539"/>
                  <a:gd name="T12" fmla="*/ 143 w 160"/>
                  <a:gd name="T13" fmla="*/ 480 h 539"/>
                  <a:gd name="T14" fmla="*/ 142 w 160"/>
                  <a:gd name="T15" fmla="*/ 486 h 539"/>
                  <a:gd name="T16" fmla="*/ 141 w 160"/>
                  <a:gd name="T17" fmla="*/ 491 h 539"/>
                  <a:gd name="T18" fmla="*/ 139 w 160"/>
                  <a:gd name="T19" fmla="*/ 495 h 539"/>
                  <a:gd name="T20" fmla="*/ 137 w 160"/>
                  <a:gd name="T21" fmla="*/ 500 h 539"/>
                  <a:gd name="T22" fmla="*/ 133 w 160"/>
                  <a:gd name="T23" fmla="*/ 506 h 539"/>
                  <a:gd name="T24" fmla="*/ 130 w 160"/>
                  <a:gd name="T25" fmla="*/ 511 h 539"/>
                  <a:gd name="T26" fmla="*/ 126 w 160"/>
                  <a:gd name="T27" fmla="*/ 516 h 539"/>
                  <a:gd name="T28" fmla="*/ 122 w 160"/>
                  <a:gd name="T29" fmla="*/ 521 h 539"/>
                  <a:gd name="T30" fmla="*/ 118 w 160"/>
                  <a:gd name="T31" fmla="*/ 524 h 539"/>
                  <a:gd name="T32" fmla="*/ 115 w 160"/>
                  <a:gd name="T33" fmla="*/ 527 h 539"/>
                  <a:gd name="T34" fmla="*/ 111 w 160"/>
                  <a:gd name="T35" fmla="*/ 529 h 539"/>
                  <a:gd name="T36" fmla="*/ 107 w 160"/>
                  <a:gd name="T37" fmla="*/ 532 h 539"/>
                  <a:gd name="T38" fmla="*/ 102 w 160"/>
                  <a:gd name="T39" fmla="*/ 534 h 539"/>
                  <a:gd name="T40" fmla="*/ 97 w 160"/>
                  <a:gd name="T41" fmla="*/ 535 h 539"/>
                  <a:gd name="T42" fmla="*/ 92 w 160"/>
                  <a:gd name="T43" fmla="*/ 537 h 539"/>
                  <a:gd name="T44" fmla="*/ 88 w 160"/>
                  <a:gd name="T45" fmla="*/ 537 h 539"/>
                  <a:gd name="T46" fmla="*/ 84 w 160"/>
                  <a:gd name="T47" fmla="*/ 538 h 539"/>
                  <a:gd name="T48" fmla="*/ 79 w 160"/>
                  <a:gd name="T49" fmla="*/ 538 h 539"/>
                  <a:gd name="T50" fmla="*/ 75 w 160"/>
                  <a:gd name="T51" fmla="*/ 538 h 539"/>
                  <a:gd name="T52" fmla="*/ 69 w 160"/>
                  <a:gd name="T53" fmla="*/ 537 h 539"/>
                  <a:gd name="T54" fmla="*/ 65 w 160"/>
                  <a:gd name="T55" fmla="*/ 536 h 539"/>
                  <a:gd name="T56" fmla="*/ 61 w 160"/>
                  <a:gd name="T57" fmla="*/ 534 h 539"/>
                  <a:gd name="T58" fmla="*/ 56 w 160"/>
                  <a:gd name="T59" fmla="*/ 533 h 539"/>
                  <a:gd name="T60" fmla="*/ 52 w 160"/>
                  <a:gd name="T61" fmla="*/ 530 h 539"/>
                  <a:gd name="T62" fmla="*/ 47 w 160"/>
                  <a:gd name="T63" fmla="*/ 527 h 539"/>
                  <a:gd name="T64" fmla="*/ 43 w 160"/>
                  <a:gd name="T65" fmla="*/ 525 h 539"/>
                  <a:gd name="T66" fmla="*/ 40 w 160"/>
                  <a:gd name="T67" fmla="*/ 522 h 539"/>
                  <a:gd name="T68" fmla="*/ 36 w 160"/>
                  <a:gd name="T69" fmla="*/ 520 h 539"/>
                  <a:gd name="T70" fmla="*/ 33 w 160"/>
                  <a:gd name="T71" fmla="*/ 516 h 539"/>
                  <a:gd name="T72" fmla="*/ 29 w 160"/>
                  <a:gd name="T73" fmla="*/ 512 h 539"/>
                  <a:gd name="T74" fmla="*/ 26 w 160"/>
                  <a:gd name="T75" fmla="*/ 508 h 539"/>
                  <a:gd name="T76" fmla="*/ 24 w 160"/>
                  <a:gd name="T77" fmla="*/ 504 h 539"/>
                  <a:gd name="T78" fmla="*/ 21 w 160"/>
                  <a:gd name="T79" fmla="*/ 499 h 539"/>
                  <a:gd name="T80" fmla="*/ 19 w 160"/>
                  <a:gd name="T81" fmla="*/ 495 h 539"/>
                  <a:gd name="T82" fmla="*/ 18 w 160"/>
                  <a:gd name="T83" fmla="*/ 490 h 539"/>
                  <a:gd name="T84" fmla="*/ 17 w 160"/>
                  <a:gd name="T85" fmla="*/ 486 h 539"/>
                  <a:gd name="T86" fmla="*/ 16 w 160"/>
                  <a:gd name="T87" fmla="*/ 481 h 539"/>
                  <a:gd name="T88" fmla="*/ 16 w 160"/>
                  <a:gd name="T89" fmla="*/ 475 h 539"/>
                  <a:gd name="T90" fmla="*/ 16 w 160"/>
                  <a:gd name="T91" fmla="*/ 470 h 539"/>
                  <a:gd name="T92" fmla="*/ 16 w 160"/>
                  <a:gd name="T93" fmla="*/ 94 h 539"/>
                  <a:gd name="T94" fmla="*/ 16 w 160"/>
                  <a:gd name="T95" fmla="*/ 17 h 539"/>
                  <a:gd name="T96" fmla="*/ 0 w 160"/>
                  <a:gd name="T97" fmla="*/ 17 h 539"/>
                  <a:gd name="T98" fmla="*/ 0 w 160"/>
                  <a:gd name="T99" fmla="*/ 0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0" h="539">
                    <a:moveTo>
                      <a:pt x="0" y="0"/>
                    </a:moveTo>
                    <a:lnTo>
                      <a:pt x="159" y="0"/>
                    </a:lnTo>
                    <a:lnTo>
                      <a:pt x="159" y="17"/>
                    </a:lnTo>
                    <a:lnTo>
                      <a:pt x="143" y="17"/>
                    </a:lnTo>
                    <a:lnTo>
                      <a:pt x="143" y="94"/>
                    </a:lnTo>
                    <a:lnTo>
                      <a:pt x="143" y="470"/>
                    </a:lnTo>
                    <a:lnTo>
                      <a:pt x="143" y="480"/>
                    </a:lnTo>
                    <a:lnTo>
                      <a:pt x="142" y="486"/>
                    </a:lnTo>
                    <a:lnTo>
                      <a:pt x="141" y="491"/>
                    </a:lnTo>
                    <a:lnTo>
                      <a:pt x="139" y="495"/>
                    </a:lnTo>
                    <a:lnTo>
                      <a:pt x="137" y="500"/>
                    </a:lnTo>
                    <a:lnTo>
                      <a:pt x="133" y="506"/>
                    </a:lnTo>
                    <a:lnTo>
                      <a:pt x="130" y="511"/>
                    </a:lnTo>
                    <a:lnTo>
                      <a:pt x="126" y="516"/>
                    </a:lnTo>
                    <a:lnTo>
                      <a:pt x="122" y="521"/>
                    </a:lnTo>
                    <a:lnTo>
                      <a:pt x="118" y="524"/>
                    </a:lnTo>
                    <a:lnTo>
                      <a:pt x="115" y="527"/>
                    </a:lnTo>
                    <a:lnTo>
                      <a:pt x="111" y="529"/>
                    </a:lnTo>
                    <a:lnTo>
                      <a:pt x="107" y="532"/>
                    </a:lnTo>
                    <a:lnTo>
                      <a:pt x="102" y="534"/>
                    </a:lnTo>
                    <a:lnTo>
                      <a:pt x="97" y="535"/>
                    </a:lnTo>
                    <a:lnTo>
                      <a:pt x="92" y="537"/>
                    </a:lnTo>
                    <a:lnTo>
                      <a:pt x="88" y="537"/>
                    </a:lnTo>
                    <a:lnTo>
                      <a:pt x="84" y="538"/>
                    </a:lnTo>
                    <a:lnTo>
                      <a:pt x="79" y="538"/>
                    </a:lnTo>
                    <a:lnTo>
                      <a:pt x="75" y="538"/>
                    </a:lnTo>
                    <a:lnTo>
                      <a:pt x="69" y="537"/>
                    </a:lnTo>
                    <a:lnTo>
                      <a:pt x="65" y="536"/>
                    </a:lnTo>
                    <a:lnTo>
                      <a:pt x="61" y="534"/>
                    </a:lnTo>
                    <a:lnTo>
                      <a:pt x="56" y="533"/>
                    </a:lnTo>
                    <a:lnTo>
                      <a:pt x="52" y="530"/>
                    </a:lnTo>
                    <a:lnTo>
                      <a:pt x="47" y="527"/>
                    </a:lnTo>
                    <a:lnTo>
                      <a:pt x="43" y="525"/>
                    </a:lnTo>
                    <a:lnTo>
                      <a:pt x="40" y="522"/>
                    </a:lnTo>
                    <a:lnTo>
                      <a:pt x="36" y="520"/>
                    </a:lnTo>
                    <a:lnTo>
                      <a:pt x="33" y="516"/>
                    </a:lnTo>
                    <a:lnTo>
                      <a:pt x="29" y="512"/>
                    </a:lnTo>
                    <a:lnTo>
                      <a:pt x="26" y="508"/>
                    </a:lnTo>
                    <a:lnTo>
                      <a:pt x="24" y="504"/>
                    </a:lnTo>
                    <a:lnTo>
                      <a:pt x="21" y="499"/>
                    </a:lnTo>
                    <a:lnTo>
                      <a:pt x="19" y="495"/>
                    </a:lnTo>
                    <a:lnTo>
                      <a:pt x="18" y="490"/>
                    </a:lnTo>
                    <a:lnTo>
                      <a:pt x="17" y="486"/>
                    </a:lnTo>
                    <a:lnTo>
                      <a:pt x="16" y="481"/>
                    </a:lnTo>
                    <a:lnTo>
                      <a:pt x="16" y="475"/>
                    </a:lnTo>
                    <a:lnTo>
                      <a:pt x="16" y="470"/>
                    </a:lnTo>
                    <a:lnTo>
                      <a:pt x="16" y="94"/>
                    </a:lnTo>
                    <a:lnTo>
                      <a:pt x="16" y="17"/>
                    </a:lnTo>
                    <a:lnTo>
                      <a:pt x="0" y="17"/>
                    </a:lnTo>
                    <a:lnTo>
                      <a:pt x="0" y="0"/>
                    </a:lnTo>
                  </a:path>
                </a:pathLst>
              </a:custGeom>
              <a:noFill/>
              <a:ln w="12700" cap="rnd" cmpd="sng">
                <a:solidFill>
                  <a:srgbClr val="9F3FDF"/>
                </a:solidFill>
                <a:prstDash val="solid"/>
                <a:round/>
                <a:headEnd type="none" w="med" len="med"/>
                <a:tailEnd type="none" w="med" len="me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a:lstStyle/>
              <a:p>
                <a:endParaRPr lang="en-ZA"/>
              </a:p>
            </p:txBody>
          </p:sp>
          <p:sp>
            <p:nvSpPr>
              <p:cNvPr id="64537" name="Freeform 25"/>
              <p:cNvSpPr>
                <a:spLocks/>
              </p:cNvSpPr>
              <p:nvPr/>
            </p:nvSpPr>
            <p:spPr bwMode="auto">
              <a:xfrm>
                <a:off x="2858" y="3685"/>
                <a:ext cx="128" cy="445"/>
              </a:xfrm>
              <a:custGeom>
                <a:avLst/>
                <a:gdLst>
                  <a:gd name="T0" fmla="*/ 127 w 128"/>
                  <a:gd name="T1" fmla="*/ 0 h 445"/>
                  <a:gd name="T2" fmla="*/ 127 w 128"/>
                  <a:gd name="T3" fmla="*/ 376 h 445"/>
                  <a:gd name="T4" fmla="*/ 127 w 128"/>
                  <a:gd name="T5" fmla="*/ 386 h 445"/>
                  <a:gd name="T6" fmla="*/ 126 w 128"/>
                  <a:gd name="T7" fmla="*/ 392 h 445"/>
                  <a:gd name="T8" fmla="*/ 125 w 128"/>
                  <a:gd name="T9" fmla="*/ 397 h 445"/>
                  <a:gd name="T10" fmla="*/ 123 w 128"/>
                  <a:gd name="T11" fmla="*/ 401 h 445"/>
                  <a:gd name="T12" fmla="*/ 121 w 128"/>
                  <a:gd name="T13" fmla="*/ 406 h 445"/>
                  <a:gd name="T14" fmla="*/ 117 w 128"/>
                  <a:gd name="T15" fmla="*/ 412 h 445"/>
                  <a:gd name="T16" fmla="*/ 114 w 128"/>
                  <a:gd name="T17" fmla="*/ 417 h 445"/>
                  <a:gd name="T18" fmla="*/ 110 w 128"/>
                  <a:gd name="T19" fmla="*/ 422 h 445"/>
                  <a:gd name="T20" fmla="*/ 106 w 128"/>
                  <a:gd name="T21" fmla="*/ 427 h 445"/>
                  <a:gd name="T22" fmla="*/ 102 w 128"/>
                  <a:gd name="T23" fmla="*/ 430 h 445"/>
                  <a:gd name="T24" fmla="*/ 99 w 128"/>
                  <a:gd name="T25" fmla="*/ 433 h 445"/>
                  <a:gd name="T26" fmla="*/ 95 w 128"/>
                  <a:gd name="T27" fmla="*/ 435 h 445"/>
                  <a:gd name="T28" fmla="*/ 91 w 128"/>
                  <a:gd name="T29" fmla="*/ 438 h 445"/>
                  <a:gd name="T30" fmla="*/ 86 w 128"/>
                  <a:gd name="T31" fmla="*/ 440 h 445"/>
                  <a:gd name="T32" fmla="*/ 81 w 128"/>
                  <a:gd name="T33" fmla="*/ 441 h 445"/>
                  <a:gd name="T34" fmla="*/ 76 w 128"/>
                  <a:gd name="T35" fmla="*/ 443 h 445"/>
                  <a:gd name="T36" fmla="*/ 72 w 128"/>
                  <a:gd name="T37" fmla="*/ 443 h 445"/>
                  <a:gd name="T38" fmla="*/ 68 w 128"/>
                  <a:gd name="T39" fmla="*/ 444 h 445"/>
                  <a:gd name="T40" fmla="*/ 63 w 128"/>
                  <a:gd name="T41" fmla="*/ 444 h 445"/>
                  <a:gd name="T42" fmla="*/ 59 w 128"/>
                  <a:gd name="T43" fmla="*/ 444 h 445"/>
                  <a:gd name="T44" fmla="*/ 53 w 128"/>
                  <a:gd name="T45" fmla="*/ 443 h 445"/>
                  <a:gd name="T46" fmla="*/ 49 w 128"/>
                  <a:gd name="T47" fmla="*/ 442 h 445"/>
                  <a:gd name="T48" fmla="*/ 45 w 128"/>
                  <a:gd name="T49" fmla="*/ 440 h 445"/>
                  <a:gd name="T50" fmla="*/ 40 w 128"/>
                  <a:gd name="T51" fmla="*/ 439 h 445"/>
                  <a:gd name="T52" fmla="*/ 36 w 128"/>
                  <a:gd name="T53" fmla="*/ 436 h 445"/>
                  <a:gd name="T54" fmla="*/ 31 w 128"/>
                  <a:gd name="T55" fmla="*/ 433 h 445"/>
                  <a:gd name="T56" fmla="*/ 27 w 128"/>
                  <a:gd name="T57" fmla="*/ 431 h 445"/>
                  <a:gd name="T58" fmla="*/ 24 w 128"/>
                  <a:gd name="T59" fmla="*/ 428 h 445"/>
                  <a:gd name="T60" fmla="*/ 20 w 128"/>
                  <a:gd name="T61" fmla="*/ 426 h 445"/>
                  <a:gd name="T62" fmla="*/ 17 w 128"/>
                  <a:gd name="T63" fmla="*/ 422 h 445"/>
                  <a:gd name="T64" fmla="*/ 13 w 128"/>
                  <a:gd name="T65" fmla="*/ 418 h 445"/>
                  <a:gd name="T66" fmla="*/ 10 w 128"/>
                  <a:gd name="T67" fmla="*/ 414 h 445"/>
                  <a:gd name="T68" fmla="*/ 8 w 128"/>
                  <a:gd name="T69" fmla="*/ 410 h 445"/>
                  <a:gd name="T70" fmla="*/ 5 w 128"/>
                  <a:gd name="T71" fmla="*/ 405 h 445"/>
                  <a:gd name="T72" fmla="*/ 3 w 128"/>
                  <a:gd name="T73" fmla="*/ 401 h 445"/>
                  <a:gd name="T74" fmla="*/ 2 w 128"/>
                  <a:gd name="T75" fmla="*/ 396 h 445"/>
                  <a:gd name="T76" fmla="*/ 1 w 128"/>
                  <a:gd name="T77" fmla="*/ 392 h 445"/>
                  <a:gd name="T78" fmla="*/ 0 w 128"/>
                  <a:gd name="T79" fmla="*/ 387 h 445"/>
                  <a:gd name="T80" fmla="*/ 0 w 128"/>
                  <a:gd name="T81" fmla="*/ 381 h 445"/>
                  <a:gd name="T82" fmla="*/ 0 w 128"/>
                  <a:gd name="T83" fmla="*/ 376 h 445"/>
                  <a:gd name="T84" fmla="*/ 0 w 128"/>
                  <a:gd name="T85" fmla="*/ 0 h 445"/>
                  <a:gd name="T86" fmla="*/ 127 w 128"/>
                  <a:gd name="T87" fmla="*/ 0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8" h="445">
                    <a:moveTo>
                      <a:pt x="127" y="0"/>
                    </a:moveTo>
                    <a:lnTo>
                      <a:pt x="127" y="376"/>
                    </a:lnTo>
                    <a:lnTo>
                      <a:pt x="127" y="386"/>
                    </a:lnTo>
                    <a:lnTo>
                      <a:pt x="126" y="392"/>
                    </a:lnTo>
                    <a:lnTo>
                      <a:pt x="125" y="397"/>
                    </a:lnTo>
                    <a:lnTo>
                      <a:pt x="123" y="401"/>
                    </a:lnTo>
                    <a:lnTo>
                      <a:pt x="121" y="406"/>
                    </a:lnTo>
                    <a:lnTo>
                      <a:pt x="117" y="412"/>
                    </a:lnTo>
                    <a:lnTo>
                      <a:pt x="114" y="417"/>
                    </a:lnTo>
                    <a:lnTo>
                      <a:pt x="110" y="422"/>
                    </a:lnTo>
                    <a:lnTo>
                      <a:pt x="106" y="427"/>
                    </a:lnTo>
                    <a:lnTo>
                      <a:pt x="102" y="430"/>
                    </a:lnTo>
                    <a:lnTo>
                      <a:pt x="99" y="433"/>
                    </a:lnTo>
                    <a:lnTo>
                      <a:pt x="95" y="435"/>
                    </a:lnTo>
                    <a:lnTo>
                      <a:pt x="91" y="438"/>
                    </a:lnTo>
                    <a:lnTo>
                      <a:pt x="86" y="440"/>
                    </a:lnTo>
                    <a:lnTo>
                      <a:pt x="81" y="441"/>
                    </a:lnTo>
                    <a:lnTo>
                      <a:pt x="76" y="443"/>
                    </a:lnTo>
                    <a:lnTo>
                      <a:pt x="72" y="443"/>
                    </a:lnTo>
                    <a:lnTo>
                      <a:pt x="68" y="444"/>
                    </a:lnTo>
                    <a:lnTo>
                      <a:pt x="63" y="444"/>
                    </a:lnTo>
                    <a:lnTo>
                      <a:pt x="59" y="444"/>
                    </a:lnTo>
                    <a:lnTo>
                      <a:pt x="53" y="443"/>
                    </a:lnTo>
                    <a:lnTo>
                      <a:pt x="49" y="442"/>
                    </a:lnTo>
                    <a:lnTo>
                      <a:pt x="45" y="440"/>
                    </a:lnTo>
                    <a:lnTo>
                      <a:pt x="40" y="439"/>
                    </a:lnTo>
                    <a:lnTo>
                      <a:pt x="36" y="436"/>
                    </a:lnTo>
                    <a:lnTo>
                      <a:pt x="31" y="433"/>
                    </a:lnTo>
                    <a:lnTo>
                      <a:pt x="27" y="431"/>
                    </a:lnTo>
                    <a:lnTo>
                      <a:pt x="24" y="428"/>
                    </a:lnTo>
                    <a:lnTo>
                      <a:pt x="20" y="426"/>
                    </a:lnTo>
                    <a:lnTo>
                      <a:pt x="17" y="422"/>
                    </a:lnTo>
                    <a:lnTo>
                      <a:pt x="13" y="418"/>
                    </a:lnTo>
                    <a:lnTo>
                      <a:pt x="10" y="414"/>
                    </a:lnTo>
                    <a:lnTo>
                      <a:pt x="8" y="410"/>
                    </a:lnTo>
                    <a:lnTo>
                      <a:pt x="5" y="405"/>
                    </a:lnTo>
                    <a:lnTo>
                      <a:pt x="3" y="401"/>
                    </a:lnTo>
                    <a:lnTo>
                      <a:pt x="2" y="396"/>
                    </a:lnTo>
                    <a:lnTo>
                      <a:pt x="1" y="392"/>
                    </a:lnTo>
                    <a:lnTo>
                      <a:pt x="0" y="387"/>
                    </a:lnTo>
                    <a:lnTo>
                      <a:pt x="0" y="381"/>
                    </a:lnTo>
                    <a:lnTo>
                      <a:pt x="0" y="376"/>
                    </a:lnTo>
                    <a:lnTo>
                      <a:pt x="0" y="0"/>
                    </a:lnTo>
                    <a:lnTo>
                      <a:pt x="127" y="0"/>
                    </a:lnTo>
                  </a:path>
                </a:pathLst>
              </a:custGeom>
              <a:solidFill>
                <a:srgbClr val="DF9FFF"/>
              </a:solidFill>
              <a:ln w="12700" cap="rnd" cmpd="sng">
                <a:solidFill>
                  <a:srgbClr val="9F3FDF"/>
                </a:solidFill>
                <a:prstDash val="solid"/>
                <a:round/>
                <a:headEnd type="none" w="med" len="med"/>
                <a:tailEnd type="none" w="med" len="med"/>
              </a:ln>
              <a:effectLst>
                <a:outerShdw dist="35921" dir="2700000" algn="ctr" rotWithShape="0">
                  <a:schemeClr val="bg2"/>
                </a:outerShdw>
              </a:effectLst>
            </p:spPr>
            <p:txBody>
              <a:bodyPr/>
              <a:lstStyle/>
              <a:p>
                <a:endParaRPr lang="en-ZA"/>
              </a:p>
            </p:txBody>
          </p:sp>
        </p:grpSp>
      </p:grpSp>
      <p:sp>
        <p:nvSpPr>
          <p:cNvPr id="64538" name="Rectangle 26"/>
          <p:cNvSpPr>
            <a:spLocks noChangeArrowheads="1"/>
          </p:cNvSpPr>
          <p:nvPr/>
        </p:nvSpPr>
        <p:spPr bwMode="auto">
          <a:xfrm>
            <a:off x="5181600" y="3124200"/>
            <a:ext cx="3810000" cy="335989"/>
          </a:xfrm>
          <a:prstGeom prst="rect">
            <a:avLst/>
          </a:prstGeom>
          <a:solidFill>
            <a:srgbClr val="CBDDF7"/>
          </a:solidFill>
          <a:ln w="127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600" b="1" dirty="0"/>
              <a:t>Print or Electronic </a:t>
            </a:r>
          </a:p>
        </p:txBody>
      </p:sp>
      <p:graphicFrame>
        <p:nvGraphicFramePr>
          <p:cNvPr id="64539" name="Object 27">
            <a:hlinkClick r:id="" action="ppaction://ole?verb=0"/>
          </p:cNvPr>
          <p:cNvGraphicFramePr>
            <a:graphicFrameLocks/>
          </p:cNvGraphicFramePr>
          <p:nvPr/>
        </p:nvGraphicFramePr>
        <p:xfrm>
          <a:off x="6553200" y="3733800"/>
          <a:ext cx="2109788" cy="1462088"/>
        </p:xfrm>
        <a:graphic>
          <a:graphicData uri="http://schemas.openxmlformats.org/presentationml/2006/ole">
            <mc:AlternateContent xmlns:mc="http://schemas.openxmlformats.org/markup-compatibility/2006">
              <mc:Choice xmlns:v="urn:schemas-microsoft-com:vml" Requires="v">
                <p:oleObj name="Clip" r:id="rId3" imgW="2108160" imgH="1460160" progId="MS_ClipArt_Gallery.2">
                  <p:embed/>
                </p:oleObj>
              </mc:Choice>
              <mc:Fallback>
                <p:oleObj name="Clip" r:id="rId3" imgW="2108160" imgH="1460160" progId="MS_ClipArt_Gallery.2">
                  <p:embed/>
                  <p:pic>
                    <p:nvPicPr>
                      <p:cNvPr id="0" name=""/>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733800"/>
                        <a:ext cx="2109788"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0" name="Object 28">
            <a:hlinkClick r:id="" action="ppaction://ole?verb=0"/>
          </p:cNvPr>
          <p:cNvGraphicFramePr>
            <a:graphicFrameLocks/>
          </p:cNvGraphicFramePr>
          <p:nvPr/>
        </p:nvGraphicFramePr>
        <p:xfrm>
          <a:off x="4648200" y="4343400"/>
          <a:ext cx="909638" cy="1077913"/>
        </p:xfrm>
        <a:graphic>
          <a:graphicData uri="http://schemas.openxmlformats.org/presentationml/2006/ole">
            <mc:AlternateContent xmlns:mc="http://schemas.openxmlformats.org/markup-compatibility/2006">
              <mc:Choice xmlns:v="urn:schemas-microsoft-com:vml" Requires="v">
                <p:oleObj name="Clip" r:id="rId5" imgW="1212840" imgH="1533240" progId="MS_ClipArt_Gallery.2">
                  <p:embed/>
                </p:oleObj>
              </mc:Choice>
              <mc:Fallback>
                <p:oleObj name="Clip" r:id="rId5" imgW="1212840" imgH="1533240" progId="MS_ClipArt_Gallery.2">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4343400"/>
                        <a:ext cx="909638" cy="1077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41" name="Object 29">
            <a:hlinkClick r:id="" action="ppaction://ole?verb=0"/>
          </p:cNvPr>
          <p:cNvGraphicFramePr>
            <a:graphicFrameLocks/>
          </p:cNvGraphicFramePr>
          <p:nvPr/>
        </p:nvGraphicFramePr>
        <p:xfrm>
          <a:off x="7543800" y="4419600"/>
          <a:ext cx="1271588" cy="1295400"/>
        </p:xfrm>
        <a:graphic>
          <a:graphicData uri="http://schemas.openxmlformats.org/presentationml/2006/ole">
            <mc:AlternateContent xmlns:mc="http://schemas.openxmlformats.org/markup-compatibility/2006">
              <mc:Choice xmlns:v="urn:schemas-microsoft-com:vml" Requires="v">
                <p:oleObj name="Clip" r:id="rId7" imgW="1269720" imgH="1293480" progId="MS_ClipArt_Gallery.2">
                  <p:embed/>
                </p:oleObj>
              </mc:Choice>
              <mc:Fallback>
                <p:oleObj name="Clip" r:id="rId7" imgW="1269720" imgH="1293480" progId="MS_ClipArt_Gallery.2">
                  <p:embed/>
                  <p:pic>
                    <p:nvPicPr>
                      <p:cNvPr id="0" name=""/>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3800" y="4419600"/>
                        <a:ext cx="1271588"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27" name="Rectangle 15"/>
          <p:cNvSpPr>
            <a:spLocks noChangeArrowheads="1"/>
          </p:cNvSpPr>
          <p:nvPr/>
        </p:nvSpPr>
        <p:spPr bwMode="auto">
          <a:xfrm>
            <a:off x="3581400" y="3886200"/>
            <a:ext cx="1447800" cy="466725"/>
          </a:xfrm>
          <a:prstGeom prst="rect">
            <a:avLst/>
          </a:prstGeom>
          <a:solidFill>
            <a:srgbClr val="FDE0BD"/>
          </a:solidFill>
          <a:ln w="12700">
            <a:solidFill>
              <a:srgbClr val="00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Survey</a:t>
            </a:r>
          </a:p>
        </p:txBody>
      </p:sp>
      <p:sp>
        <p:nvSpPr>
          <p:cNvPr id="64519" name="Rectangle 7"/>
          <p:cNvSpPr>
            <a:spLocks noChangeArrowheads="1"/>
          </p:cNvSpPr>
          <p:nvPr/>
        </p:nvSpPr>
        <p:spPr bwMode="auto">
          <a:xfrm>
            <a:off x="838200" y="1752600"/>
            <a:ext cx="3657600" cy="628377"/>
          </a:xfrm>
          <a:prstGeom prst="rect">
            <a:avLst/>
          </a:prstGeom>
          <a:solidFill>
            <a:srgbClr val="FDE0B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lnSpc>
                <a:spcPct val="70000"/>
              </a:lnSpc>
              <a:spcBef>
                <a:spcPct val="50000"/>
              </a:spcBef>
            </a:pPr>
            <a:r>
              <a:rPr lang="en-US" altLang="en-US" sz="2400" b="1" dirty="0"/>
              <a:t>Primary Sources</a:t>
            </a:r>
            <a:endParaRPr lang="en-US" altLang="en-US" sz="1400" b="1" dirty="0"/>
          </a:p>
          <a:p>
            <a:pPr eaLnBrk="0" hangingPunct="0">
              <a:lnSpc>
                <a:spcPct val="80000"/>
              </a:lnSpc>
              <a:spcBef>
                <a:spcPct val="50000"/>
              </a:spcBef>
            </a:pPr>
            <a:r>
              <a:rPr lang="en-US" altLang="en-US" sz="1400" b="1" dirty="0"/>
              <a:t>Data Collection</a:t>
            </a:r>
          </a:p>
        </p:txBody>
      </p:sp>
      <p:pic>
        <p:nvPicPr>
          <p:cNvPr id="64542" name="Picture 30" descr="hh01196a[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600" y="4267200"/>
            <a:ext cx="762000" cy="579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970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Sampling</a:t>
            </a:r>
          </a:p>
        </p:txBody>
      </p:sp>
      <p:sp>
        <p:nvSpPr>
          <p:cNvPr id="3" name="Content Placeholder 2"/>
          <p:cNvSpPr>
            <a:spLocks noGrp="1"/>
          </p:cNvSpPr>
          <p:nvPr>
            <p:ph sz="quarter" idx="1"/>
          </p:nvPr>
        </p:nvSpPr>
        <p:spPr/>
        <p:txBody>
          <a:bodyPr/>
          <a:lstStyle/>
          <a:p>
            <a:r>
              <a:rPr lang="en-ZA" dirty="0"/>
              <a:t>What is a sample?</a:t>
            </a:r>
          </a:p>
          <a:p>
            <a:pPr lvl="1"/>
            <a:r>
              <a:rPr lang="en-ZA" dirty="0"/>
              <a:t>A sample is “a small part or quantity intended to show what the whole is like”</a:t>
            </a:r>
          </a:p>
          <a:p>
            <a:r>
              <a:rPr lang="en-ZA" dirty="0"/>
              <a:t>Why do we use samples rather than the population?</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3789040"/>
            <a:ext cx="5076825"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9415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0"/>
          </p:nvPr>
        </p:nvSpPr>
        <p:spPr/>
        <p:txBody>
          <a:bodyPr/>
          <a:lstStyle/>
          <a:p>
            <a:fld id="{67B555F9-A3B5-4865-9B68-B6416BC5AAEB}" type="slidenum">
              <a:rPr lang="en-GB" altLang="en-US"/>
              <a:pPr/>
              <a:t>7</a:t>
            </a:fld>
            <a:endParaRPr lang="en-GB" altLang="en-US"/>
          </a:p>
        </p:txBody>
      </p:sp>
      <p:sp>
        <p:nvSpPr>
          <p:cNvPr id="59394" name="Rectangle 2"/>
          <p:cNvSpPr>
            <a:spLocks noGrp="1" noChangeArrowheads="1"/>
          </p:cNvSpPr>
          <p:nvPr>
            <p:ph type="title"/>
          </p:nvPr>
        </p:nvSpPr>
        <p:spPr>
          <a:xfrm>
            <a:off x="1100931" y="116632"/>
            <a:ext cx="6923088" cy="858838"/>
          </a:xfrm>
        </p:spPr>
        <p:txBody>
          <a:bodyPr/>
          <a:lstStyle/>
          <a:p>
            <a:r>
              <a:rPr lang="en-US" altLang="en-US" dirty="0"/>
              <a:t>Descriptive Statistics</a:t>
            </a:r>
          </a:p>
        </p:txBody>
      </p:sp>
      <p:sp>
        <p:nvSpPr>
          <p:cNvPr id="59395" name="Rectangle 3"/>
          <p:cNvSpPr>
            <a:spLocks noGrp="1" noChangeArrowheads="1"/>
          </p:cNvSpPr>
          <p:nvPr>
            <p:ph type="body" idx="1"/>
          </p:nvPr>
        </p:nvSpPr>
        <p:spPr/>
        <p:txBody>
          <a:bodyPr/>
          <a:lstStyle/>
          <a:p>
            <a:pPr>
              <a:lnSpc>
                <a:spcPct val="130000"/>
              </a:lnSpc>
            </a:pPr>
            <a:r>
              <a:rPr lang="en-US" altLang="en-US" sz="3200"/>
              <a:t>Collect data</a:t>
            </a:r>
          </a:p>
          <a:p>
            <a:pPr lvl="1">
              <a:lnSpc>
                <a:spcPct val="130000"/>
              </a:lnSpc>
            </a:pPr>
            <a:r>
              <a:rPr lang="en-US" altLang="en-US" sz="2700"/>
              <a:t>e.g., Survey</a:t>
            </a:r>
          </a:p>
          <a:p>
            <a:pPr>
              <a:lnSpc>
                <a:spcPct val="130000"/>
              </a:lnSpc>
            </a:pPr>
            <a:r>
              <a:rPr lang="en-US" altLang="en-US" sz="3200"/>
              <a:t>Present data</a:t>
            </a:r>
          </a:p>
          <a:p>
            <a:pPr lvl="1">
              <a:lnSpc>
                <a:spcPct val="130000"/>
              </a:lnSpc>
            </a:pPr>
            <a:r>
              <a:rPr lang="en-US" altLang="en-US" sz="2700"/>
              <a:t>e.g., Tables and graphs</a:t>
            </a:r>
          </a:p>
          <a:p>
            <a:pPr>
              <a:lnSpc>
                <a:spcPct val="130000"/>
              </a:lnSpc>
            </a:pPr>
            <a:r>
              <a:rPr lang="en-US" altLang="en-US" sz="3200"/>
              <a:t>Characterize data</a:t>
            </a:r>
          </a:p>
          <a:p>
            <a:pPr lvl="1">
              <a:lnSpc>
                <a:spcPct val="130000"/>
              </a:lnSpc>
            </a:pPr>
            <a:r>
              <a:rPr lang="en-US" altLang="en-US" sz="2700"/>
              <a:t>e.g., Sample mean =</a:t>
            </a:r>
            <a:r>
              <a:rPr lang="en-US" altLang="en-US" sz="2800"/>
              <a:t> </a:t>
            </a:r>
          </a:p>
        </p:txBody>
      </p:sp>
      <p:graphicFrame>
        <p:nvGraphicFramePr>
          <p:cNvPr id="59396" name="Object 4"/>
          <p:cNvGraphicFramePr>
            <a:graphicFrameLocks noChangeAspect="1"/>
          </p:cNvGraphicFramePr>
          <p:nvPr/>
        </p:nvGraphicFramePr>
        <p:xfrm>
          <a:off x="4572000" y="5105400"/>
          <a:ext cx="887413" cy="914400"/>
        </p:xfrm>
        <a:graphic>
          <a:graphicData uri="http://schemas.openxmlformats.org/presentationml/2006/ole">
            <mc:AlternateContent xmlns:mc="http://schemas.openxmlformats.org/markup-compatibility/2006">
              <mc:Choice xmlns:v="urn:schemas-microsoft-com:vml" Requires="v">
                <p:oleObj name="Equation" r:id="rId3" imgW="419040" imgH="431640" progId="Equation.DSMT4">
                  <p:embed/>
                </p:oleObj>
              </mc:Choice>
              <mc:Fallback>
                <p:oleObj name="Equation" r:id="rId3" imgW="419040" imgH="431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5105400"/>
                        <a:ext cx="887413"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398" name="Object 6">
            <a:hlinkClick r:id="" action="ppaction://ole?verb=0"/>
          </p:cNvPr>
          <p:cNvGraphicFramePr>
            <a:graphicFrameLocks/>
          </p:cNvGraphicFramePr>
          <p:nvPr/>
        </p:nvGraphicFramePr>
        <p:xfrm>
          <a:off x="5334000" y="3906838"/>
          <a:ext cx="1803400" cy="1274762"/>
        </p:xfrm>
        <a:graphic>
          <a:graphicData uri="http://schemas.openxmlformats.org/presentationml/2006/ole">
            <mc:AlternateContent xmlns:mc="http://schemas.openxmlformats.org/markup-compatibility/2006">
              <mc:Choice xmlns:v="urn:schemas-microsoft-com:vml" Requires="v">
                <p:oleObj name="Clip" r:id="rId5" imgW="1801800" imgH="1272960" progId="MS_ClipArt_Gallery.2">
                  <p:embed/>
                </p:oleObj>
              </mc:Choice>
              <mc:Fallback>
                <p:oleObj name="Clip" r:id="rId5" imgW="1801800" imgH="1272960" progId="MS_ClipArt_Gallery.2">
                  <p:embed/>
                  <p:pic>
                    <p:nvPicPr>
                      <p:cNvPr id="0" name=""/>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3906838"/>
                        <a:ext cx="1803400" cy="1274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399" name="Line 7"/>
          <p:cNvSpPr>
            <a:spLocks noChangeShapeType="1"/>
          </p:cNvSpPr>
          <p:nvPr/>
        </p:nvSpPr>
        <p:spPr bwMode="auto">
          <a:xfrm>
            <a:off x="6705600" y="3678238"/>
            <a:ext cx="1588" cy="990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59400" name="Line 8"/>
          <p:cNvSpPr>
            <a:spLocks noChangeShapeType="1"/>
          </p:cNvSpPr>
          <p:nvPr/>
        </p:nvSpPr>
        <p:spPr bwMode="auto">
          <a:xfrm>
            <a:off x="6705600" y="4668838"/>
            <a:ext cx="1600200" cy="1587"/>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59401" name="Rectangle 9"/>
          <p:cNvSpPr>
            <a:spLocks noChangeArrowheads="1"/>
          </p:cNvSpPr>
          <p:nvPr/>
        </p:nvSpPr>
        <p:spPr bwMode="auto">
          <a:xfrm>
            <a:off x="6934200" y="4211638"/>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2" name="Rectangle 10"/>
          <p:cNvSpPr>
            <a:spLocks noChangeArrowheads="1"/>
          </p:cNvSpPr>
          <p:nvPr/>
        </p:nvSpPr>
        <p:spPr bwMode="auto">
          <a:xfrm>
            <a:off x="7086600" y="4287838"/>
            <a:ext cx="1524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3" name="Rectangle 11"/>
          <p:cNvSpPr>
            <a:spLocks noChangeArrowheads="1"/>
          </p:cNvSpPr>
          <p:nvPr/>
        </p:nvSpPr>
        <p:spPr bwMode="auto">
          <a:xfrm>
            <a:off x="7239000" y="3983038"/>
            <a:ext cx="152400" cy="6858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4" name="Rectangle 12"/>
          <p:cNvSpPr>
            <a:spLocks noChangeArrowheads="1"/>
          </p:cNvSpPr>
          <p:nvPr/>
        </p:nvSpPr>
        <p:spPr bwMode="auto">
          <a:xfrm>
            <a:off x="7391400" y="4059238"/>
            <a:ext cx="152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5" name="Rectangle 13"/>
          <p:cNvSpPr>
            <a:spLocks noChangeArrowheads="1"/>
          </p:cNvSpPr>
          <p:nvPr/>
        </p:nvSpPr>
        <p:spPr bwMode="auto">
          <a:xfrm>
            <a:off x="7543800" y="4211638"/>
            <a:ext cx="1524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6" name="Rectangle 14"/>
          <p:cNvSpPr>
            <a:spLocks noChangeArrowheads="1"/>
          </p:cNvSpPr>
          <p:nvPr/>
        </p:nvSpPr>
        <p:spPr bwMode="auto">
          <a:xfrm>
            <a:off x="7696200" y="4440238"/>
            <a:ext cx="1524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7" name="Rectangle 15"/>
          <p:cNvSpPr>
            <a:spLocks noChangeArrowheads="1"/>
          </p:cNvSpPr>
          <p:nvPr/>
        </p:nvSpPr>
        <p:spPr bwMode="auto">
          <a:xfrm>
            <a:off x="6781800" y="4440238"/>
            <a:ext cx="1524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9408" name="Rectangle 16"/>
          <p:cNvSpPr>
            <a:spLocks noChangeArrowheads="1"/>
          </p:cNvSpPr>
          <p:nvPr/>
        </p:nvSpPr>
        <p:spPr bwMode="auto">
          <a:xfrm>
            <a:off x="7848600" y="4516438"/>
            <a:ext cx="152400" cy="152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pic>
        <p:nvPicPr>
          <p:cNvPr id="59409" name="Picture 17" descr="j0283537"/>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2209800"/>
            <a:ext cx="990600" cy="962025"/>
          </a:xfrm>
          <a:prstGeom prst="rect">
            <a:avLst/>
          </a:prstGeom>
          <a:noFill/>
          <a:extLst>
            <a:ext uri="{909E8E84-426E-40DD-AFC4-6F175D3DCCD1}">
              <a14:hiddenFill xmlns:a14="http://schemas.microsoft.com/office/drawing/2010/main">
                <a:solidFill>
                  <a:srgbClr val="FFFFFF"/>
                </a:solidFill>
              </a14:hiddenFill>
            </a:ext>
          </a:extLst>
        </p:spPr>
      </p:pic>
      <p:pic>
        <p:nvPicPr>
          <p:cNvPr id="59412" name="Picture 20" descr="chec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43400" y="2743200"/>
            <a:ext cx="142875" cy="142875"/>
          </a:xfrm>
          <a:prstGeom prst="rect">
            <a:avLst/>
          </a:prstGeom>
          <a:noFill/>
          <a:extLst>
            <a:ext uri="{909E8E84-426E-40DD-AFC4-6F175D3DCCD1}">
              <a14:hiddenFill xmlns:a14="http://schemas.microsoft.com/office/drawing/2010/main">
                <a:solidFill>
                  <a:srgbClr val="FFFFFF"/>
                </a:solidFill>
              </a14:hiddenFill>
            </a:ext>
          </a:extLst>
        </p:spPr>
      </p:pic>
      <p:pic>
        <p:nvPicPr>
          <p:cNvPr id="59413" name="Picture 21" descr="chec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2895600"/>
            <a:ext cx="142875" cy="142875"/>
          </a:xfrm>
          <a:prstGeom prst="rect">
            <a:avLst/>
          </a:prstGeom>
          <a:noFill/>
          <a:extLst>
            <a:ext uri="{909E8E84-426E-40DD-AFC4-6F175D3DCCD1}">
              <a14:hiddenFill xmlns:a14="http://schemas.microsoft.com/office/drawing/2010/main">
                <a:solidFill>
                  <a:srgbClr val="FFFFFF"/>
                </a:solidFill>
              </a14:hiddenFill>
            </a:ext>
          </a:extLst>
        </p:spPr>
      </p:pic>
      <p:pic>
        <p:nvPicPr>
          <p:cNvPr id="59414" name="Picture 22" descr="chec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2590800"/>
            <a:ext cx="142875" cy="14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700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Line 2"/>
          <p:cNvSpPr>
            <a:spLocks noChangeShapeType="1"/>
          </p:cNvSpPr>
          <p:nvPr/>
        </p:nvSpPr>
        <p:spPr bwMode="auto">
          <a:xfrm>
            <a:off x="4351338" y="2213610"/>
            <a:ext cx="0" cy="609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6" name="Rectangle 4"/>
          <p:cNvSpPr txBox="1">
            <a:spLocks noChangeArrowheads="1"/>
          </p:cNvSpPr>
          <p:nvPr/>
        </p:nvSpPr>
        <p:spPr>
          <a:xfrm>
            <a:off x="794544" y="260648"/>
            <a:ext cx="7793038" cy="762000"/>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pPr>
              <a:lnSpc>
                <a:spcPct val="110000"/>
              </a:lnSpc>
            </a:pPr>
            <a:r>
              <a:rPr lang="en-US" altLang="en-US" dirty="0"/>
              <a:t>Measures of Central Tendency</a:t>
            </a:r>
          </a:p>
        </p:txBody>
      </p:sp>
      <p:sp>
        <p:nvSpPr>
          <p:cNvPr id="7" name="Rectangle 5"/>
          <p:cNvSpPr>
            <a:spLocks noChangeArrowheads="1"/>
          </p:cNvSpPr>
          <p:nvPr/>
        </p:nvSpPr>
        <p:spPr bwMode="auto">
          <a:xfrm>
            <a:off x="2786063" y="1796415"/>
            <a:ext cx="3200400"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b="1" dirty="0">
                <a:solidFill>
                  <a:srgbClr val="000066"/>
                </a:solidFill>
              </a:rPr>
              <a:t>Central Tendency</a:t>
            </a:r>
          </a:p>
        </p:txBody>
      </p:sp>
      <p:sp>
        <p:nvSpPr>
          <p:cNvPr id="8" name="Line 6"/>
          <p:cNvSpPr>
            <a:spLocks noChangeShapeType="1"/>
          </p:cNvSpPr>
          <p:nvPr/>
        </p:nvSpPr>
        <p:spPr bwMode="auto">
          <a:xfrm>
            <a:off x="2293938" y="2815590"/>
            <a:ext cx="3886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9" name="Rectangle 7"/>
          <p:cNvSpPr>
            <a:spLocks noChangeArrowheads="1"/>
          </p:cNvSpPr>
          <p:nvPr/>
        </p:nvSpPr>
        <p:spPr bwMode="auto">
          <a:xfrm>
            <a:off x="1150938" y="3274378"/>
            <a:ext cx="2209800" cy="406400"/>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dirty="0">
                <a:solidFill>
                  <a:srgbClr val="000066"/>
                </a:solidFill>
              </a:rPr>
              <a:t>Mean</a:t>
            </a:r>
          </a:p>
        </p:txBody>
      </p:sp>
      <p:sp>
        <p:nvSpPr>
          <p:cNvPr id="10" name="Rectangle 8"/>
          <p:cNvSpPr>
            <a:spLocks noChangeArrowheads="1"/>
          </p:cNvSpPr>
          <p:nvPr/>
        </p:nvSpPr>
        <p:spPr bwMode="auto">
          <a:xfrm>
            <a:off x="3668713" y="3274378"/>
            <a:ext cx="1292225" cy="406400"/>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solidFill>
                  <a:srgbClr val="000066"/>
                </a:solidFill>
              </a:rPr>
              <a:t>Median</a:t>
            </a:r>
          </a:p>
        </p:txBody>
      </p:sp>
      <p:sp>
        <p:nvSpPr>
          <p:cNvPr id="11" name="Rectangle 9"/>
          <p:cNvSpPr>
            <a:spLocks noChangeArrowheads="1"/>
          </p:cNvSpPr>
          <p:nvPr/>
        </p:nvSpPr>
        <p:spPr bwMode="auto">
          <a:xfrm>
            <a:off x="5578476" y="3272790"/>
            <a:ext cx="1219200" cy="406400"/>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solidFill>
                  <a:srgbClr val="000066"/>
                </a:solidFill>
              </a:rPr>
              <a:t>Mode</a:t>
            </a:r>
          </a:p>
        </p:txBody>
      </p:sp>
      <p:sp>
        <p:nvSpPr>
          <p:cNvPr id="12" name="Line 11"/>
          <p:cNvSpPr>
            <a:spLocks noChangeShapeType="1"/>
          </p:cNvSpPr>
          <p:nvPr/>
        </p:nvSpPr>
        <p:spPr bwMode="auto">
          <a:xfrm>
            <a:off x="6180138" y="281559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3" name="Line 12"/>
          <p:cNvSpPr>
            <a:spLocks noChangeShapeType="1"/>
          </p:cNvSpPr>
          <p:nvPr/>
        </p:nvSpPr>
        <p:spPr bwMode="auto">
          <a:xfrm>
            <a:off x="2289176" y="281559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 name="Line 13"/>
          <p:cNvSpPr>
            <a:spLocks noChangeShapeType="1"/>
          </p:cNvSpPr>
          <p:nvPr/>
        </p:nvSpPr>
        <p:spPr bwMode="auto">
          <a:xfrm>
            <a:off x="4351338" y="2815590"/>
            <a:ext cx="0" cy="457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5" name="Line 14"/>
          <p:cNvSpPr>
            <a:spLocks noChangeShapeType="1"/>
          </p:cNvSpPr>
          <p:nvPr/>
        </p:nvSpPr>
        <p:spPr bwMode="auto">
          <a:xfrm>
            <a:off x="3360738" y="4415790"/>
            <a:ext cx="1711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6" name="Oval 15"/>
          <p:cNvSpPr>
            <a:spLocks noChangeArrowheads="1"/>
          </p:cNvSpPr>
          <p:nvPr/>
        </p:nvSpPr>
        <p:spPr bwMode="auto">
          <a:xfrm>
            <a:off x="3395663"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7" name="Oval 16"/>
          <p:cNvSpPr>
            <a:spLocks noChangeArrowheads="1"/>
          </p:cNvSpPr>
          <p:nvPr/>
        </p:nvSpPr>
        <p:spPr bwMode="auto">
          <a:xfrm>
            <a:off x="4157663"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8" name="Oval 17"/>
          <p:cNvSpPr>
            <a:spLocks noChangeArrowheads="1"/>
          </p:cNvSpPr>
          <p:nvPr/>
        </p:nvSpPr>
        <p:spPr bwMode="auto">
          <a:xfrm>
            <a:off x="4386263"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9" name="Oval 18"/>
          <p:cNvSpPr>
            <a:spLocks noChangeArrowheads="1"/>
          </p:cNvSpPr>
          <p:nvPr/>
        </p:nvSpPr>
        <p:spPr bwMode="auto">
          <a:xfrm>
            <a:off x="35972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0" name="Oval 19"/>
          <p:cNvSpPr>
            <a:spLocks noChangeArrowheads="1"/>
          </p:cNvSpPr>
          <p:nvPr/>
        </p:nvSpPr>
        <p:spPr bwMode="auto">
          <a:xfrm>
            <a:off x="4538663"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1" name="Oval 20"/>
          <p:cNvSpPr>
            <a:spLocks noChangeArrowheads="1"/>
          </p:cNvSpPr>
          <p:nvPr/>
        </p:nvSpPr>
        <p:spPr bwMode="auto">
          <a:xfrm>
            <a:off x="3929063" y="4263390"/>
            <a:ext cx="152400" cy="152400"/>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2" name="AutoShape 21"/>
          <p:cNvSpPr>
            <a:spLocks noChangeArrowheads="1"/>
          </p:cNvSpPr>
          <p:nvPr/>
        </p:nvSpPr>
        <p:spPr bwMode="auto">
          <a:xfrm rot="16200000">
            <a:off x="3890963" y="4530090"/>
            <a:ext cx="228600" cy="152400"/>
          </a:xfrm>
          <a:prstGeom prst="rightArrow">
            <a:avLst>
              <a:gd name="adj1" fmla="val 50000"/>
              <a:gd name="adj2" fmla="val 37778"/>
            </a:avLst>
          </a:prstGeom>
          <a:solidFill>
            <a:srgbClr val="FF00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3" name="Oval 22"/>
          <p:cNvSpPr>
            <a:spLocks noChangeArrowheads="1"/>
          </p:cNvSpPr>
          <p:nvPr/>
        </p:nvSpPr>
        <p:spPr bwMode="auto">
          <a:xfrm>
            <a:off x="48164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4" name="Oval 23"/>
          <p:cNvSpPr>
            <a:spLocks noChangeArrowheads="1"/>
          </p:cNvSpPr>
          <p:nvPr/>
        </p:nvSpPr>
        <p:spPr bwMode="auto">
          <a:xfrm>
            <a:off x="3597276" y="39585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5" name="Oval 24"/>
          <p:cNvSpPr>
            <a:spLocks noChangeArrowheads="1"/>
          </p:cNvSpPr>
          <p:nvPr/>
        </p:nvSpPr>
        <p:spPr bwMode="auto">
          <a:xfrm>
            <a:off x="3597276" y="41109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6" name="Line 25"/>
          <p:cNvSpPr>
            <a:spLocks noChangeShapeType="1"/>
          </p:cNvSpPr>
          <p:nvPr/>
        </p:nvSpPr>
        <p:spPr bwMode="auto">
          <a:xfrm>
            <a:off x="5467351" y="4415790"/>
            <a:ext cx="17113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27" name="Oval 26"/>
          <p:cNvSpPr>
            <a:spLocks noChangeArrowheads="1"/>
          </p:cNvSpPr>
          <p:nvPr/>
        </p:nvSpPr>
        <p:spPr bwMode="auto">
          <a:xfrm>
            <a:off x="55022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8" name="Oval 27"/>
          <p:cNvSpPr>
            <a:spLocks noChangeArrowheads="1"/>
          </p:cNvSpPr>
          <p:nvPr/>
        </p:nvSpPr>
        <p:spPr bwMode="auto">
          <a:xfrm>
            <a:off x="62642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 name="Oval 28"/>
          <p:cNvSpPr>
            <a:spLocks noChangeArrowheads="1"/>
          </p:cNvSpPr>
          <p:nvPr/>
        </p:nvSpPr>
        <p:spPr bwMode="auto">
          <a:xfrm>
            <a:off x="64928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0" name="Oval 29"/>
          <p:cNvSpPr>
            <a:spLocks noChangeArrowheads="1"/>
          </p:cNvSpPr>
          <p:nvPr/>
        </p:nvSpPr>
        <p:spPr bwMode="auto">
          <a:xfrm>
            <a:off x="5703888" y="4263390"/>
            <a:ext cx="152400" cy="152400"/>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1" name="Oval 30"/>
          <p:cNvSpPr>
            <a:spLocks noChangeArrowheads="1"/>
          </p:cNvSpPr>
          <p:nvPr/>
        </p:nvSpPr>
        <p:spPr bwMode="auto">
          <a:xfrm>
            <a:off x="66452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2" name="Oval 31"/>
          <p:cNvSpPr>
            <a:spLocks noChangeArrowheads="1"/>
          </p:cNvSpPr>
          <p:nvPr/>
        </p:nvSpPr>
        <p:spPr bwMode="auto">
          <a:xfrm>
            <a:off x="6035676"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3" name="AutoShape 32"/>
          <p:cNvSpPr>
            <a:spLocks noChangeArrowheads="1"/>
          </p:cNvSpPr>
          <p:nvPr/>
        </p:nvSpPr>
        <p:spPr bwMode="auto">
          <a:xfrm rot="16200000">
            <a:off x="5692776" y="4530090"/>
            <a:ext cx="228600" cy="152400"/>
          </a:xfrm>
          <a:prstGeom prst="rightArrow">
            <a:avLst>
              <a:gd name="adj1" fmla="val 50000"/>
              <a:gd name="adj2" fmla="val 37778"/>
            </a:avLst>
          </a:prstGeom>
          <a:solidFill>
            <a:srgbClr val="FF00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4" name="Oval 33"/>
          <p:cNvSpPr>
            <a:spLocks noChangeArrowheads="1"/>
          </p:cNvSpPr>
          <p:nvPr/>
        </p:nvSpPr>
        <p:spPr bwMode="auto">
          <a:xfrm>
            <a:off x="6923088" y="4263390"/>
            <a:ext cx="152400" cy="15240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5" name="Oval 34"/>
          <p:cNvSpPr>
            <a:spLocks noChangeArrowheads="1"/>
          </p:cNvSpPr>
          <p:nvPr/>
        </p:nvSpPr>
        <p:spPr bwMode="auto">
          <a:xfrm>
            <a:off x="5703888" y="3958590"/>
            <a:ext cx="152400" cy="152400"/>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36" name="Oval 35"/>
          <p:cNvSpPr>
            <a:spLocks noChangeArrowheads="1"/>
          </p:cNvSpPr>
          <p:nvPr/>
        </p:nvSpPr>
        <p:spPr bwMode="auto">
          <a:xfrm>
            <a:off x="5703888" y="4110990"/>
            <a:ext cx="152400" cy="152400"/>
          </a:xfrm>
          <a:prstGeom prst="ellipse">
            <a:avLst/>
          </a:prstGeom>
          <a:solidFill>
            <a:schemeClr val="accent2"/>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graphicFrame>
        <p:nvGraphicFramePr>
          <p:cNvPr id="37" name="Object 36"/>
          <p:cNvGraphicFramePr>
            <a:graphicFrameLocks noChangeAspect="1"/>
          </p:cNvGraphicFramePr>
          <p:nvPr>
            <p:extLst>
              <p:ext uri="{D42A27DB-BD31-4B8C-83A1-F6EECF244321}">
                <p14:modId xmlns:p14="http://schemas.microsoft.com/office/powerpoint/2010/main" val="2448899314"/>
              </p:ext>
            </p:extLst>
          </p:nvPr>
        </p:nvGraphicFramePr>
        <p:xfrm>
          <a:off x="1455738" y="4110990"/>
          <a:ext cx="1295400" cy="1173163"/>
        </p:xfrm>
        <a:graphic>
          <a:graphicData uri="http://schemas.openxmlformats.org/presentationml/2006/ole">
            <mc:AlternateContent xmlns:mc="http://schemas.openxmlformats.org/markup-compatibility/2006">
              <mc:Choice xmlns:v="urn:schemas-microsoft-com:vml" Requires="v">
                <p:oleObj name="Equation" r:id="rId3" imgW="672840" imgH="609480" progId="Equation.3">
                  <p:embed/>
                </p:oleObj>
              </mc:Choice>
              <mc:Fallback>
                <p:oleObj name="Equation" r:id="rId3" imgW="672840" imgH="609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738" y="4110990"/>
                        <a:ext cx="1295400" cy="117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 name="Text Box 39"/>
          <p:cNvSpPr txBox="1">
            <a:spLocks noChangeArrowheads="1"/>
          </p:cNvSpPr>
          <p:nvPr/>
        </p:nvSpPr>
        <p:spPr bwMode="auto">
          <a:xfrm>
            <a:off x="3368676" y="4949190"/>
            <a:ext cx="16764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Midpoint of ranked values</a:t>
            </a:r>
          </a:p>
        </p:txBody>
      </p:sp>
      <p:sp>
        <p:nvSpPr>
          <p:cNvPr id="40" name="Text Box 40"/>
          <p:cNvSpPr txBox="1">
            <a:spLocks noChangeArrowheads="1"/>
          </p:cNvSpPr>
          <p:nvPr/>
        </p:nvSpPr>
        <p:spPr bwMode="auto">
          <a:xfrm>
            <a:off x="5426076" y="4949190"/>
            <a:ext cx="1676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Most frequently observed value</a:t>
            </a:r>
          </a:p>
        </p:txBody>
      </p:sp>
    </p:spTree>
    <p:extLst>
      <p:ext uri="{BB962C8B-B14F-4D97-AF65-F5344CB8AC3E}">
        <p14:creationId xmlns:p14="http://schemas.microsoft.com/office/powerpoint/2010/main" val="3338167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3"/>
          <p:cNvSpPr>
            <a:spLocks noGrp="1"/>
          </p:cNvSpPr>
          <p:nvPr>
            <p:ph type="sldNum" sz="quarter" idx="10"/>
          </p:nvPr>
        </p:nvSpPr>
        <p:spPr/>
        <p:txBody>
          <a:bodyPr/>
          <a:lstStyle/>
          <a:p>
            <a:fld id="{E0048C66-B1D9-4EBE-BE52-C689253CE500}" type="slidenum">
              <a:rPr lang="en-US" altLang="en-US"/>
              <a:pPr/>
              <a:t>9</a:t>
            </a:fld>
            <a:endParaRPr lang="en-US" altLang="en-US"/>
          </a:p>
        </p:txBody>
      </p:sp>
      <p:sp>
        <p:nvSpPr>
          <p:cNvPr id="100354" name="Rectangle 2"/>
          <p:cNvSpPr>
            <a:spLocks noGrp="1" noChangeArrowheads="1"/>
          </p:cNvSpPr>
          <p:nvPr>
            <p:ph type="title"/>
          </p:nvPr>
        </p:nvSpPr>
        <p:spPr/>
        <p:txBody>
          <a:bodyPr/>
          <a:lstStyle/>
          <a:p>
            <a:r>
              <a:rPr lang="en-US" altLang="en-US" dirty="0"/>
              <a:t>Mean</a:t>
            </a:r>
          </a:p>
        </p:txBody>
      </p:sp>
      <p:sp>
        <p:nvSpPr>
          <p:cNvPr id="100355" name="Rectangle 3"/>
          <p:cNvSpPr>
            <a:spLocks noGrp="1" noChangeArrowheads="1"/>
          </p:cNvSpPr>
          <p:nvPr>
            <p:ph type="body" idx="1"/>
          </p:nvPr>
        </p:nvSpPr>
        <p:spPr>
          <a:xfrm>
            <a:off x="762000" y="1828800"/>
            <a:ext cx="8077200" cy="4114800"/>
          </a:xfrm>
        </p:spPr>
        <p:txBody>
          <a:bodyPr/>
          <a:lstStyle/>
          <a:p>
            <a:r>
              <a:rPr lang="en-US" altLang="en-US" sz="2400"/>
              <a:t>The most common measure of central tendency</a:t>
            </a:r>
          </a:p>
          <a:p>
            <a:r>
              <a:rPr lang="en-US" altLang="en-US" sz="2400"/>
              <a:t>Mean = sum of values divided by the number of values</a:t>
            </a:r>
          </a:p>
          <a:p>
            <a:r>
              <a:rPr lang="en-US" altLang="en-US" sz="2400"/>
              <a:t>Affected by extreme values (outliers)</a:t>
            </a:r>
          </a:p>
          <a:p>
            <a:pPr>
              <a:buFont typeface="Wingdings" pitchFamily="2" charset="2"/>
              <a:buNone/>
            </a:pPr>
            <a:endParaRPr lang="en-US" altLang="en-US" sz="2400"/>
          </a:p>
        </p:txBody>
      </p:sp>
      <p:sp>
        <p:nvSpPr>
          <p:cNvPr id="100357" name="AutoShape 5"/>
          <p:cNvSpPr>
            <a:spLocks noChangeArrowheads="1"/>
          </p:cNvSpPr>
          <p:nvPr/>
        </p:nvSpPr>
        <p:spPr bwMode="auto">
          <a:xfrm rot="16200000">
            <a:off x="5905500" y="4305300"/>
            <a:ext cx="609600" cy="228600"/>
          </a:xfrm>
          <a:prstGeom prst="rightArrow">
            <a:avLst>
              <a:gd name="adj1" fmla="val 50000"/>
              <a:gd name="adj2" fmla="val 6716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58" name="Line 6"/>
          <p:cNvSpPr>
            <a:spLocks noChangeShapeType="1"/>
          </p:cNvSpPr>
          <p:nvPr/>
        </p:nvSpPr>
        <p:spPr bwMode="auto">
          <a:xfrm>
            <a:off x="703263" y="3886200"/>
            <a:ext cx="33543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00359" name="Rectangle 7"/>
          <p:cNvSpPr>
            <a:spLocks noChangeArrowheads="1"/>
          </p:cNvSpPr>
          <p:nvPr/>
        </p:nvSpPr>
        <p:spPr bwMode="auto">
          <a:xfrm>
            <a:off x="522288" y="3798888"/>
            <a:ext cx="39846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800" b="1"/>
              <a:t>0  1   2   3   4   5   6   7   8   9   10</a:t>
            </a:r>
          </a:p>
        </p:txBody>
      </p:sp>
      <p:sp>
        <p:nvSpPr>
          <p:cNvPr id="100360" name="Rectangle 8"/>
          <p:cNvSpPr>
            <a:spLocks noChangeArrowheads="1"/>
          </p:cNvSpPr>
          <p:nvPr/>
        </p:nvSpPr>
        <p:spPr bwMode="auto">
          <a:xfrm>
            <a:off x="609600" y="3657600"/>
            <a:ext cx="314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100361" name="Oval 9"/>
          <p:cNvSpPr>
            <a:spLocks noChangeArrowheads="1"/>
          </p:cNvSpPr>
          <p:nvPr/>
        </p:nvSpPr>
        <p:spPr bwMode="auto">
          <a:xfrm>
            <a:off x="8382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2" name="Oval 10"/>
          <p:cNvSpPr>
            <a:spLocks noChangeArrowheads="1"/>
          </p:cNvSpPr>
          <p:nvPr/>
        </p:nvSpPr>
        <p:spPr bwMode="auto">
          <a:xfrm>
            <a:off x="11430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3" name="Oval 11"/>
          <p:cNvSpPr>
            <a:spLocks noChangeArrowheads="1"/>
          </p:cNvSpPr>
          <p:nvPr/>
        </p:nvSpPr>
        <p:spPr bwMode="auto">
          <a:xfrm>
            <a:off x="14478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4" name="Oval 12"/>
          <p:cNvSpPr>
            <a:spLocks noChangeArrowheads="1"/>
          </p:cNvSpPr>
          <p:nvPr/>
        </p:nvSpPr>
        <p:spPr bwMode="auto">
          <a:xfrm>
            <a:off x="17526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5" name="Oval 13"/>
          <p:cNvSpPr>
            <a:spLocks noChangeArrowheads="1"/>
          </p:cNvSpPr>
          <p:nvPr/>
        </p:nvSpPr>
        <p:spPr bwMode="auto">
          <a:xfrm>
            <a:off x="20574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6" name="AutoShape 14"/>
          <p:cNvSpPr>
            <a:spLocks noChangeArrowheads="1"/>
          </p:cNvSpPr>
          <p:nvPr/>
        </p:nvSpPr>
        <p:spPr bwMode="auto">
          <a:xfrm rot="16200000">
            <a:off x="1257300" y="4305300"/>
            <a:ext cx="609600" cy="228600"/>
          </a:xfrm>
          <a:prstGeom prst="rightArrow">
            <a:avLst>
              <a:gd name="adj1" fmla="val 50000"/>
              <a:gd name="adj2" fmla="val 6716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67" name="Rectangle 15"/>
          <p:cNvSpPr>
            <a:spLocks noChangeArrowheads="1"/>
          </p:cNvSpPr>
          <p:nvPr/>
        </p:nvSpPr>
        <p:spPr bwMode="auto">
          <a:xfrm>
            <a:off x="1447800" y="4800600"/>
            <a:ext cx="1524000"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Mean = 3</a:t>
            </a:r>
          </a:p>
        </p:txBody>
      </p:sp>
      <p:sp>
        <p:nvSpPr>
          <p:cNvPr id="100368" name="Line 16"/>
          <p:cNvSpPr>
            <a:spLocks noChangeShapeType="1"/>
          </p:cNvSpPr>
          <p:nvPr/>
        </p:nvSpPr>
        <p:spPr bwMode="auto">
          <a:xfrm>
            <a:off x="5046663" y="3886200"/>
            <a:ext cx="33543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00369" name="Rectangle 17"/>
          <p:cNvSpPr>
            <a:spLocks noChangeArrowheads="1"/>
          </p:cNvSpPr>
          <p:nvPr/>
        </p:nvSpPr>
        <p:spPr bwMode="auto">
          <a:xfrm>
            <a:off x="4724400" y="3810000"/>
            <a:ext cx="39846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800" b="1"/>
              <a:t>  0  1   2   3   4   5   6   7   8   9   10</a:t>
            </a:r>
          </a:p>
        </p:txBody>
      </p:sp>
      <p:sp>
        <p:nvSpPr>
          <p:cNvPr id="100370" name="Rectangle 18"/>
          <p:cNvSpPr>
            <a:spLocks noChangeArrowheads="1"/>
          </p:cNvSpPr>
          <p:nvPr/>
        </p:nvSpPr>
        <p:spPr bwMode="auto">
          <a:xfrm>
            <a:off x="4953000" y="3657600"/>
            <a:ext cx="314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100371" name="Oval 19"/>
          <p:cNvSpPr>
            <a:spLocks noChangeArrowheads="1"/>
          </p:cNvSpPr>
          <p:nvPr/>
        </p:nvSpPr>
        <p:spPr bwMode="auto">
          <a:xfrm>
            <a:off x="51816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72" name="Oval 20"/>
          <p:cNvSpPr>
            <a:spLocks noChangeArrowheads="1"/>
          </p:cNvSpPr>
          <p:nvPr/>
        </p:nvSpPr>
        <p:spPr bwMode="auto">
          <a:xfrm>
            <a:off x="54864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73" name="Oval 21"/>
          <p:cNvSpPr>
            <a:spLocks noChangeArrowheads="1"/>
          </p:cNvSpPr>
          <p:nvPr/>
        </p:nvSpPr>
        <p:spPr bwMode="auto">
          <a:xfrm>
            <a:off x="57912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74" name="Oval 22"/>
          <p:cNvSpPr>
            <a:spLocks noChangeArrowheads="1"/>
          </p:cNvSpPr>
          <p:nvPr/>
        </p:nvSpPr>
        <p:spPr bwMode="auto">
          <a:xfrm>
            <a:off x="60960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75" name="Oval 23"/>
          <p:cNvSpPr>
            <a:spLocks noChangeArrowheads="1"/>
          </p:cNvSpPr>
          <p:nvPr/>
        </p:nvSpPr>
        <p:spPr bwMode="auto">
          <a:xfrm>
            <a:off x="8077200" y="3657600"/>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0376" name="Rectangle 24"/>
          <p:cNvSpPr>
            <a:spLocks noChangeArrowheads="1"/>
          </p:cNvSpPr>
          <p:nvPr/>
        </p:nvSpPr>
        <p:spPr bwMode="auto">
          <a:xfrm>
            <a:off x="6096000" y="4800600"/>
            <a:ext cx="1524000"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Mean = 4</a:t>
            </a:r>
          </a:p>
        </p:txBody>
      </p:sp>
      <p:graphicFrame>
        <p:nvGraphicFramePr>
          <p:cNvPr id="100377" name="Object 25"/>
          <p:cNvGraphicFramePr>
            <a:graphicFrameLocks noChangeAspect="1"/>
          </p:cNvGraphicFramePr>
          <p:nvPr/>
        </p:nvGraphicFramePr>
        <p:xfrm>
          <a:off x="838200" y="5410200"/>
          <a:ext cx="3022600" cy="731838"/>
        </p:xfrm>
        <a:graphic>
          <a:graphicData uri="http://schemas.openxmlformats.org/presentationml/2006/ole">
            <mc:AlternateContent xmlns:mc="http://schemas.openxmlformats.org/markup-compatibility/2006">
              <mc:Choice xmlns:v="urn:schemas-microsoft-com:vml" Requires="v">
                <p:oleObj name="Equation" r:id="rId3" imgW="1625400" imgH="393480" progId="Equation.3">
                  <p:embed/>
                </p:oleObj>
              </mc:Choice>
              <mc:Fallback>
                <p:oleObj name="Equation" r:id="rId3" imgW="162540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5410200"/>
                        <a:ext cx="3022600"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0378" name="Object 26"/>
          <p:cNvGraphicFramePr>
            <a:graphicFrameLocks noChangeAspect="1"/>
          </p:cNvGraphicFramePr>
          <p:nvPr/>
        </p:nvGraphicFramePr>
        <p:xfrm>
          <a:off x="5276850" y="5410200"/>
          <a:ext cx="3187700" cy="731838"/>
        </p:xfrm>
        <a:graphic>
          <a:graphicData uri="http://schemas.openxmlformats.org/presentationml/2006/ole">
            <mc:AlternateContent xmlns:mc="http://schemas.openxmlformats.org/markup-compatibility/2006">
              <mc:Choice xmlns:v="urn:schemas-microsoft-com:vml" Requires="v">
                <p:oleObj name="Equation" r:id="rId5" imgW="1714320" imgH="393480" progId="Equation.3">
                  <p:embed/>
                </p:oleObj>
              </mc:Choice>
              <mc:Fallback>
                <p:oleObj name="Equation" r:id="rId5" imgW="171432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6850" y="5410200"/>
                        <a:ext cx="3187700"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579471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3"/>
          <p:cNvSpPr>
            <a:spLocks noGrp="1"/>
          </p:cNvSpPr>
          <p:nvPr>
            <p:ph type="sldNum" sz="quarter" idx="10"/>
          </p:nvPr>
        </p:nvSpPr>
        <p:spPr/>
        <p:txBody>
          <a:bodyPr/>
          <a:lstStyle/>
          <a:p>
            <a:fld id="{467F30B9-34AC-4A7C-A62A-4D775B6C2ED6}" type="slidenum">
              <a:rPr lang="en-US" altLang="en-US"/>
              <a:pPr/>
              <a:t>10</a:t>
            </a:fld>
            <a:endParaRPr lang="en-US" altLang="en-US"/>
          </a:p>
        </p:txBody>
      </p:sp>
      <p:sp>
        <p:nvSpPr>
          <p:cNvPr id="101378" name="Rectangle 2"/>
          <p:cNvSpPr>
            <a:spLocks noGrp="1" noChangeArrowheads="1"/>
          </p:cNvSpPr>
          <p:nvPr>
            <p:ph type="title"/>
          </p:nvPr>
        </p:nvSpPr>
        <p:spPr/>
        <p:txBody>
          <a:bodyPr/>
          <a:lstStyle/>
          <a:p>
            <a:r>
              <a:rPr lang="en-US" altLang="en-US"/>
              <a:t>Median</a:t>
            </a:r>
          </a:p>
        </p:txBody>
      </p:sp>
      <p:sp>
        <p:nvSpPr>
          <p:cNvPr id="101379" name="Rectangle 3"/>
          <p:cNvSpPr>
            <a:spLocks noGrp="1" noChangeArrowheads="1"/>
          </p:cNvSpPr>
          <p:nvPr>
            <p:ph type="body" idx="1"/>
          </p:nvPr>
        </p:nvSpPr>
        <p:spPr>
          <a:xfrm>
            <a:off x="533400" y="1600200"/>
            <a:ext cx="8382000" cy="5029200"/>
          </a:xfrm>
        </p:spPr>
        <p:txBody>
          <a:bodyPr/>
          <a:lstStyle/>
          <a:p>
            <a:r>
              <a:rPr lang="en-US" altLang="en-US">
                <a:solidFill>
                  <a:schemeClr val="folHlink"/>
                </a:solidFill>
              </a:rPr>
              <a:t>In an ordered array, the median is the “middle” number (50% above, 50% below)</a:t>
            </a:r>
          </a:p>
          <a:p>
            <a:endParaRPr lang="en-US" altLang="en-US" sz="2700"/>
          </a:p>
          <a:p>
            <a:pPr>
              <a:buFont typeface="Wingdings" pitchFamily="2" charset="2"/>
              <a:buNone/>
            </a:pPr>
            <a:r>
              <a:rPr lang="en-US" altLang="en-US"/>
              <a:t> </a:t>
            </a:r>
          </a:p>
          <a:p>
            <a:pPr>
              <a:buFont typeface="Wingdings" pitchFamily="2" charset="2"/>
              <a:buNone/>
            </a:pPr>
            <a:r>
              <a:rPr lang="en-US" altLang="en-US"/>
              <a:t> </a:t>
            </a:r>
          </a:p>
          <a:p>
            <a:endParaRPr lang="en-US" altLang="en-US"/>
          </a:p>
          <a:p>
            <a:pPr>
              <a:buFont typeface="Wingdings" pitchFamily="2" charset="2"/>
              <a:buNone/>
            </a:pPr>
            <a:endParaRPr lang="en-US" altLang="en-US"/>
          </a:p>
          <a:p>
            <a:r>
              <a:rPr lang="en-US" altLang="en-US" sz="2700"/>
              <a:t>Not affected by extreme values</a:t>
            </a:r>
          </a:p>
        </p:txBody>
      </p:sp>
      <p:sp>
        <p:nvSpPr>
          <p:cNvPr id="101380" name="AutoShape 4"/>
          <p:cNvSpPr>
            <a:spLocks noChangeArrowheads="1"/>
          </p:cNvSpPr>
          <p:nvPr/>
        </p:nvSpPr>
        <p:spPr bwMode="auto">
          <a:xfrm rot="16200000">
            <a:off x="5600700" y="3533775"/>
            <a:ext cx="457200" cy="228600"/>
          </a:xfrm>
          <a:prstGeom prst="rightArrow">
            <a:avLst>
              <a:gd name="adj1" fmla="val 50000"/>
              <a:gd name="adj2" fmla="val 5037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1" name="Line 5"/>
          <p:cNvSpPr>
            <a:spLocks noChangeShapeType="1"/>
          </p:cNvSpPr>
          <p:nvPr/>
        </p:nvSpPr>
        <p:spPr bwMode="auto">
          <a:xfrm>
            <a:off x="627063" y="3190875"/>
            <a:ext cx="33543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01382" name="Rectangle 6"/>
          <p:cNvSpPr>
            <a:spLocks noChangeArrowheads="1"/>
          </p:cNvSpPr>
          <p:nvPr/>
        </p:nvSpPr>
        <p:spPr bwMode="auto">
          <a:xfrm>
            <a:off x="446088" y="3103563"/>
            <a:ext cx="39846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800" b="1"/>
              <a:t>0  1   2   3   4   5   6   7   8   9   10</a:t>
            </a:r>
          </a:p>
        </p:txBody>
      </p:sp>
      <p:sp>
        <p:nvSpPr>
          <p:cNvPr id="101383" name="Rectangle 7"/>
          <p:cNvSpPr>
            <a:spLocks noChangeArrowheads="1"/>
          </p:cNvSpPr>
          <p:nvPr/>
        </p:nvSpPr>
        <p:spPr bwMode="auto">
          <a:xfrm>
            <a:off x="533400" y="2962275"/>
            <a:ext cx="314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101384" name="Oval 8"/>
          <p:cNvSpPr>
            <a:spLocks noChangeArrowheads="1"/>
          </p:cNvSpPr>
          <p:nvPr/>
        </p:nvSpPr>
        <p:spPr bwMode="auto">
          <a:xfrm>
            <a:off x="7620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5" name="Oval 9"/>
          <p:cNvSpPr>
            <a:spLocks noChangeArrowheads="1"/>
          </p:cNvSpPr>
          <p:nvPr/>
        </p:nvSpPr>
        <p:spPr bwMode="auto">
          <a:xfrm>
            <a:off x="10668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6" name="Oval 10"/>
          <p:cNvSpPr>
            <a:spLocks noChangeArrowheads="1"/>
          </p:cNvSpPr>
          <p:nvPr/>
        </p:nvSpPr>
        <p:spPr bwMode="auto">
          <a:xfrm>
            <a:off x="13716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7" name="Oval 11"/>
          <p:cNvSpPr>
            <a:spLocks noChangeArrowheads="1"/>
          </p:cNvSpPr>
          <p:nvPr/>
        </p:nvSpPr>
        <p:spPr bwMode="auto">
          <a:xfrm>
            <a:off x="16764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8" name="Oval 12"/>
          <p:cNvSpPr>
            <a:spLocks noChangeArrowheads="1"/>
          </p:cNvSpPr>
          <p:nvPr/>
        </p:nvSpPr>
        <p:spPr bwMode="auto">
          <a:xfrm>
            <a:off x="19812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89" name="AutoShape 13"/>
          <p:cNvSpPr>
            <a:spLocks noChangeArrowheads="1"/>
          </p:cNvSpPr>
          <p:nvPr/>
        </p:nvSpPr>
        <p:spPr bwMode="auto">
          <a:xfrm rot="16200000">
            <a:off x="1257300" y="3533775"/>
            <a:ext cx="457200" cy="228600"/>
          </a:xfrm>
          <a:prstGeom prst="rightArrow">
            <a:avLst>
              <a:gd name="adj1" fmla="val 50000"/>
              <a:gd name="adj2" fmla="val 50370"/>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0" name="Rectangle 14"/>
          <p:cNvSpPr>
            <a:spLocks noChangeArrowheads="1"/>
          </p:cNvSpPr>
          <p:nvPr/>
        </p:nvSpPr>
        <p:spPr bwMode="auto">
          <a:xfrm>
            <a:off x="1371600" y="3952875"/>
            <a:ext cx="1828800"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Median = 3</a:t>
            </a:r>
          </a:p>
        </p:txBody>
      </p:sp>
      <p:sp>
        <p:nvSpPr>
          <p:cNvPr id="101391" name="Line 15"/>
          <p:cNvSpPr>
            <a:spLocks noChangeShapeType="1"/>
          </p:cNvSpPr>
          <p:nvPr/>
        </p:nvSpPr>
        <p:spPr bwMode="auto">
          <a:xfrm>
            <a:off x="4970463" y="3190875"/>
            <a:ext cx="33543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01392" name="Rectangle 16"/>
          <p:cNvSpPr>
            <a:spLocks noChangeArrowheads="1"/>
          </p:cNvSpPr>
          <p:nvPr/>
        </p:nvSpPr>
        <p:spPr bwMode="auto">
          <a:xfrm>
            <a:off x="4648200" y="3114675"/>
            <a:ext cx="398462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800" b="1"/>
              <a:t>  0  1   2   3   4   5   6   7   8   9   10</a:t>
            </a:r>
          </a:p>
        </p:txBody>
      </p:sp>
      <p:sp>
        <p:nvSpPr>
          <p:cNvPr id="101393" name="Rectangle 17"/>
          <p:cNvSpPr>
            <a:spLocks noChangeArrowheads="1"/>
          </p:cNvSpPr>
          <p:nvPr/>
        </p:nvSpPr>
        <p:spPr bwMode="auto">
          <a:xfrm>
            <a:off x="4876800" y="2962275"/>
            <a:ext cx="3143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GB" altLang="en-US"/>
          </a:p>
        </p:txBody>
      </p:sp>
      <p:sp>
        <p:nvSpPr>
          <p:cNvPr id="101394" name="Oval 18"/>
          <p:cNvSpPr>
            <a:spLocks noChangeArrowheads="1"/>
          </p:cNvSpPr>
          <p:nvPr/>
        </p:nvSpPr>
        <p:spPr bwMode="auto">
          <a:xfrm>
            <a:off x="51054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5" name="Oval 19"/>
          <p:cNvSpPr>
            <a:spLocks noChangeArrowheads="1"/>
          </p:cNvSpPr>
          <p:nvPr/>
        </p:nvSpPr>
        <p:spPr bwMode="auto">
          <a:xfrm>
            <a:off x="54102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6" name="Oval 20"/>
          <p:cNvSpPr>
            <a:spLocks noChangeArrowheads="1"/>
          </p:cNvSpPr>
          <p:nvPr/>
        </p:nvSpPr>
        <p:spPr bwMode="auto">
          <a:xfrm>
            <a:off x="57150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7" name="Oval 21"/>
          <p:cNvSpPr>
            <a:spLocks noChangeArrowheads="1"/>
          </p:cNvSpPr>
          <p:nvPr/>
        </p:nvSpPr>
        <p:spPr bwMode="auto">
          <a:xfrm>
            <a:off x="60198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8" name="Oval 22"/>
          <p:cNvSpPr>
            <a:spLocks noChangeArrowheads="1"/>
          </p:cNvSpPr>
          <p:nvPr/>
        </p:nvSpPr>
        <p:spPr bwMode="auto">
          <a:xfrm>
            <a:off x="8001000" y="2962275"/>
            <a:ext cx="228600" cy="228600"/>
          </a:xfrm>
          <a:prstGeom prst="ellipse">
            <a:avLst/>
          </a:prstGeom>
          <a:solidFill>
            <a:schemeClr val="tx2"/>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01399" name="Rectangle 23"/>
          <p:cNvSpPr>
            <a:spLocks noChangeArrowheads="1"/>
          </p:cNvSpPr>
          <p:nvPr/>
        </p:nvSpPr>
        <p:spPr bwMode="auto">
          <a:xfrm>
            <a:off x="5715000" y="3952875"/>
            <a:ext cx="1828800"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Median = 3</a:t>
            </a:r>
          </a:p>
        </p:txBody>
      </p:sp>
    </p:spTree>
    <p:extLst>
      <p:ext uri="{BB962C8B-B14F-4D97-AF65-F5344CB8AC3E}">
        <p14:creationId xmlns:p14="http://schemas.microsoft.com/office/powerpoint/2010/main" val="3268206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ltLang="en-US"/>
              <a:t>Finding the Median</a:t>
            </a:r>
          </a:p>
        </p:txBody>
      </p:sp>
      <p:sp>
        <p:nvSpPr>
          <p:cNvPr id="102403" name="Rectangle 3"/>
          <p:cNvSpPr>
            <a:spLocks noGrp="1" noChangeArrowheads="1"/>
          </p:cNvSpPr>
          <p:nvPr>
            <p:ph type="body" idx="1"/>
          </p:nvPr>
        </p:nvSpPr>
        <p:spPr/>
        <p:txBody>
          <a:bodyPr>
            <a:normAutofit lnSpcReduction="10000"/>
          </a:bodyPr>
          <a:lstStyle/>
          <a:p>
            <a:r>
              <a:rPr lang="en-US" altLang="en-US" sz="2400" dirty="0"/>
              <a:t>The location of the median:</a:t>
            </a:r>
          </a:p>
          <a:p>
            <a:endParaRPr lang="en-US" altLang="en-US" sz="2400" dirty="0"/>
          </a:p>
          <a:p>
            <a:endParaRPr lang="en-US" altLang="en-US" sz="2400" dirty="0"/>
          </a:p>
          <a:p>
            <a:endParaRPr lang="en-US" altLang="en-US" sz="2400" dirty="0"/>
          </a:p>
          <a:p>
            <a:pPr lvl="1"/>
            <a:endParaRPr lang="en-US" altLang="en-US" sz="2000" dirty="0"/>
          </a:p>
          <a:p>
            <a:pPr lvl="1"/>
            <a:r>
              <a:rPr lang="en-US" altLang="en-US" sz="2000" dirty="0"/>
              <a:t>If the number of values is odd, the median is the middle number</a:t>
            </a:r>
          </a:p>
          <a:p>
            <a:pPr lvl="1"/>
            <a:r>
              <a:rPr lang="en-US" altLang="en-US" sz="2000" dirty="0"/>
              <a:t>If the number of values is even, the median is the average of the two middle numbers</a:t>
            </a:r>
          </a:p>
          <a:p>
            <a:pPr lvl="1"/>
            <a:endParaRPr lang="en-US" altLang="en-US" sz="2000" dirty="0"/>
          </a:p>
          <a:p>
            <a:pPr>
              <a:lnSpc>
                <a:spcPct val="150000"/>
              </a:lnSpc>
            </a:pPr>
            <a:r>
              <a:rPr lang="en-US" altLang="en-US" sz="2400" dirty="0"/>
              <a:t>Note that           is not the </a:t>
            </a:r>
            <a:r>
              <a:rPr lang="en-US" altLang="en-US" sz="2400" i="1" dirty="0">
                <a:solidFill>
                  <a:schemeClr val="folHlink"/>
                </a:solidFill>
              </a:rPr>
              <a:t>value</a:t>
            </a:r>
            <a:r>
              <a:rPr lang="en-US" altLang="en-US" sz="2400" dirty="0"/>
              <a:t> of the median, only the </a:t>
            </a:r>
            <a:r>
              <a:rPr lang="en-US" altLang="en-US" sz="2400" i="1" dirty="0">
                <a:solidFill>
                  <a:schemeClr val="folHlink"/>
                </a:solidFill>
              </a:rPr>
              <a:t>position</a:t>
            </a:r>
            <a:r>
              <a:rPr lang="en-US" altLang="en-US" sz="2400" dirty="0"/>
              <a:t> of the median in the ranked data</a:t>
            </a:r>
          </a:p>
          <a:p>
            <a:endParaRPr lang="en-US" altLang="en-US" sz="2400" dirty="0"/>
          </a:p>
        </p:txBody>
      </p:sp>
      <p:graphicFrame>
        <p:nvGraphicFramePr>
          <p:cNvPr id="102404" name="Object 4"/>
          <p:cNvGraphicFramePr>
            <a:graphicFrameLocks noChangeAspect="1"/>
          </p:cNvGraphicFramePr>
          <p:nvPr>
            <p:extLst>
              <p:ext uri="{D42A27DB-BD31-4B8C-83A1-F6EECF244321}">
                <p14:modId xmlns:p14="http://schemas.microsoft.com/office/powerpoint/2010/main" val="1903490957"/>
              </p:ext>
            </p:extLst>
          </p:nvPr>
        </p:nvGraphicFramePr>
        <p:xfrm>
          <a:off x="1187624" y="2348880"/>
          <a:ext cx="7086600" cy="787400"/>
        </p:xfrm>
        <a:graphic>
          <a:graphicData uri="http://schemas.openxmlformats.org/presentationml/2006/ole">
            <mc:AlternateContent xmlns:mc="http://schemas.openxmlformats.org/markup-compatibility/2006">
              <mc:Choice xmlns:v="urn:schemas-microsoft-com:vml" Requires="v">
                <p:oleObj name="Equation" r:id="rId3" imgW="3543120" imgH="393480" progId="Equation.3">
                  <p:embed/>
                </p:oleObj>
              </mc:Choice>
              <mc:Fallback>
                <p:oleObj name="Equation" r:id="rId3" imgW="354312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2348880"/>
                        <a:ext cx="7086600" cy="787400"/>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05" name="Object 5"/>
          <p:cNvGraphicFramePr>
            <a:graphicFrameLocks noChangeAspect="1"/>
          </p:cNvGraphicFramePr>
          <p:nvPr>
            <p:extLst>
              <p:ext uri="{D42A27DB-BD31-4B8C-83A1-F6EECF244321}">
                <p14:modId xmlns:p14="http://schemas.microsoft.com/office/powerpoint/2010/main" val="1109298331"/>
              </p:ext>
            </p:extLst>
          </p:nvPr>
        </p:nvGraphicFramePr>
        <p:xfrm>
          <a:off x="1979712" y="4797152"/>
          <a:ext cx="685800" cy="787400"/>
        </p:xfrm>
        <a:graphic>
          <a:graphicData uri="http://schemas.openxmlformats.org/presentationml/2006/ole">
            <mc:AlternateContent xmlns:mc="http://schemas.openxmlformats.org/markup-compatibility/2006">
              <mc:Choice xmlns:v="urn:schemas-microsoft-com:vml" Requires="v">
                <p:oleObj name="Equation" r:id="rId5" imgW="342720" imgH="393480" progId="Equation.3">
                  <p:embed/>
                </p:oleObj>
              </mc:Choice>
              <mc:Fallback>
                <p:oleObj name="Equation" r:id="rId5" imgW="34272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4797152"/>
                        <a:ext cx="685800" cy="787400"/>
                      </a:xfrm>
                      <a:prstGeom prst="rect">
                        <a:avLst/>
                      </a:prstGeom>
                      <a:noFill/>
                      <a:ln>
                        <a:noFill/>
                      </a:ln>
                      <a:effectLst/>
                      <a:extLst>
                        <a:ext uri="{909E8E84-426E-40DD-AFC4-6F175D3DCCD1}">
                          <a14:hiddenFill xmlns:a14="http://schemas.microsoft.com/office/drawing/2010/main">
                            <a:solidFill>
                              <a:srgbClr val="FDE0B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06" name="Rectangle 6"/>
          <p:cNvSpPr>
            <a:spLocks noChangeArrowheads="1"/>
          </p:cNvSpPr>
          <p:nvPr/>
        </p:nvSpPr>
        <p:spPr bwMode="auto">
          <a:xfrm>
            <a:off x="535323" y="4797152"/>
            <a:ext cx="8077200" cy="1295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extLst>
      <p:ext uri="{BB962C8B-B14F-4D97-AF65-F5344CB8AC3E}">
        <p14:creationId xmlns:p14="http://schemas.microsoft.com/office/powerpoint/2010/main" val="3648372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
          <p:cNvSpPr>
            <a:spLocks noGrp="1"/>
          </p:cNvSpPr>
          <p:nvPr>
            <p:ph type="sldNum" sz="quarter" idx="10"/>
          </p:nvPr>
        </p:nvSpPr>
        <p:spPr/>
        <p:txBody>
          <a:bodyPr/>
          <a:lstStyle/>
          <a:p>
            <a:fld id="{9A0A1DED-2B02-45C0-B098-8E3F00E58D20}" type="slidenum">
              <a:rPr lang="en-US" altLang="en-US"/>
              <a:pPr/>
              <a:t>12</a:t>
            </a:fld>
            <a:endParaRPr lang="en-US" altLang="en-US"/>
          </a:p>
        </p:txBody>
      </p:sp>
      <p:sp>
        <p:nvSpPr>
          <p:cNvPr id="58370" name="Rectangle 2"/>
          <p:cNvSpPr>
            <a:spLocks noGrp="1" noChangeArrowheads="1"/>
          </p:cNvSpPr>
          <p:nvPr>
            <p:ph type="title"/>
          </p:nvPr>
        </p:nvSpPr>
        <p:spPr>
          <a:xfrm>
            <a:off x="914400" y="332656"/>
            <a:ext cx="7793038" cy="666328"/>
          </a:xfrm>
        </p:spPr>
        <p:txBody>
          <a:bodyPr/>
          <a:lstStyle/>
          <a:p>
            <a:r>
              <a:rPr lang="en-US" altLang="en-US" dirty="0"/>
              <a:t>Mode</a:t>
            </a:r>
          </a:p>
        </p:txBody>
      </p:sp>
      <p:sp>
        <p:nvSpPr>
          <p:cNvPr id="58371" name="Rectangle 3"/>
          <p:cNvSpPr>
            <a:spLocks noGrp="1" noChangeArrowheads="1"/>
          </p:cNvSpPr>
          <p:nvPr>
            <p:ph type="body" idx="1"/>
          </p:nvPr>
        </p:nvSpPr>
        <p:spPr>
          <a:xfrm>
            <a:off x="762000" y="1524000"/>
            <a:ext cx="8077200" cy="4532313"/>
          </a:xfrm>
        </p:spPr>
        <p:txBody>
          <a:bodyPr/>
          <a:lstStyle/>
          <a:p>
            <a:pPr>
              <a:spcBef>
                <a:spcPct val="10000"/>
              </a:spcBef>
            </a:pPr>
            <a:r>
              <a:rPr lang="en-US" altLang="en-US"/>
              <a:t>A measure of central tendency</a:t>
            </a:r>
          </a:p>
          <a:p>
            <a:pPr>
              <a:spcBef>
                <a:spcPct val="10000"/>
              </a:spcBef>
            </a:pPr>
            <a:r>
              <a:rPr lang="en-US" altLang="en-US"/>
              <a:t>Value that occurs most often</a:t>
            </a:r>
          </a:p>
          <a:p>
            <a:pPr>
              <a:spcBef>
                <a:spcPct val="10000"/>
              </a:spcBef>
            </a:pPr>
            <a:r>
              <a:rPr lang="en-US" altLang="en-US"/>
              <a:t>Not affected by extreme values</a:t>
            </a:r>
          </a:p>
          <a:p>
            <a:pPr>
              <a:spcBef>
                <a:spcPct val="10000"/>
              </a:spcBef>
            </a:pPr>
            <a:r>
              <a:rPr lang="en-US" altLang="en-US"/>
              <a:t>Used for either numerical or categorical (nominal) data</a:t>
            </a:r>
          </a:p>
          <a:p>
            <a:pPr>
              <a:spcBef>
                <a:spcPct val="10000"/>
              </a:spcBef>
            </a:pPr>
            <a:r>
              <a:rPr lang="en-US" altLang="en-US"/>
              <a:t>There may be no mode</a:t>
            </a:r>
          </a:p>
          <a:p>
            <a:pPr>
              <a:spcBef>
                <a:spcPct val="10000"/>
              </a:spcBef>
            </a:pPr>
            <a:r>
              <a:rPr lang="en-US" altLang="en-US"/>
              <a:t>There may be several modes</a:t>
            </a:r>
          </a:p>
          <a:p>
            <a:endParaRPr lang="en-US" altLang="en-US"/>
          </a:p>
        </p:txBody>
      </p:sp>
      <p:sp>
        <p:nvSpPr>
          <p:cNvPr id="58372" name="Line 4"/>
          <p:cNvSpPr>
            <a:spLocks noChangeShapeType="1"/>
          </p:cNvSpPr>
          <p:nvPr/>
        </p:nvSpPr>
        <p:spPr bwMode="auto">
          <a:xfrm>
            <a:off x="768350" y="5576888"/>
            <a:ext cx="33543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58373" name="Rectangle 5"/>
          <p:cNvSpPr>
            <a:spLocks noChangeArrowheads="1"/>
          </p:cNvSpPr>
          <p:nvPr/>
        </p:nvSpPr>
        <p:spPr bwMode="auto">
          <a:xfrm>
            <a:off x="609600" y="5570538"/>
            <a:ext cx="5410200" cy="363537"/>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600" b="1"/>
              <a:t>0   1   2   3   4   5   6   7   8   9   10   11   12   13   14</a:t>
            </a:r>
            <a:r>
              <a:rPr lang="en-US" altLang="en-US" sz="1800" b="1"/>
              <a:t>   </a:t>
            </a:r>
          </a:p>
        </p:txBody>
      </p:sp>
      <p:sp>
        <p:nvSpPr>
          <p:cNvPr id="58374" name="Oval 6"/>
          <p:cNvSpPr>
            <a:spLocks noChangeArrowheads="1"/>
          </p:cNvSpPr>
          <p:nvPr/>
        </p:nvSpPr>
        <p:spPr bwMode="auto">
          <a:xfrm>
            <a:off x="914400"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75" name="Oval 7"/>
          <p:cNvSpPr>
            <a:spLocks noChangeArrowheads="1"/>
          </p:cNvSpPr>
          <p:nvPr/>
        </p:nvSpPr>
        <p:spPr bwMode="auto">
          <a:xfrm>
            <a:off x="15128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76" name="Oval 8"/>
          <p:cNvSpPr>
            <a:spLocks noChangeArrowheads="1"/>
          </p:cNvSpPr>
          <p:nvPr/>
        </p:nvSpPr>
        <p:spPr bwMode="auto">
          <a:xfrm>
            <a:off x="20462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77" name="Oval 9"/>
          <p:cNvSpPr>
            <a:spLocks noChangeArrowheads="1"/>
          </p:cNvSpPr>
          <p:nvPr/>
        </p:nvSpPr>
        <p:spPr bwMode="auto">
          <a:xfrm>
            <a:off x="26558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78" name="Oval 10"/>
          <p:cNvSpPr>
            <a:spLocks noChangeArrowheads="1"/>
          </p:cNvSpPr>
          <p:nvPr/>
        </p:nvSpPr>
        <p:spPr bwMode="auto">
          <a:xfrm>
            <a:off x="2046288" y="51196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79" name="Oval 11"/>
          <p:cNvSpPr>
            <a:spLocks noChangeArrowheads="1"/>
          </p:cNvSpPr>
          <p:nvPr/>
        </p:nvSpPr>
        <p:spPr bwMode="auto">
          <a:xfrm>
            <a:off x="31892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0" name="Oval 12"/>
          <p:cNvSpPr>
            <a:spLocks noChangeArrowheads="1"/>
          </p:cNvSpPr>
          <p:nvPr/>
        </p:nvSpPr>
        <p:spPr bwMode="auto">
          <a:xfrm>
            <a:off x="3189288" y="51196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1" name="Oval 13"/>
          <p:cNvSpPr>
            <a:spLocks noChangeArrowheads="1"/>
          </p:cNvSpPr>
          <p:nvPr/>
        </p:nvSpPr>
        <p:spPr bwMode="auto">
          <a:xfrm>
            <a:off x="3189288" y="48910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2" name="Rectangle 14"/>
          <p:cNvSpPr>
            <a:spLocks noChangeArrowheads="1"/>
          </p:cNvSpPr>
          <p:nvPr/>
        </p:nvSpPr>
        <p:spPr bwMode="auto">
          <a:xfrm>
            <a:off x="3482975" y="6175375"/>
            <a:ext cx="1698625"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Mode = 9</a:t>
            </a:r>
          </a:p>
        </p:txBody>
      </p:sp>
      <p:sp>
        <p:nvSpPr>
          <p:cNvPr id="58383" name="Oval 15"/>
          <p:cNvSpPr>
            <a:spLocks noChangeArrowheads="1"/>
          </p:cNvSpPr>
          <p:nvPr/>
        </p:nvSpPr>
        <p:spPr bwMode="auto">
          <a:xfrm>
            <a:off x="35702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4" name="AutoShape 16"/>
          <p:cNvSpPr>
            <a:spLocks noChangeArrowheads="1"/>
          </p:cNvSpPr>
          <p:nvPr/>
        </p:nvSpPr>
        <p:spPr bwMode="auto">
          <a:xfrm rot="16200000">
            <a:off x="3018632" y="5972968"/>
            <a:ext cx="609600" cy="398463"/>
          </a:xfrm>
          <a:prstGeom prst="rightArrow">
            <a:avLst>
              <a:gd name="adj1" fmla="val 31481"/>
              <a:gd name="adj2" fmla="val 38651"/>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5" name="Line 17"/>
          <p:cNvSpPr>
            <a:spLocks noChangeShapeType="1"/>
          </p:cNvSpPr>
          <p:nvPr/>
        </p:nvSpPr>
        <p:spPr bwMode="auto">
          <a:xfrm>
            <a:off x="3968750" y="5576888"/>
            <a:ext cx="12969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58386" name="Oval 18"/>
          <p:cNvSpPr>
            <a:spLocks noChangeArrowheads="1"/>
          </p:cNvSpPr>
          <p:nvPr/>
        </p:nvSpPr>
        <p:spPr bwMode="auto">
          <a:xfrm>
            <a:off x="43322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7" name="Oval 19"/>
          <p:cNvSpPr>
            <a:spLocks noChangeArrowheads="1"/>
          </p:cNvSpPr>
          <p:nvPr/>
        </p:nvSpPr>
        <p:spPr bwMode="auto">
          <a:xfrm>
            <a:off x="4332288" y="51196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8" name="Oval 20"/>
          <p:cNvSpPr>
            <a:spLocks noChangeArrowheads="1"/>
          </p:cNvSpPr>
          <p:nvPr/>
        </p:nvSpPr>
        <p:spPr bwMode="auto">
          <a:xfrm>
            <a:off x="47894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89" name="Oval 21"/>
          <p:cNvSpPr>
            <a:spLocks noChangeArrowheads="1"/>
          </p:cNvSpPr>
          <p:nvPr/>
        </p:nvSpPr>
        <p:spPr bwMode="auto">
          <a:xfrm>
            <a:off x="51704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0" name="Line 22"/>
          <p:cNvSpPr>
            <a:spLocks noChangeShapeType="1"/>
          </p:cNvSpPr>
          <p:nvPr/>
        </p:nvSpPr>
        <p:spPr bwMode="auto">
          <a:xfrm flipV="1">
            <a:off x="6477000" y="5576888"/>
            <a:ext cx="2209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58391" name="Rectangle 23"/>
          <p:cNvSpPr>
            <a:spLocks noChangeArrowheads="1"/>
          </p:cNvSpPr>
          <p:nvPr/>
        </p:nvSpPr>
        <p:spPr bwMode="auto">
          <a:xfrm>
            <a:off x="6477000" y="5503863"/>
            <a:ext cx="253682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800" b="1"/>
              <a:t>0   1   2   3   4   5   6</a:t>
            </a:r>
          </a:p>
        </p:txBody>
      </p:sp>
      <p:sp>
        <p:nvSpPr>
          <p:cNvPr id="58392" name="Oval 24"/>
          <p:cNvSpPr>
            <a:spLocks noChangeArrowheads="1"/>
          </p:cNvSpPr>
          <p:nvPr/>
        </p:nvSpPr>
        <p:spPr bwMode="auto">
          <a:xfrm>
            <a:off x="6553200"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3" name="Oval 25"/>
          <p:cNvSpPr>
            <a:spLocks noChangeArrowheads="1"/>
          </p:cNvSpPr>
          <p:nvPr/>
        </p:nvSpPr>
        <p:spPr bwMode="auto">
          <a:xfrm>
            <a:off x="6858000"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4" name="Oval 26"/>
          <p:cNvSpPr>
            <a:spLocks noChangeArrowheads="1"/>
          </p:cNvSpPr>
          <p:nvPr/>
        </p:nvSpPr>
        <p:spPr bwMode="auto">
          <a:xfrm>
            <a:off x="7162800"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5" name="Oval 27"/>
          <p:cNvSpPr>
            <a:spLocks noChangeArrowheads="1"/>
          </p:cNvSpPr>
          <p:nvPr/>
        </p:nvSpPr>
        <p:spPr bwMode="auto">
          <a:xfrm>
            <a:off x="7467600"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7" name="Oval 29"/>
          <p:cNvSpPr>
            <a:spLocks noChangeArrowheads="1"/>
          </p:cNvSpPr>
          <p:nvPr/>
        </p:nvSpPr>
        <p:spPr bwMode="auto">
          <a:xfrm>
            <a:off x="80660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8" name="Oval 30"/>
          <p:cNvSpPr>
            <a:spLocks noChangeArrowheads="1"/>
          </p:cNvSpPr>
          <p:nvPr/>
        </p:nvSpPr>
        <p:spPr bwMode="auto">
          <a:xfrm>
            <a:off x="8370888" y="5348288"/>
            <a:ext cx="228600" cy="228600"/>
          </a:xfrm>
          <a:prstGeom prst="ellipse">
            <a:avLst/>
          </a:prstGeom>
          <a:solidFill>
            <a:schemeClr val="fo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58399" name="Rectangle 31"/>
          <p:cNvSpPr>
            <a:spLocks noChangeArrowheads="1"/>
          </p:cNvSpPr>
          <p:nvPr/>
        </p:nvSpPr>
        <p:spPr bwMode="auto">
          <a:xfrm>
            <a:off x="6858000" y="6010275"/>
            <a:ext cx="1622425" cy="466725"/>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b="1"/>
              <a:t>No Mode</a:t>
            </a:r>
          </a:p>
        </p:txBody>
      </p:sp>
    </p:spTree>
    <p:extLst>
      <p:ext uri="{BB962C8B-B14F-4D97-AF65-F5344CB8AC3E}">
        <p14:creationId xmlns:p14="http://schemas.microsoft.com/office/powerpoint/2010/main" val="3837265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2"/>
          <p:cNvSpPr>
            <a:spLocks noGrp="1"/>
          </p:cNvSpPr>
          <p:nvPr>
            <p:ph type="sldNum" sz="quarter" idx="10"/>
          </p:nvPr>
        </p:nvSpPr>
        <p:spPr/>
        <p:txBody>
          <a:bodyPr/>
          <a:lstStyle/>
          <a:p>
            <a:fld id="{14688E83-011F-4152-92F3-9BDCE0CC3F3A}" type="slidenum">
              <a:rPr lang="en-US" altLang="en-US"/>
              <a:pPr/>
              <a:t>13</a:t>
            </a:fld>
            <a:endParaRPr lang="en-US" altLang="en-US"/>
          </a:p>
        </p:txBody>
      </p:sp>
      <p:sp>
        <p:nvSpPr>
          <p:cNvPr id="104450" name="Rectangle 2"/>
          <p:cNvSpPr>
            <a:spLocks noGrp="1" noChangeArrowheads="1"/>
          </p:cNvSpPr>
          <p:nvPr>
            <p:ph type="body" idx="4294967295"/>
          </p:nvPr>
        </p:nvSpPr>
        <p:spPr>
          <a:xfrm>
            <a:off x="914400" y="1600200"/>
            <a:ext cx="7772400" cy="1090613"/>
          </a:xfrm>
        </p:spPr>
        <p:txBody>
          <a:bodyPr/>
          <a:lstStyle/>
          <a:p>
            <a:pPr marL="342900" indent="-342900" defTabSz="914400"/>
            <a:r>
              <a:rPr lang="en-US" altLang="en-US" sz="2700"/>
              <a:t>Five houses on a hill by the beach</a:t>
            </a:r>
          </a:p>
        </p:txBody>
      </p:sp>
      <p:sp>
        <p:nvSpPr>
          <p:cNvPr id="104451" name="Rectangle 3"/>
          <p:cNvSpPr>
            <a:spLocks noGrp="1" noChangeArrowheads="1"/>
          </p:cNvSpPr>
          <p:nvPr>
            <p:ph type="title"/>
          </p:nvPr>
        </p:nvSpPr>
        <p:spPr>
          <a:xfrm>
            <a:off x="1600200" y="228600"/>
            <a:ext cx="6096000" cy="892175"/>
          </a:xfrm>
        </p:spPr>
        <p:txBody>
          <a:bodyPr/>
          <a:lstStyle/>
          <a:p>
            <a:pPr defTabSz="914400"/>
            <a:r>
              <a:rPr lang="en-US" altLang="en-US" sz="3600"/>
              <a:t> </a:t>
            </a:r>
            <a:r>
              <a:rPr lang="en-US" altLang="en-US"/>
              <a:t>Review Example</a:t>
            </a:r>
          </a:p>
        </p:txBody>
      </p:sp>
      <p:graphicFrame>
        <p:nvGraphicFramePr>
          <p:cNvPr id="104452" name="Object 4"/>
          <p:cNvGraphicFramePr>
            <a:graphicFrameLocks noChangeAspect="1"/>
          </p:cNvGraphicFramePr>
          <p:nvPr/>
        </p:nvGraphicFramePr>
        <p:xfrm>
          <a:off x="3043238" y="2286000"/>
          <a:ext cx="6100762" cy="4148138"/>
        </p:xfrm>
        <a:graphic>
          <a:graphicData uri="http://schemas.openxmlformats.org/presentationml/2006/ole">
            <mc:AlternateContent xmlns:mc="http://schemas.openxmlformats.org/markup-compatibility/2006">
              <mc:Choice xmlns:v="urn:schemas-microsoft-com:vml" Requires="v">
                <p:oleObj name="Drawing" r:id="rId3" imgW="6067440" imgH="4172040" progId="Presentations.Drawing.10">
                  <p:embed/>
                </p:oleObj>
              </mc:Choice>
              <mc:Fallback>
                <p:oleObj name="Drawing" r:id="rId3" imgW="6067440" imgH="4172040" progId="Presentations.Drawing.10">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3238" y="2286000"/>
                        <a:ext cx="6100762" cy="4148138"/>
                      </a:xfrm>
                      <a:prstGeom prst="rect">
                        <a:avLst/>
                      </a:prstGeom>
                      <a:noFill/>
                      <a:ln>
                        <a:noFill/>
                      </a:ln>
                      <a:effectLst/>
                      <a:extLst>
                        <a:ext uri="{909E8E84-426E-40DD-AFC4-6F175D3DCCD1}">
                          <a14:hiddenFill xmlns:a14="http://schemas.microsoft.com/office/drawing/2010/main">
                            <a:solidFill>
                              <a:srgbClr val="00C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453" name="Text Box 5"/>
          <p:cNvSpPr txBox="1">
            <a:spLocks noChangeArrowheads="1"/>
          </p:cNvSpPr>
          <p:nvPr/>
        </p:nvSpPr>
        <p:spPr bwMode="auto">
          <a:xfrm>
            <a:off x="533400" y="2743200"/>
            <a:ext cx="2286000" cy="277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2000" b="1"/>
              <a:t>House Prices: </a:t>
            </a:r>
            <a:br>
              <a:rPr lang="en-US" altLang="en-US" sz="2000" b="1"/>
            </a:br>
            <a:br>
              <a:rPr lang="en-US" altLang="en-US" sz="2000" b="1"/>
            </a:br>
            <a:r>
              <a:rPr lang="en-US" altLang="en-US" sz="2000" b="1"/>
              <a:t>  $2,000,000</a:t>
            </a:r>
            <a:br>
              <a:rPr lang="en-US" altLang="en-US" sz="2000" b="1"/>
            </a:br>
            <a:r>
              <a:rPr lang="en-US" altLang="en-US" sz="2000" b="1"/>
              <a:t>       500,000</a:t>
            </a:r>
            <a:br>
              <a:rPr lang="en-US" altLang="en-US" sz="2000" b="1"/>
            </a:br>
            <a:r>
              <a:rPr lang="en-US" altLang="en-US" sz="2000" b="1"/>
              <a:t>       300,000</a:t>
            </a:r>
            <a:br>
              <a:rPr lang="en-US" altLang="en-US" sz="2000" b="1"/>
            </a:br>
            <a:r>
              <a:rPr lang="en-US" altLang="en-US" sz="2000" b="1"/>
              <a:t>       100,000</a:t>
            </a:r>
            <a:br>
              <a:rPr lang="en-US" altLang="en-US" sz="2000" b="1"/>
            </a:br>
            <a:r>
              <a:rPr lang="en-US" altLang="en-US" sz="2000" b="1"/>
              <a:t>       100,000</a:t>
            </a:r>
            <a:endParaRPr lang="en-US" altLang="en-US" sz="1800" b="1"/>
          </a:p>
          <a:p>
            <a:pPr eaLnBrk="0" hangingPunct="0">
              <a:spcBef>
                <a:spcPct val="50000"/>
              </a:spcBef>
            </a:pPr>
            <a:endParaRPr lang="en-US" altLang="en-US"/>
          </a:p>
        </p:txBody>
      </p:sp>
      <p:sp>
        <p:nvSpPr>
          <p:cNvPr id="104454" name="Rectangle 6"/>
          <p:cNvSpPr>
            <a:spLocks noChangeArrowheads="1"/>
          </p:cNvSpPr>
          <p:nvPr/>
        </p:nvSpPr>
        <p:spPr bwMode="auto">
          <a:xfrm>
            <a:off x="7696200" y="4876800"/>
            <a:ext cx="1066800" cy="11430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pic>
        <p:nvPicPr>
          <p:cNvPr id="104455" name="Picture 7" descr="j023739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20000" y="4876800"/>
            <a:ext cx="1092200" cy="1066800"/>
          </a:xfrm>
          <a:prstGeom prst="rect">
            <a:avLst/>
          </a:prstGeom>
          <a:noFill/>
          <a:extLst>
            <a:ext uri="{909E8E84-426E-40DD-AFC4-6F175D3DCCD1}">
              <a14:hiddenFill xmlns:a14="http://schemas.microsoft.com/office/drawing/2010/main">
                <a:solidFill>
                  <a:srgbClr val="FFFFFF"/>
                </a:solidFill>
              </a14:hiddenFill>
            </a:ext>
          </a:extLst>
        </p:spPr>
      </p:pic>
      <p:sp>
        <p:nvSpPr>
          <p:cNvPr id="104456" name="Freeform 8"/>
          <p:cNvSpPr>
            <a:spLocks/>
          </p:cNvSpPr>
          <p:nvPr/>
        </p:nvSpPr>
        <p:spPr bwMode="auto">
          <a:xfrm>
            <a:off x="7239000" y="58674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04457" name="Freeform 9"/>
          <p:cNvSpPr>
            <a:spLocks/>
          </p:cNvSpPr>
          <p:nvPr/>
        </p:nvSpPr>
        <p:spPr bwMode="auto">
          <a:xfrm>
            <a:off x="7162800" y="59436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04458" name="Freeform 10"/>
          <p:cNvSpPr>
            <a:spLocks/>
          </p:cNvSpPr>
          <p:nvPr/>
        </p:nvSpPr>
        <p:spPr bwMode="auto">
          <a:xfrm>
            <a:off x="7086600" y="60198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04459" name="Freeform 11"/>
          <p:cNvSpPr>
            <a:spLocks/>
          </p:cNvSpPr>
          <p:nvPr/>
        </p:nvSpPr>
        <p:spPr bwMode="auto">
          <a:xfrm>
            <a:off x="6858000" y="61722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04460" name="Freeform 12"/>
          <p:cNvSpPr>
            <a:spLocks/>
          </p:cNvSpPr>
          <p:nvPr/>
        </p:nvSpPr>
        <p:spPr bwMode="auto">
          <a:xfrm>
            <a:off x="6781800" y="62484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04461" name="Freeform 13"/>
          <p:cNvSpPr>
            <a:spLocks/>
          </p:cNvSpPr>
          <p:nvPr/>
        </p:nvSpPr>
        <p:spPr bwMode="auto">
          <a:xfrm>
            <a:off x="6705600" y="6324600"/>
            <a:ext cx="1676400" cy="76200"/>
          </a:xfrm>
          <a:custGeom>
            <a:avLst/>
            <a:gdLst>
              <a:gd name="T0" fmla="*/ 0 w 1536"/>
              <a:gd name="T1" fmla="*/ 144 h 144"/>
              <a:gd name="T2" fmla="*/ 384 w 1536"/>
              <a:gd name="T3" fmla="*/ 0 h 144"/>
              <a:gd name="T4" fmla="*/ 768 w 1536"/>
              <a:gd name="T5" fmla="*/ 144 h 144"/>
              <a:gd name="T6" fmla="*/ 1152 w 1536"/>
              <a:gd name="T7" fmla="*/ 0 h 144"/>
              <a:gd name="T8" fmla="*/ 1536 w 1536"/>
              <a:gd name="T9" fmla="*/ 144 h 144"/>
            </a:gdLst>
            <a:ahLst/>
            <a:cxnLst>
              <a:cxn ang="0">
                <a:pos x="T0" y="T1"/>
              </a:cxn>
              <a:cxn ang="0">
                <a:pos x="T2" y="T3"/>
              </a:cxn>
              <a:cxn ang="0">
                <a:pos x="T4" y="T5"/>
              </a:cxn>
              <a:cxn ang="0">
                <a:pos x="T6" y="T7"/>
              </a:cxn>
              <a:cxn ang="0">
                <a:pos x="T8" y="T9"/>
              </a:cxn>
            </a:cxnLst>
            <a:rect l="0" t="0" r="r" b="b"/>
            <a:pathLst>
              <a:path w="1536" h="144">
                <a:moveTo>
                  <a:pt x="0" y="144"/>
                </a:moveTo>
                <a:cubicBezTo>
                  <a:pt x="128" y="72"/>
                  <a:pt x="256" y="0"/>
                  <a:pt x="384" y="0"/>
                </a:cubicBezTo>
                <a:cubicBezTo>
                  <a:pt x="512" y="0"/>
                  <a:pt x="640" y="144"/>
                  <a:pt x="768" y="144"/>
                </a:cubicBezTo>
                <a:cubicBezTo>
                  <a:pt x="896" y="144"/>
                  <a:pt x="1024" y="0"/>
                  <a:pt x="1152" y="0"/>
                </a:cubicBezTo>
                <a:cubicBezTo>
                  <a:pt x="1280" y="0"/>
                  <a:pt x="1408" y="72"/>
                  <a:pt x="1536" y="144"/>
                </a:cubicBezTo>
              </a:path>
            </a:pathLst>
          </a:custGeom>
          <a:noFill/>
          <a:ln w="19050" cap="flat" cmpd="sng">
            <a:solidFill>
              <a:schemeClr val="folHlink"/>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Tree>
    <p:extLst>
      <p:ext uri="{BB962C8B-B14F-4D97-AF65-F5344CB8AC3E}">
        <p14:creationId xmlns:p14="http://schemas.microsoft.com/office/powerpoint/2010/main" val="39877006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D41907FA-4EBB-46C3-86D4-140657A4599D}" type="slidenum">
              <a:rPr lang="en-US" altLang="en-US"/>
              <a:pPr/>
              <a:t>14</a:t>
            </a:fld>
            <a:endParaRPr lang="en-US" altLang="en-US"/>
          </a:p>
        </p:txBody>
      </p:sp>
      <p:sp>
        <p:nvSpPr>
          <p:cNvPr id="105474" name="Rectangle 2"/>
          <p:cNvSpPr>
            <a:spLocks noGrp="1" noChangeArrowheads="1"/>
          </p:cNvSpPr>
          <p:nvPr>
            <p:ph type="title"/>
          </p:nvPr>
        </p:nvSpPr>
        <p:spPr>
          <a:xfrm>
            <a:off x="1527312" y="332656"/>
            <a:ext cx="6742113" cy="534888"/>
          </a:xfrm>
        </p:spPr>
        <p:txBody>
          <a:bodyPr>
            <a:normAutofit/>
          </a:bodyPr>
          <a:lstStyle/>
          <a:p>
            <a:pPr defTabSz="914400">
              <a:lnSpc>
                <a:spcPct val="80000"/>
              </a:lnSpc>
            </a:pPr>
            <a:r>
              <a:rPr lang="en-US" altLang="en-US" sz="2800" dirty="0"/>
              <a:t>Review Example: Summary Statistics</a:t>
            </a:r>
          </a:p>
        </p:txBody>
      </p:sp>
      <p:sp>
        <p:nvSpPr>
          <p:cNvPr id="105475" name="Rectangle 3"/>
          <p:cNvSpPr>
            <a:spLocks noGrp="1" noChangeArrowheads="1"/>
          </p:cNvSpPr>
          <p:nvPr>
            <p:ph type="body" idx="4294967295"/>
          </p:nvPr>
        </p:nvSpPr>
        <p:spPr>
          <a:xfrm>
            <a:off x="2895600" y="2015433"/>
            <a:ext cx="6248400" cy="4114800"/>
          </a:xfrm>
        </p:spPr>
        <p:txBody>
          <a:bodyPr>
            <a:normAutofit lnSpcReduction="10000"/>
          </a:bodyPr>
          <a:lstStyle/>
          <a:p>
            <a:pPr marL="342900" indent="-342900" defTabSz="914400"/>
            <a:r>
              <a:rPr lang="en-US" altLang="en-US" sz="2700" b="1" dirty="0"/>
              <a:t>Mean:</a:t>
            </a:r>
            <a:r>
              <a:rPr lang="en-US" altLang="en-US" sz="2700" dirty="0"/>
              <a:t>    ($3,000,000/5)  </a:t>
            </a:r>
          </a:p>
          <a:p>
            <a:pPr marL="342900" indent="-342900" defTabSz="914400">
              <a:buFont typeface="Wingdings" pitchFamily="2" charset="2"/>
              <a:buNone/>
            </a:pPr>
            <a:r>
              <a:rPr lang="en-US" altLang="en-US" sz="2700" dirty="0"/>
              <a:t>			 =  </a:t>
            </a:r>
            <a:r>
              <a:rPr lang="en-US" altLang="en-US" sz="2700" b="1" dirty="0">
                <a:solidFill>
                  <a:schemeClr val="folHlink"/>
                </a:solidFill>
              </a:rPr>
              <a:t>$600,000</a:t>
            </a:r>
          </a:p>
          <a:p>
            <a:pPr marL="342900" indent="-342900" defTabSz="914400"/>
            <a:endParaRPr lang="en-US" altLang="en-US" sz="2700" dirty="0">
              <a:solidFill>
                <a:schemeClr val="hlink"/>
              </a:solidFill>
            </a:endParaRPr>
          </a:p>
          <a:p>
            <a:pPr marL="342900" indent="-342900" defTabSz="914400"/>
            <a:r>
              <a:rPr lang="en-US" altLang="en-US" sz="2700" b="1" dirty="0"/>
              <a:t>Median:</a:t>
            </a:r>
            <a:r>
              <a:rPr lang="en-US" altLang="en-US" sz="2700" dirty="0"/>
              <a:t>  middle value of ranked data </a:t>
            </a:r>
            <a:br>
              <a:rPr lang="en-US" altLang="en-US" sz="2700" dirty="0"/>
            </a:br>
            <a:r>
              <a:rPr lang="en-US" altLang="en-US" sz="2700" dirty="0"/>
              <a:t>                 = </a:t>
            </a:r>
            <a:r>
              <a:rPr lang="en-US" altLang="en-US" sz="2700" b="1" dirty="0">
                <a:solidFill>
                  <a:schemeClr val="folHlink"/>
                </a:solidFill>
              </a:rPr>
              <a:t>$300,000</a:t>
            </a:r>
          </a:p>
          <a:p>
            <a:pPr marL="342900" indent="-342900" defTabSz="914400"/>
            <a:endParaRPr lang="en-US" altLang="en-US" sz="2700" dirty="0">
              <a:solidFill>
                <a:schemeClr val="folHlink"/>
              </a:solidFill>
            </a:endParaRPr>
          </a:p>
          <a:p>
            <a:pPr marL="342900" indent="-342900" defTabSz="914400"/>
            <a:r>
              <a:rPr lang="en-US" altLang="en-US" sz="2700" b="1" dirty="0"/>
              <a:t>Mode:</a:t>
            </a:r>
            <a:r>
              <a:rPr lang="en-US" altLang="en-US" sz="2700" dirty="0"/>
              <a:t>  most frequent value </a:t>
            </a:r>
            <a:br>
              <a:rPr lang="en-US" altLang="en-US" sz="2700" dirty="0"/>
            </a:br>
            <a:r>
              <a:rPr lang="en-US" altLang="en-US" sz="2700" dirty="0"/>
              <a:t>                = </a:t>
            </a:r>
            <a:r>
              <a:rPr lang="en-US" altLang="en-US" sz="2700" b="1" dirty="0">
                <a:solidFill>
                  <a:schemeClr val="folHlink"/>
                </a:solidFill>
              </a:rPr>
              <a:t>$100,000</a:t>
            </a:r>
          </a:p>
        </p:txBody>
      </p:sp>
      <p:sp>
        <p:nvSpPr>
          <p:cNvPr id="105476" name="Text Box 4"/>
          <p:cNvSpPr txBox="1">
            <a:spLocks noChangeArrowheads="1"/>
          </p:cNvSpPr>
          <p:nvPr/>
        </p:nvSpPr>
        <p:spPr bwMode="auto">
          <a:xfrm>
            <a:off x="251520" y="1998689"/>
            <a:ext cx="2551584" cy="2708434"/>
          </a:xfrm>
          <a:prstGeom prst="rect">
            <a:avLst/>
          </a:prstGeom>
          <a:solidFill>
            <a:srgbClr val="FDE0BD"/>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en-US" sz="2000" b="1" dirty="0"/>
              <a:t>  House Prices: </a:t>
            </a:r>
            <a:br>
              <a:rPr lang="en-US" altLang="en-US" sz="2000" b="1" dirty="0"/>
            </a:br>
            <a:br>
              <a:rPr lang="en-US" altLang="en-US" sz="2000" b="1" dirty="0"/>
            </a:br>
            <a:r>
              <a:rPr lang="en-US" altLang="en-US" sz="2000" b="1" dirty="0"/>
              <a:t>         $2,000,000</a:t>
            </a:r>
          </a:p>
          <a:p>
            <a:pPr eaLnBrk="0" hangingPunct="0"/>
            <a:r>
              <a:rPr lang="en-US" altLang="en-US" sz="2000" b="1" dirty="0"/>
              <a:t>              500,000</a:t>
            </a:r>
            <a:br>
              <a:rPr lang="en-US" altLang="en-US" sz="2000" b="1" dirty="0"/>
            </a:br>
            <a:r>
              <a:rPr lang="en-US" altLang="en-US" sz="2000" b="1" dirty="0"/>
              <a:t>              300,000</a:t>
            </a:r>
            <a:br>
              <a:rPr lang="en-US" altLang="en-US" sz="2000" b="1" dirty="0"/>
            </a:br>
            <a:r>
              <a:rPr lang="en-US" altLang="en-US" sz="2000" b="1" dirty="0"/>
              <a:t>              100,000</a:t>
            </a:r>
            <a:br>
              <a:rPr lang="en-US" altLang="en-US" sz="2000" b="1" dirty="0"/>
            </a:br>
            <a:r>
              <a:rPr lang="en-US" altLang="en-US" sz="2000" b="1" dirty="0"/>
              <a:t>           </a:t>
            </a:r>
            <a:r>
              <a:rPr lang="en-US" altLang="en-US" sz="2000" b="1" u="sng" dirty="0"/>
              <a:t>   100,000</a:t>
            </a:r>
          </a:p>
          <a:p>
            <a:pPr eaLnBrk="0" hangingPunct="0">
              <a:spcBef>
                <a:spcPct val="50000"/>
              </a:spcBef>
            </a:pPr>
            <a:r>
              <a:rPr lang="en-US" altLang="en-US" sz="2000" dirty="0"/>
              <a:t>Sum  </a:t>
            </a:r>
            <a:r>
              <a:rPr lang="en-US" altLang="en-US" sz="2000" b="1" dirty="0"/>
              <a:t>$3,000,000</a:t>
            </a:r>
          </a:p>
        </p:txBody>
      </p:sp>
    </p:spTree>
    <p:extLst>
      <p:ext uri="{BB962C8B-B14F-4D97-AF65-F5344CB8AC3E}">
        <p14:creationId xmlns:p14="http://schemas.microsoft.com/office/powerpoint/2010/main" val="278410222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Mean, median, mode and range</a:t>
            </a:r>
          </a:p>
        </p:txBody>
      </p:sp>
      <p:sp>
        <p:nvSpPr>
          <p:cNvPr id="3" name="Content Placeholder 2"/>
          <p:cNvSpPr>
            <a:spLocks noGrp="1"/>
          </p:cNvSpPr>
          <p:nvPr>
            <p:ph sz="quarter" idx="1"/>
          </p:nvPr>
        </p:nvSpPr>
        <p:spPr/>
        <p:txBody>
          <a:bodyPr>
            <a:normAutofit/>
          </a:bodyPr>
          <a:lstStyle/>
          <a:p>
            <a:r>
              <a:rPr lang="en-ZA" sz="2400" dirty="0"/>
              <a:t>Mean 	= the average value</a:t>
            </a:r>
          </a:p>
          <a:p>
            <a:r>
              <a:rPr lang="en-ZA" sz="2400" dirty="0"/>
              <a:t>Median 	= the middle value in an </a:t>
            </a:r>
            <a:r>
              <a:rPr lang="en-ZA" sz="2400" i="1" dirty="0"/>
              <a:t>ordered</a:t>
            </a:r>
            <a:r>
              <a:rPr lang="en-ZA" sz="2400" dirty="0"/>
              <a:t> list of data</a:t>
            </a:r>
          </a:p>
          <a:p>
            <a:r>
              <a:rPr lang="en-ZA" sz="2400" dirty="0"/>
              <a:t>Mode	= the most common value</a:t>
            </a:r>
          </a:p>
          <a:p>
            <a:r>
              <a:rPr lang="en-ZA" sz="2400" dirty="0"/>
              <a:t>Range	= difference between highest and lowest value</a:t>
            </a:r>
          </a:p>
          <a:p>
            <a:endParaRPr lang="en-ZA" sz="2400" dirty="0"/>
          </a:p>
          <a:p>
            <a:pPr marL="0" indent="0">
              <a:buNone/>
            </a:pPr>
            <a:r>
              <a:rPr lang="en-ZA" sz="2400" dirty="0"/>
              <a:t>Example: If we calculated the height of a class and we found:</a:t>
            </a:r>
          </a:p>
          <a:p>
            <a:pPr marL="0" indent="0">
              <a:buNone/>
            </a:pPr>
            <a:endParaRPr lang="en-ZA" sz="2000" dirty="0"/>
          </a:p>
          <a:p>
            <a:pPr marL="0" indent="0">
              <a:buNone/>
            </a:pPr>
            <a:r>
              <a:rPr lang="en-ZA" sz="1600" dirty="0"/>
              <a:t>In cm: 160, 162, 164, 164, 165, 165, 165, 180, 190</a:t>
            </a:r>
          </a:p>
          <a:p>
            <a:pPr marL="0" indent="0">
              <a:buNone/>
            </a:pPr>
            <a:r>
              <a:rPr lang="en-ZA" sz="1600" dirty="0"/>
              <a:t>Mean =	 (160+160+162+163+164+164+165+165+165+180+190)/9		= 167</a:t>
            </a:r>
          </a:p>
          <a:p>
            <a:pPr marL="0" indent="0">
              <a:buNone/>
            </a:pPr>
            <a:r>
              <a:rPr lang="en-ZA" sz="1600" dirty="0"/>
              <a:t>Median =	160+160+162+163+164+</a:t>
            </a:r>
            <a:r>
              <a:rPr lang="en-ZA" sz="1600" b="1" dirty="0">
                <a:solidFill>
                  <a:srgbClr val="FF0000"/>
                </a:solidFill>
              </a:rPr>
              <a:t>164</a:t>
            </a:r>
            <a:r>
              <a:rPr lang="en-ZA" sz="1600" dirty="0"/>
              <a:t>+165+165+165+180+190		= 164</a:t>
            </a:r>
          </a:p>
          <a:p>
            <a:pPr marL="0" indent="0">
              <a:buNone/>
            </a:pPr>
            <a:r>
              <a:rPr lang="en-ZA" sz="1600" dirty="0"/>
              <a:t>Mode= 160+160+162+163+164+164+</a:t>
            </a:r>
            <a:r>
              <a:rPr lang="en-ZA" sz="1600" b="1" dirty="0">
                <a:solidFill>
                  <a:srgbClr val="FF0000"/>
                </a:solidFill>
              </a:rPr>
              <a:t>165+165+165</a:t>
            </a:r>
            <a:r>
              <a:rPr lang="en-ZA" sz="1600" dirty="0"/>
              <a:t>+180+190		=165</a:t>
            </a:r>
          </a:p>
          <a:p>
            <a:pPr marL="0" indent="0">
              <a:buNone/>
            </a:pPr>
            <a:r>
              <a:rPr lang="en-ZA" sz="1600" dirty="0"/>
              <a:t>Range= 190 – 160							=30</a:t>
            </a:r>
          </a:p>
        </p:txBody>
      </p:sp>
      <p:sp>
        <p:nvSpPr>
          <p:cNvPr id="4" name="TextBox 3"/>
          <p:cNvSpPr txBox="1"/>
          <p:nvPr/>
        </p:nvSpPr>
        <p:spPr>
          <a:xfrm>
            <a:off x="1547664" y="6097651"/>
            <a:ext cx="7083991" cy="584775"/>
          </a:xfrm>
          <a:prstGeom prst="rect">
            <a:avLst/>
          </a:prstGeom>
          <a:solidFill>
            <a:srgbClr val="FFFF00"/>
          </a:solidFill>
        </p:spPr>
        <p:txBody>
          <a:bodyPr wrap="none" rtlCol="0">
            <a:spAutoFit/>
          </a:bodyPr>
          <a:lstStyle/>
          <a:p>
            <a:r>
              <a:rPr lang="en-ZA" sz="1600" dirty="0"/>
              <a:t>If you are still confused about how to calculate the mean, median and mode,</a:t>
            </a:r>
          </a:p>
          <a:p>
            <a:r>
              <a:rPr lang="en-ZA" sz="1600" dirty="0"/>
              <a:t>watch this 4min video on YouTube: </a:t>
            </a:r>
            <a:r>
              <a:rPr lang="en-ZA" sz="1000" dirty="0">
                <a:hlinkClick r:id="rId3"/>
              </a:rPr>
              <a:t>http://www.youtube.com/watch?v=k3aKKasOmIw</a:t>
            </a:r>
            <a:endParaRPr lang="en-ZA" sz="1600" dirty="0"/>
          </a:p>
        </p:txBody>
      </p:sp>
    </p:spTree>
    <p:extLst>
      <p:ext uri="{BB962C8B-B14F-4D97-AF65-F5344CB8AC3E}">
        <p14:creationId xmlns:p14="http://schemas.microsoft.com/office/powerpoint/2010/main" val="185921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F6C3CCA9-2347-462C-A27D-74C3B26EA496}" type="slidenum">
              <a:rPr lang="en-US" altLang="en-US"/>
              <a:pPr/>
              <a:t>16</a:t>
            </a:fld>
            <a:endParaRPr lang="en-US" altLang="en-US"/>
          </a:p>
        </p:txBody>
      </p:sp>
      <p:sp>
        <p:nvSpPr>
          <p:cNvPr id="106498" name="Rectangle 2"/>
          <p:cNvSpPr>
            <a:spLocks noGrp="1" noChangeArrowheads="1"/>
          </p:cNvSpPr>
          <p:nvPr>
            <p:ph type="body" idx="4294967295"/>
          </p:nvPr>
        </p:nvSpPr>
        <p:spPr>
          <a:xfrm>
            <a:off x="1676400" y="1828800"/>
            <a:ext cx="6324600" cy="4114800"/>
          </a:xfrm>
        </p:spPr>
        <p:txBody>
          <a:bodyPr/>
          <a:lstStyle/>
          <a:p>
            <a:pPr marL="342900" indent="-342900" defTabSz="914400"/>
            <a:r>
              <a:rPr lang="en-US" altLang="en-US" b="1" dirty="0">
                <a:solidFill>
                  <a:schemeClr val="folHlink"/>
                </a:solidFill>
              </a:rPr>
              <a:t>Mean</a:t>
            </a:r>
            <a:r>
              <a:rPr lang="en-US" altLang="en-US" dirty="0">
                <a:solidFill>
                  <a:schemeClr val="folHlink"/>
                </a:solidFill>
              </a:rPr>
              <a:t> </a:t>
            </a:r>
            <a:r>
              <a:rPr lang="en-US" altLang="en-US" dirty="0"/>
              <a:t>is generally used, unless extreme values (outliers) exist</a:t>
            </a:r>
          </a:p>
          <a:p>
            <a:pPr marL="342900" indent="-342900" defTabSz="914400">
              <a:spcBef>
                <a:spcPct val="55000"/>
              </a:spcBef>
            </a:pPr>
            <a:r>
              <a:rPr lang="en-US" altLang="en-US" dirty="0"/>
              <a:t>Then </a:t>
            </a:r>
            <a:r>
              <a:rPr lang="en-US" altLang="en-US" b="1" dirty="0">
                <a:solidFill>
                  <a:schemeClr val="folHlink"/>
                </a:solidFill>
              </a:rPr>
              <a:t>median</a:t>
            </a:r>
            <a:r>
              <a:rPr lang="en-US" altLang="en-US" dirty="0">
                <a:solidFill>
                  <a:schemeClr val="folHlink"/>
                </a:solidFill>
              </a:rPr>
              <a:t> </a:t>
            </a:r>
            <a:r>
              <a:rPr lang="en-US" altLang="en-US" dirty="0"/>
              <a:t>is often used, since the median is not sensitive to extreme values.</a:t>
            </a:r>
          </a:p>
          <a:p>
            <a:pPr marL="742950" lvl="1" indent="-285750" defTabSz="914400"/>
            <a:r>
              <a:rPr lang="en-US" altLang="en-US" dirty="0">
                <a:solidFill>
                  <a:schemeClr val="hlink"/>
                </a:solidFill>
              </a:rPr>
              <a:t>Example:</a:t>
            </a:r>
            <a:r>
              <a:rPr lang="en-US" altLang="en-US" dirty="0"/>
              <a:t> Median home prices may be reported for a region – less sensitive to outliers</a:t>
            </a:r>
          </a:p>
        </p:txBody>
      </p:sp>
      <p:sp>
        <p:nvSpPr>
          <p:cNvPr id="106499" name="Rectangle 3"/>
          <p:cNvSpPr>
            <a:spLocks noGrp="1" noChangeArrowheads="1"/>
          </p:cNvSpPr>
          <p:nvPr>
            <p:ph type="title"/>
          </p:nvPr>
        </p:nvSpPr>
        <p:spPr>
          <a:xfrm>
            <a:off x="971600" y="332656"/>
            <a:ext cx="7793038" cy="678904"/>
          </a:xfrm>
          <a:noFill/>
          <a:ln/>
        </p:spPr>
        <p:txBody>
          <a:bodyPr/>
          <a:lstStyle/>
          <a:p>
            <a:pPr defTabSz="914400">
              <a:lnSpc>
                <a:spcPct val="80000"/>
              </a:lnSpc>
            </a:pPr>
            <a:r>
              <a:rPr lang="en-US" altLang="en-US" dirty="0"/>
              <a:t> </a:t>
            </a:r>
            <a:r>
              <a:rPr lang="en-US" altLang="en-US" sz="2800" dirty="0"/>
              <a:t>Which measure of location is the “best”?</a:t>
            </a:r>
          </a:p>
        </p:txBody>
      </p:sp>
    </p:spTree>
    <p:extLst>
      <p:ext uri="{BB962C8B-B14F-4D97-AF65-F5344CB8AC3E}">
        <p14:creationId xmlns:p14="http://schemas.microsoft.com/office/powerpoint/2010/main" val="289606133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3"/>
          <p:cNvSpPr>
            <a:spLocks noGrp="1"/>
          </p:cNvSpPr>
          <p:nvPr>
            <p:ph type="sldNum" sz="quarter" idx="10"/>
          </p:nvPr>
        </p:nvSpPr>
        <p:spPr/>
        <p:txBody>
          <a:bodyPr/>
          <a:lstStyle/>
          <a:p>
            <a:fld id="{DED60B16-2345-495C-ABA6-F253EE6D0C35}" type="slidenum">
              <a:rPr lang="en-US" altLang="en-US"/>
              <a:pPr/>
              <a:t>17</a:t>
            </a:fld>
            <a:endParaRPr lang="en-US" altLang="en-US"/>
          </a:p>
        </p:txBody>
      </p:sp>
      <p:sp>
        <p:nvSpPr>
          <p:cNvPr id="112642" name="Rectangle 2"/>
          <p:cNvSpPr>
            <a:spLocks noGrp="1" noChangeArrowheads="1"/>
          </p:cNvSpPr>
          <p:nvPr>
            <p:ph type="title"/>
          </p:nvPr>
        </p:nvSpPr>
        <p:spPr/>
        <p:txBody>
          <a:bodyPr/>
          <a:lstStyle/>
          <a:p>
            <a:r>
              <a:rPr lang="en-US" altLang="en-US"/>
              <a:t>Range</a:t>
            </a:r>
          </a:p>
        </p:txBody>
      </p:sp>
      <p:sp>
        <p:nvSpPr>
          <p:cNvPr id="112643" name="Rectangle 3"/>
          <p:cNvSpPr>
            <a:spLocks noGrp="1" noChangeArrowheads="1"/>
          </p:cNvSpPr>
          <p:nvPr>
            <p:ph type="body" idx="1"/>
          </p:nvPr>
        </p:nvSpPr>
        <p:spPr>
          <a:xfrm>
            <a:off x="838200" y="1752600"/>
            <a:ext cx="8077200" cy="4532313"/>
          </a:xfrm>
        </p:spPr>
        <p:txBody>
          <a:bodyPr/>
          <a:lstStyle/>
          <a:p>
            <a:r>
              <a:rPr lang="en-US" altLang="en-US"/>
              <a:t>Simplest measure of variation</a:t>
            </a:r>
          </a:p>
          <a:p>
            <a:r>
              <a:rPr lang="en-US" altLang="en-US"/>
              <a:t>Difference between the largest and the smallest values in a set of data:</a:t>
            </a:r>
          </a:p>
          <a:p>
            <a:endParaRPr lang="en-US" altLang="en-US"/>
          </a:p>
          <a:p>
            <a:pPr>
              <a:lnSpc>
                <a:spcPct val="110000"/>
              </a:lnSpc>
            </a:pPr>
            <a:endParaRPr lang="en-US" altLang="en-US"/>
          </a:p>
        </p:txBody>
      </p:sp>
      <p:sp>
        <p:nvSpPr>
          <p:cNvPr id="112644" name="Rectangle 4"/>
          <p:cNvSpPr>
            <a:spLocks noChangeArrowheads="1"/>
          </p:cNvSpPr>
          <p:nvPr/>
        </p:nvSpPr>
        <p:spPr bwMode="auto">
          <a:xfrm>
            <a:off x="1981200" y="3352800"/>
            <a:ext cx="5105400" cy="904875"/>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lnSpc>
                <a:spcPct val="140000"/>
              </a:lnSpc>
              <a:spcBef>
                <a:spcPct val="50000"/>
              </a:spcBef>
            </a:pPr>
            <a:r>
              <a:rPr lang="en-US" altLang="en-US" sz="2800"/>
              <a:t>Range = X</a:t>
            </a:r>
            <a:r>
              <a:rPr lang="en-US" altLang="en-US" sz="2800" baseline="-25000"/>
              <a:t>largest</a:t>
            </a:r>
            <a:r>
              <a:rPr lang="en-US" altLang="en-US" sz="2800"/>
              <a:t> –  X</a:t>
            </a:r>
            <a:r>
              <a:rPr lang="en-US" altLang="en-US" sz="2800" baseline="-25000"/>
              <a:t>smallest</a:t>
            </a:r>
          </a:p>
          <a:p>
            <a:pPr algn="ctr" eaLnBrk="0" hangingPunct="0">
              <a:spcBef>
                <a:spcPct val="50000"/>
              </a:spcBef>
            </a:pPr>
            <a:endParaRPr lang="en-US" altLang="en-US" sz="1400" baseline="-25000"/>
          </a:p>
        </p:txBody>
      </p:sp>
      <p:sp>
        <p:nvSpPr>
          <p:cNvPr id="112645" name="Line 5"/>
          <p:cNvSpPr>
            <a:spLocks noChangeShapeType="1"/>
          </p:cNvSpPr>
          <p:nvPr/>
        </p:nvSpPr>
        <p:spPr bwMode="auto">
          <a:xfrm>
            <a:off x="2149475" y="5181600"/>
            <a:ext cx="3355975" cy="1588"/>
          </a:xfrm>
          <a:prstGeom prst="line">
            <a:avLst/>
          </a:prstGeom>
          <a:noFill/>
          <a:ln w="1270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46" name="Oval 6"/>
          <p:cNvSpPr>
            <a:spLocks noChangeArrowheads="1"/>
          </p:cNvSpPr>
          <p:nvPr/>
        </p:nvSpPr>
        <p:spPr bwMode="auto">
          <a:xfrm>
            <a:off x="22860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47" name="Oval 7"/>
          <p:cNvSpPr>
            <a:spLocks noChangeArrowheads="1"/>
          </p:cNvSpPr>
          <p:nvPr/>
        </p:nvSpPr>
        <p:spPr bwMode="auto">
          <a:xfrm>
            <a:off x="28956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48" name="Oval 8"/>
          <p:cNvSpPr>
            <a:spLocks noChangeArrowheads="1"/>
          </p:cNvSpPr>
          <p:nvPr/>
        </p:nvSpPr>
        <p:spPr bwMode="auto">
          <a:xfrm>
            <a:off x="34290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49" name="Oval 9"/>
          <p:cNvSpPr>
            <a:spLocks noChangeArrowheads="1"/>
          </p:cNvSpPr>
          <p:nvPr/>
        </p:nvSpPr>
        <p:spPr bwMode="auto">
          <a:xfrm>
            <a:off x="40386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0" name="Oval 10"/>
          <p:cNvSpPr>
            <a:spLocks noChangeArrowheads="1"/>
          </p:cNvSpPr>
          <p:nvPr/>
        </p:nvSpPr>
        <p:spPr bwMode="auto">
          <a:xfrm>
            <a:off x="3429000" y="47244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1" name="Oval 11"/>
          <p:cNvSpPr>
            <a:spLocks noChangeArrowheads="1"/>
          </p:cNvSpPr>
          <p:nvPr/>
        </p:nvSpPr>
        <p:spPr bwMode="auto">
          <a:xfrm>
            <a:off x="45720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2" name="Oval 12"/>
          <p:cNvSpPr>
            <a:spLocks noChangeArrowheads="1"/>
          </p:cNvSpPr>
          <p:nvPr/>
        </p:nvSpPr>
        <p:spPr bwMode="auto">
          <a:xfrm>
            <a:off x="4572000" y="47244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3" name="Oval 13"/>
          <p:cNvSpPr>
            <a:spLocks noChangeArrowheads="1"/>
          </p:cNvSpPr>
          <p:nvPr/>
        </p:nvSpPr>
        <p:spPr bwMode="auto">
          <a:xfrm>
            <a:off x="4572000" y="44958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4" name="Oval 14"/>
          <p:cNvSpPr>
            <a:spLocks noChangeArrowheads="1"/>
          </p:cNvSpPr>
          <p:nvPr/>
        </p:nvSpPr>
        <p:spPr bwMode="auto">
          <a:xfrm>
            <a:off x="49530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5" name="Line 15"/>
          <p:cNvSpPr>
            <a:spLocks noChangeShapeType="1"/>
          </p:cNvSpPr>
          <p:nvPr/>
        </p:nvSpPr>
        <p:spPr bwMode="auto">
          <a:xfrm>
            <a:off x="5349875" y="5181600"/>
            <a:ext cx="1298575" cy="1588"/>
          </a:xfrm>
          <a:prstGeom prst="line">
            <a:avLst/>
          </a:prstGeom>
          <a:noFill/>
          <a:ln w="1270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6" name="Oval 16"/>
          <p:cNvSpPr>
            <a:spLocks noChangeArrowheads="1"/>
          </p:cNvSpPr>
          <p:nvPr/>
        </p:nvSpPr>
        <p:spPr bwMode="auto">
          <a:xfrm>
            <a:off x="57150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7" name="Oval 17"/>
          <p:cNvSpPr>
            <a:spLocks noChangeArrowheads="1"/>
          </p:cNvSpPr>
          <p:nvPr/>
        </p:nvSpPr>
        <p:spPr bwMode="auto">
          <a:xfrm>
            <a:off x="5715000" y="47244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8" name="Oval 18"/>
          <p:cNvSpPr>
            <a:spLocks noChangeArrowheads="1"/>
          </p:cNvSpPr>
          <p:nvPr/>
        </p:nvSpPr>
        <p:spPr bwMode="auto">
          <a:xfrm>
            <a:off x="61722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59" name="Oval 19"/>
          <p:cNvSpPr>
            <a:spLocks noChangeArrowheads="1"/>
          </p:cNvSpPr>
          <p:nvPr/>
        </p:nvSpPr>
        <p:spPr bwMode="auto">
          <a:xfrm>
            <a:off x="6553200" y="4953000"/>
            <a:ext cx="228600" cy="228600"/>
          </a:xfrm>
          <a:prstGeom prst="ellipse">
            <a:avLst/>
          </a:prstGeom>
          <a:solidFill>
            <a:schemeClr val="accent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60" name="Rectangle 20"/>
          <p:cNvSpPr>
            <a:spLocks noChangeArrowheads="1"/>
          </p:cNvSpPr>
          <p:nvPr/>
        </p:nvSpPr>
        <p:spPr bwMode="auto">
          <a:xfrm>
            <a:off x="1971675" y="5181600"/>
            <a:ext cx="5648325"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1600"/>
              <a:t>0   1   2   3   4   5   6   7   8   9   10   11   12    13   14   </a:t>
            </a:r>
          </a:p>
        </p:txBody>
      </p:sp>
      <p:sp>
        <p:nvSpPr>
          <p:cNvPr id="112661" name="Line 21"/>
          <p:cNvSpPr>
            <a:spLocks noChangeShapeType="1"/>
          </p:cNvSpPr>
          <p:nvPr/>
        </p:nvSpPr>
        <p:spPr bwMode="auto">
          <a:xfrm>
            <a:off x="2438400" y="5791200"/>
            <a:ext cx="419100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62" name="Line 22"/>
          <p:cNvSpPr>
            <a:spLocks noChangeShapeType="1"/>
          </p:cNvSpPr>
          <p:nvPr/>
        </p:nvSpPr>
        <p:spPr bwMode="auto">
          <a:xfrm flipV="1">
            <a:off x="2438400" y="5638800"/>
            <a:ext cx="0" cy="152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63" name="Line 23"/>
          <p:cNvSpPr>
            <a:spLocks noChangeShapeType="1"/>
          </p:cNvSpPr>
          <p:nvPr/>
        </p:nvSpPr>
        <p:spPr bwMode="auto">
          <a:xfrm flipV="1">
            <a:off x="6629400" y="5638800"/>
            <a:ext cx="0" cy="1524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64" name="Text Box 24"/>
          <p:cNvSpPr txBox="1">
            <a:spLocks noChangeArrowheads="1"/>
          </p:cNvSpPr>
          <p:nvPr/>
        </p:nvSpPr>
        <p:spPr bwMode="auto">
          <a:xfrm>
            <a:off x="3048000" y="5791200"/>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t>Range = 14 - 1 = 13</a:t>
            </a:r>
            <a:endParaRPr lang="en-US" altLang="en-US"/>
          </a:p>
        </p:txBody>
      </p:sp>
      <p:sp>
        <p:nvSpPr>
          <p:cNvPr id="112665" name="Line 25"/>
          <p:cNvSpPr>
            <a:spLocks noChangeShapeType="1"/>
          </p:cNvSpPr>
          <p:nvPr/>
        </p:nvSpPr>
        <p:spPr bwMode="auto">
          <a:xfrm>
            <a:off x="1981200" y="5257800"/>
            <a:ext cx="49530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2666" name="Text Box 26"/>
          <p:cNvSpPr txBox="1">
            <a:spLocks noChangeArrowheads="1"/>
          </p:cNvSpPr>
          <p:nvPr/>
        </p:nvSpPr>
        <p:spPr bwMode="auto">
          <a:xfrm>
            <a:off x="609600" y="4343400"/>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b="1">
                <a:solidFill>
                  <a:schemeClr val="folHlink"/>
                </a:solidFill>
              </a:rPr>
              <a:t>Example:</a:t>
            </a:r>
            <a:endParaRPr lang="en-US" altLang="en-US">
              <a:solidFill>
                <a:schemeClr val="folHlink"/>
              </a:solidFill>
            </a:endParaRPr>
          </a:p>
        </p:txBody>
      </p:sp>
    </p:spTree>
    <p:extLst>
      <p:ext uri="{BB962C8B-B14F-4D97-AF65-F5344CB8AC3E}">
        <p14:creationId xmlns:p14="http://schemas.microsoft.com/office/powerpoint/2010/main" val="3857494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Slide Number Placeholder 3"/>
          <p:cNvSpPr>
            <a:spLocks noGrp="1"/>
          </p:cNvSpPr>
          <p:nvPr>
            <p:ph type="sldNum" sz="quarter" idx="10"/>
          </p:nvPr>
        </p:nvSpPr>
        <p:spPr/>
        <p:txBody>
          <a:bodyPr/>
          <a:lstStyle/>
          <a:p>
            <a:fld id="{4A2A7B9F-672B-4C5A-85A3-81BDC3F772DF}" type="slidenum">
              <a:rPr lang="en-US" altLang="en-US"/>
              <a:pPr/>
              <a:t>18</a:t>
            </a:fld>
            <a:endParaRPr lang="en-US" altLang="en-US"/>
          </a:p>
        </p:txBody>
      </p:sp>
      <p:sp>
        <p:nvSpPr>
          <p:cNvPr id="113666" name="Rectangle 2"/>
          <p:cNvSpPr>
            <a:spLocks noGrp="1" noChangeArrowheads="1"/>
          </p:cNvSpPr>
          <p:nvPr>
            <p:ph type="body" idx="1"/>
          </p:nvPr>
        </p:nvSpPr>
        <p:spPr>
          <a:xfrm>
            <a:off x="762000" y="1524000"/>
            <a:ext cx="8077200" cy="4114800"/>
          </a:xfrm>
        </p:spPr>
        <p:txBody>
          <a:bodyPr/>
          <a:lstStyle/>
          <a:p>
            <a:r>
              <a:rPr lang="en-US" altLang="en-US"/>
              <a:t>Ignores the way in which data are distributed</a:t>
            </a:r>
          </a:p>
          <a:p>
            <a:endParaRPr lang="en-US" altLang="en-US"/>
          </a:p>
          <a:p>
            <a:endParaRPr lang="en-US" altLang="en-US"/>
          </a:p>
          <a:p>
            <a:endParaRPr lang="en-US" altLang="en-US"/>
          </a:p>
          <a:p>
            <a:r>
              <a:rPr lang="en-US" altLang="en-US"/>
              <a:t>Sensitive to outliers</a:t>
            </a:r>
          </a:p>
          <a:p>
            <a:pPr>
              <a:buFont typeface="Wingdings" pitchFamily="2" charset="2"/>
              <a:buNone/>
            </a:pPr>
            <a:endParaRPr lang="en-US" altLang="en-US"/>
          </a:p>
          <a:p>
            <a:pPr>
              <a:buFont typeface="Wingdings" pitchFamily="2" charset="2"/>
              <a:buNone/>
            </a:pPr>
            <a:endParaRPr lang="en-US" altLang="en-US"/>
          </a:p>
        </p:txBody>
      </p:sp>
      <p:sp>
        <p:nvSpPr>
          <p:cNvPr id="113667" name="Line 3"/>
          <p:cNvSpPr>
            <a:spLocks noChangeShapeType="1"/>
          </p:cNvSpPr>
          <p:nvPr/>
        </p:nvSpPr>
        <p:spPr bwMode="auto">
          <a:xfrm>
            <a:off x="1160463" y="2590800"/>
            <a:ext cx="3049587" cy="0"/>
          </a:xfrm>
          <a:prstGeom prst="line">
            <a:avLst/>
          </a:prstGeom>
          <a:noFill/>
          <a:ln w="1270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13668" name="Oval 4"/>
          <p:cNvSpPr>
            <a:spLocks noChangeArrowheads="1"/>
          </p:cNvSpPr>
          <p:nvPr/>
        </p:nvSpPr>
        <p:spPr bwMode="auto">
          <a:xfrm>
            <a:off x="12192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69" name="Oval 5"/>
          <p:cNvSpPr>
            <a:spLocks noChangeArrowheads="1"/>
          </p:cNvSpPr>
          <p:nvPr/>
        </p:nvSpPr>
        <p:spPr bwMode="auto">
          <a:xfrm>
            <a:off x="22098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0" name="Oval 6"/>
          <p:cNvSpPr>
            <a:spLocks noChangeArrowheads="1"/>
          </p:cNvSpPr>
          <p:nvPr/>
        </p:nvSpPr>
        <p:spPr bwMode="auto">
          <a:xfrm>
            <a:off x="38862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1" name="Oval 7"/>
          <p:cNvSpPr>
            <a:spLocks noChangeArrowheads="1"/>
          </p:cNvSpPr>
          <p:nvPr/>
        </p:nvSpPr>
        <p:spPr bwMode="auto">
          <a:xfrm>
            <a:off x="27432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2" name="Oval 8"/>
          <p:cNvSpPr>
            <a:spLocks noChangeArrowheads="1"/>
          </p:cNvSpPr>
          <p:nvPr/>
        </p:nvSpPr>
        <p:spPr bwMode="auto">
          <a:xfrm>
            <a:off x="33528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3" name="Oval 9"/>
          <p:cNvSpPr>
            <a:spLocks noChangeArrowheads="1"/>
          </p:cNvSpPr>
          <p:nvPr/>
        </p:nvSpPr>
        <p:spPr bwMode="auto">
          <a:xfrm>
            <a:off x="1752600" y="2438400"/>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4" name="Rectangle 10"/>
          <p:cNvSpPr>
            <a:spLocks noChangeArrowheads="1"/>
          </p:cNvSpPr>
          <p:nvPr/>
        </p:nvSpPr>
        <p:spPr bwMode="auto">
          <a:xfrm>
            <a:off x="1143000" y="2590800"/>
            <a:ext cx="32766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2000" b="1"/>
              <a:t>7     8     9     10    11    12</a:t>
            </a:r>
          </a:p>
        </p:txBody>
      </p:sp>
      <p:sp>
        <p:nvSpPr>
          <p:cNvPr id="113675" name="Rectangle 11"/>
          <p:cNvSpPr>
            <a:spLocks noChangeArrowheads="1"/>
          </p:cNvSpPr>
          <p:nvPr/>
        </p:nvSpPr>
        <p:spPr bwMode="auto">
          <a:xfrm>
            <a:off x="1219200" y="2984500"/>
            <a:ext cx="2752725" cy="4064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t>Range = 12 - 7 = 5</a:t>
            </a:r>
          </a:p>
        </p:txBody>
      </p:sp>
      <p:sp>
        <p:nvSpPr>
          <p:cNvPr id="113676" name="Line 12"/>
          <p:cNvSpPr>
            <a:spLocks noChangeShapeType="1"/>
          </p:cNvSpPr>
          <p:nvPr/>
        </p:nvSpPr>
        <p:spPr bwMode="auto">
          <a:xfrm>
            <a:off x="5051425" y="2595563"/>
            <a:ext cx="3049588" cy="0"/>
          </a:xfrm>
          <a:prstGeom prst="line">
            <a:avLst/>
          </a:prstGeom>
          <a:noFill/>
          <a:ln w="12700">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13677" name="Rectangle 13"/>
          <p:cNvSpPr>
            <a:spLocks noChangeArrowheads="1"/>
          </p:cNvSpPr>
          <p:nvPr/>
        </p:nvSpPr>
        <p:spPr bwMode="auto">
          <a:xfrm>
            <a:off x="5029200" y="2590800"/>
            <a:ext cx="3429000"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spcBef>
                <a:spcPct val="50000"/>
              </a:spcBef>
            </a:pPr>
            <a:r>
              <a:rPr lang="en-US" altLang="en-US" sz="2000" b="1"/>
              <a:t>7     8     9    10     11    12</a:t>
            </a:r>
          </a:p>
        </p:txBody>
      </p:sp>
      <p:sp>
        <p:nvSpPr>
          <p:cNvPr id="113678" name="Oval 14"/>
          <p:cNvSpPr>
            <a:spLocks noChangeArrowheads="1"/>
          </p:cNvSpPr>
          <p:nvPr/>
        </p:nvSpPr>
        <p:spPr bwMode="auto">
          <a:xfrm>
            <a:off x="5110163" y="24431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79" name="Oval 15"/>
          <p:cNvSpPr>
            <a:spLocks noChangeArrowheads="1"/>
          </p:cNvSpPr>
          <p:nvPr/>
        </p:nvSpPr>
        <p:spPr bwMode="auto">
          <a:xfrm>
            <a:off x="6634163" y="24431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0" name="Oval 16"/>
          <p:cNvSpPr>
            <a:spLocks noChangeArrowheads="1"/>
          </p:cNvSpPr>
          <p:nvPr/>
        </p:nvSpPr>
        <p:spPr bwMode="auto">
          <a:xfrm>
            <a:off x="7777163" y="24431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1" name="Oval 17"/>
          <p:cNvSpPr>
            <a:spLocks noChangeArrowheads="1"/>
          </p:cNvSpPr>
          <p:nvPr/>
        </p:nvSpPr>
        <p:spPr bwMode="auto">
          <a:xfrm>
            <a:off x="7243763" y="24431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2" name="Oval 18"/>
          <p:cNvSpPr>
            <a:spLocks noChangeArrowheads="1"/>
          </p:cNvSpPr>
          <p:nvPr/>
        </p:nvSpPr>
        <p:spPr bwMode="auto">
          <a:xfrm>
            <a:off x="7777163" y="22907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3" name="Oval 19"/>
          <p:cNvSpPr>
            <a:spLocks noChangeArrowheads="1"/>
          </p:cNvSpPr>
          <p:nvPr/>
        </p:nvSpPr>
        <p:spPr bwMode="auto">
          <a:xfrm>
            <a:off x="7777163" y="2151063"/>
            <a:ext cx="152400" cy="152400"/>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4" name="Rectangle 20"/>
          <p:cNvSpPr>
            <a:spLocks noChangeArrowheads="1"/>
          </p:cNvSpPr>
          <p:nvPr/>
        </p:nvSpPr>
        <p:spPr bwMode="auto">
          <a:xfrm>
            <a:off x="5186363" y="2836863"/>
            <a:ext cx="23812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85" name="Rectangle 21"/>
          <p:cNvSpPr>
            <a:spLocks noChangeArrowheads="1"/>
          </p:cNvSpPr>
          <p:nvPr/>
        </p:nvSpPr>
        <p:spPr bwMode="auto">
          <a:xfrm>
            <a:off x="5181600" y="2984500"/>
            <a:ext cx="2895600" cy="406400"/>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t>Range = 12 - 7 = 5</a:t>
            </a:r>
          </a:p>
        </p:txBody>
      </p:sp>
      <p:sp>
        <p:nvSpPr>
          <p:cNvPr id="113686" name="Line 22"/>
          <p:cNvSpPr>
            <a:spLocks noChangeShapeType="1"/>
          </p:cNvSpPr>
          <p:nvPr/>
        </p:nvSpPr>
        <p:spPr bwMode="auto">
          <a:xfrm>
            <a:off x="1066800" y="2590800"/>
            <a:ext cx="31242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13687" name="Line 23"/>
          <p:cNvSpPr>
            <a:spLocks noChangeShapeType="1"/>
          </p:cNvSpPr>
          <p:nvPr/>
        </p:nvSpPr>
        <p:spPr bwMode="auto">
          <a:xfrm>
            <a:off x="5033963" y="2595563"/>
            <a:ext cx="3124200" cy="0"/>
          </a:xfrm>
          <a:prstGeom prst="line">
            <a:avLst/>
          </a:prstGeom>
          <a:noFill/>
          <a:ln w="2857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ZA"/>
          </a:p>
        </p:txBody>
      </p:sp>
      <p:sp>
        <p:nvSpPr>
          <p:cNvPr id="113688" name="Rectangle 24"/>
          <p:cNvSpPr>
            <a:spLocks noGrp="1" noChangeArrowheads="1"/>
          </p:cNvSpPr>
          <p:nvPr>
            <p:ph type="title"/>
          </p:nvPr>
        </p:nvSpPr>
        <p:spPr>
          <a:noFill/>
          <a:ln/>
        </p:spPr>
        <p:txBody>
          <a:bodyPr/>
          <a:lstStyle/>
          <a:p>
            <a:pPr defTabSz="914400"/>
            <a:r>
              <a:rPr lang="en-US" altLang="en-US"/>
              <a:t> Disadvantages of the Range</a:t>
            </a:r>
          </a:p>
        </p:txBody>
      </p:sp>
      <p:sp>
        <p:nvSpPr>
          <p:cNvPr id="113689" name="Text Box 25"/>
          <p:cNvSpPr txBox="1">
            <a:spLocks noChangeArrowheads="1"/>
          </p:cNvSpPr>
          <p:nvPr/>
        </p:nvSpPr>
        <p:spPr bwMode="auto">
          <a:xfrm>
            <a:off x="533400" y="4267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a:solidFill>
                  <a:schemeClr val="folHlink"/>
                </a:solidFill>
              </a:rPr>
              <a:t>	</a:t>
            </a:r>
            <a:r>
              <a:rPr lang="en-US" altLang="en-US">
                <a:solidFill>
                  <a:schemeClr val="hlink"/>
                </a:solidFill>
              </a:rPr>
              <a:t>1</a:t>
            </a:r>
            <a:r>
              <a:rPr lang="en-US" altLang="en-US"/>
              <a:t>,1,1,1,1,1,1,1,1,1,1,2,2,2,2,2,2,2,2,3,3,3,3,4,</a:t>
            </a:r>
            <a:r>
              <a:rPr lang="en-US" altLang="en-US">
                <a:solidFill>
                  <a:schemeClr val="hlink"/>
                </a:solidFill>
              </a:rPr>
              <a:t>5</a:t>
            </a:r>
          </a:p>
        </p:txBody>
      </p:sp>
      <p:sp>
        <p:nvSpPr>
          <p:cNvPr id="113690" name="Text Box 26"/>
          <p:cNvSpPr txBox="1">
            <a:spLocks noChangeArrowheads="1"/>
          </p:cNvSpPr>
          <p:nvPr/>
        </p:nvSpPr>
        <p:spPr bwMode="auto">
          <a:xfrm>
            <a:off x="533400" y="54102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a:solidFill>
                  <a:schemeClr val="folHlink"/>
                </a:solidFill>
              </a:rPr>
              <a:t>	</a:t>
            </a:r>
            <a:r>
              <a:rPr lang="en-US" altLang="en-US">
                <a:solidFill>
                  <a:schemeClr val="hlink"/>
                </a:solidFill>
              </a:rPr>
              <a:t>1</a:t>
            </a:r>
            <a:r>
              <a:rPr lang="en-US" altLang="en-US"/>
              <a:t>,1,1,1,1,1,1,1,1,1,1,2,2,2,2,2,2,2,2,3,3,3,3,4,</a:t>
            </a:r>
            <a:r>
              <a:rPr lang="en-US" altLang="en-US">
                <a:solidFill>
                  <a:schemeClr val="hlink"/>
                </a:solidFill>
              </a:rPr>
              <a:t>120</a:t>
            </a:r>
          </a:p>
        </p:txBody>
      </p:sp>
      <p:sp>
        <p:nvSpPr>
          <p:cNvPr id="113691" name="Rectangle 27"/>
          <p:cNvSpPr>
            <a:spLocks noChangeArrowheads="1"/>
          </p:cNvSpPr>
          <p:nvPr/>
        </p:nvSpPr>
        <p:spPr bwMode="auto">
          <a:xfrm>
            <a:off x="3276600" y="4724400"/>
            <a:ext cx="2895600" cy="406400"/>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t>Range = 5 - 1 = 4</a:t>
            </a:r>
          </a:p>
        </p:txBody>
      </p:sp>
      <p:sp>
        <p:nvSpPr>
          <p:cNvPr id="113692" name="Rectangle 28"/>
          <p:cNvSpPr>
            <a:spLocks noChangeArrowheads="1"/>
          </p:cNvSpPr>
          <p:nvPr/>
        </p:nvSpPr>
        <p:spPr bwMode="auto">
          <a:xfrm>
            <a:off x="3276600" y="5867400"/>
            <a:ext cx="2895600" cy="406400"/>
          </a:xfrm>
          <a:prstGeom prst="rect">
            <a:avLst/>
          </a:prstGeom>
          <a:solidFill>
            <a:srgbClr val="FDE0BD"/>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0" hangingPunct="0">
              <a:spcBef>
                <a:spcPct val="50000"/>
              </a:spcBef>
            </a:pPr>
            <a:r>
              <a:rPr lang="en-US" altLang="en-US" sz="2000" b="1"/>
              <a:t>Range = 120 - 1 = 119</a:t>
            </a:r>
          </a:p>
        </p:txBody>
      </p:sp>
      <p:sp>
        <p:nvSpPr>
          <p:cNvPr id="113693" name="Rectangle 29"/>
          <p:cNvSpPr>
            <a:spLocks noChangeArrowheads="1"/>
          </p:cNvSpPr>
          <p:nvPr/>
        </p:nvSpPr>
        <p:spPr bwMode="auto">
          <a:xfrm>
            <a:off x="762000" y="2133600"/>
            <a:ext cx="7772400" cy="1447800"/>
          </a:xfrm>
          <a:prstGeom prst="rect">
            <a:avLst/>
          </a:prstGeom>
          <a:noFill/>
          <a:ln w="1905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13694" name="Rectangle 30"/>
          <p:cNvSpPr>
            <a:spLocks noChangeArrowheads="1"/>
          </p:cNvSpPr>
          <p:nvPr/>
        </p:nvSpPr>
        <p:spPr bwMode="auto">
          <a:xfrm>
            <a:off x="762000" y="4267200"/>
            <a:ext cx="7772400" cy="2133600"/>
          </a:xfrm>
          <a:prstGeom prst="rect">
            <a:avLst/>
          </a:prstGeom>
          <a:noFill/>
          <a:ln w="19050">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extLst>
      <p:ext uri="{BB962C8B-B14F-4D97-AF65-F5344CB8AC3E}">
        <p14:creationId xmlns:p14="http://schemas.microsoft.com/office/powerpoint/2010/main" val="619506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Getting from the real world to a distribution</a:t>
            </a:r>
          </a:p>
        </p:txBody>
      </p:sp>
      <p:sp>
        <p:nvSpPr>
          <p:cNvPr id="3" name="Content Placeholder 2"/>
          <p:cNvSpPr>
            <a:spLocks noGrp="1"/>
          </p:cNvSpPr>
          <p:nvPr>
            <p:ph sz="quarter" idx="1"/>
          </p:nvPr>
        </p:nvSpPr>
        <p:spPr>
          <a:xfrm>
            <a:off x="301752" y="1527048"/>
            <a:ext cx="4414264" cy="4572000"/>
          </a:xfrm>
        </p:spPr>
        <p:txBody>
          <a:bodyPr>
            <a:normAutofit fontScale="92500" lnSpcReduction="20000"/>
          </a:bodyPr>
          <a:lstStyle/>
          <a:p>
            <a:r>
              <a:rPr lang="en-ZA" sz="2000" dirty="0"/>
              <a:t>When we collect data from the ‘real world’ we need to then represent it in numerically and graphically useful ways. This is where graphical analysis and numerical statistical analysis are helpful.</a:t>
            </a:r>
          </a:p>
          <a:p>
            <a:endParaRPr lang="en-ZA" sz="2000" dirty="0"/>
          </a:p>
          <a:p>
            <a:r>
              <a:rPr lang="en-ZA" sz="2000" dirty="0"/>
              <a:t>Say we went into one classroom and observed 22 students with the following reading and mathematics scores.</a:t>
            </a:r>
          </a:p>
          <a:p>
            <a:endParaRPr lang="en-ZA" sz="2000" dirty="0"/>
          </a:p>
          <a:p>
            <a:r>
              <a:rPr lang="en-ZA" sz="2000" dirty="0"/>
              <a:t>To help understand the distribution of performance in this class we will calculate the mean, median and mode and also create a histogram of the data. (</a:t>
            </a:r>
            <a:r>
              <a:rPr lang="en-ZA" sz="2000" dirty="0">
                <a:solidFill>
                  <a:srgbClr val="FF0000"/>
                </a:solidFill>
              </a:rPr>
              <a:t>Do UDM Tut1</a:t>
            </a:r>
            <a:r>
              <a:rPr lang="en-ZA" sz="2000" dirty="0"/>
              <a:t>)</a:t>
            </a:r>
          </a:p>
          <a:p>
            <a:pPr lvl="1"/>
            <a:r>
              <a:rPr lang="en-ZA" sz="1500" dirty="0"/>
              <a:t>UDM Tutorial 1 – Mean, median, mode</a:t>
            </a:r>
          </a:p>
          <a:p>
            <a:endParaRPr lang="en-ZA" sz="2000" dirty="0"/>
          </a:p>
        </p:txBody>
      </p:sp>
      <p:graphicFrame>
        <p:nvGraphicFramePr>
          <p:cNvPr id="4" name="Table 3"/>
          <p:cNvGraphicFramePr>
            <a:graphicFrameLocks noGrp="1"/>
          </p:cNvGraphicFramePr>
          <p:nvPr>
            <p:extLst>
              <p:ext uri="{D42A27DB-BD31-4B8C-83A1-F6EECF244321}">
                <p14:modId xmlns:p14="http://schemas.microsoft.com/office/powerpoint/2010/main" val="1302818195"/>
              </p:ext>
            </p:extLst>
          </p:nvPr>
        </p:nvGraphicFramePr>
        <p:xfrm>
          <a:off x="5364088" y="1556792"/>
          <a:ext cx="3314700" cy="4419600"/>
        </p:xfrm>
        <a:graphic>
          <a:graphicData uri="http://schemas.openxmlformats.org/drawingml/2006/table">
            <a:tbl>
              <a:tblPr>
                <a:tableStyleId>{5C22544A-7EE6-4342-B048-85BDC9FD1C3A}</a:tableStyleId>
              </a:tblPr>
              <a:tblGrid>
                <a:gridCol w="1065779">
                  <a:extLst>
                    <a:ext uri="{9D8B030D-6E8A-4147-A177-3AD203B41FA5}">
                      <a16:colId xmlns:a16="http://schemas.microsoft.com/office/drawing/2014/main" val="20000"/>
                    </a:ext>
                  </a:extLst>
                </a:gridCol>
                <a:gridCol w="1018200">
                  <a:extLst>
                    <a:ext uri="{9D8B030D-6E8A-4147-A177-3AD203B41FA5}">
                      <a16:colId xmlns:a16="http://schemas.microsoft.com/office/drawing/2014/main" val="20001"/>
                    </a:ext>
                  </a:extLst>
                </a:gridCol>
                <a:gridCol w="1230721">
                  <a:extLst>
                    <a:ext uri="{9D8B030D-6E8A-4147-A177-3AD203B41FA5}">
                      <a16:colId xmlns:a16="http://schemas.microsoft.com/office/drawing/2014/main" val="20002"/>
                    </a:ext>
                  </a:extLst>
                </a:gridCol>
              </a:tblGrid>
              <a:tr h="200025">
                <a:tc>
                  <a:txBody>
                    <a:bodyPr/>
                    <a:lstStyle/>
                    <a:p>
                      <a:pPr algn="ctr" fontAlgn="b"/>
                      <a:r>
                        <a:rPr lang="en-ZA" sz="1200" u="none" strike="noStrike" dirty="0" err="1">
                          <a:effectLst/>
                        </a:rPr>
                        <a:t>student_id</a:t>
                      </a:r>
                      <a:endParaRPr lang="en-ZA" sz="1200" b="1" i="0" u="none" strike="noStrike" dirty="0">
                        <a:solidFill>
                          <a:srgbClr val="000000"/>
                        </a:solidFill>
                        <a:effectLst/>
                        <a:latin typeface="Calibri"/>
                      </a:endParaRPr>
                    </a:p>
                  </a:txBody>
                  <a:tcPr marL="9525" marR="9525" marT="9525" marB="0" anchor="b"/>
                </a:tc>
                <a:tc>
                  <a:txBody>
                    <a:bodyPr/>
                    <a:lstStyle/>
                    <a:p>
                      <a:pPr algn="ctr" fontAlgn="b"/>
                      <a:r>
                        <a:rPr lang="en-ZA" sz="1200" u="none" strike="noStrike">
                          <a:effectLst/>
                        </a:rPr>
                        <a:t>reading_score</a:t>
                      </a:r>
                      <a:endParaRPr lang="en-ZA" sz="1200" b="1" i="0" u="none" strike="noStrike">
                        <a:solidFill>
                          <a:srgbClr val="000000"/>
                        </a:solidFill>
                        <a:effectLst/>
                        <a:latin typeface="Calibri"/>
                      </a:endParaRPr>
                    </a:p>
                  </a:txBody>
                  <a:tcPr marL="9525" marR="9525" marT="9525" marB="0" anchor="b"/>
                </a:tc>
                <a:tc>
                  <a:txBody>
                    <a:bodyPr/>
                    <a:lstStyle/>
                    <a:p>
                      <a:pPr algn="ctr" fontAlgn="b"/>
                      <a:r>
                        <a:rPr lang="en-ZA" sz="1200" u="none" strike="noStrike">
                          <a:effectLst/>
                        </a:rPr>
                        <a:t>math_score</a:t>
                      </a:r>
                      <a:endParaRPr lang="en-ZA" sz="1200" b="1"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0"/>
                  </a:ext>
                </a:extLst>
              </a:tr>
              <a:tr h="190500">
                <a:tc>
                  <a:txBody>
                    <a:bodyPr/>
                    <a:lstStyle/>
                    <a:p>
                      <a:pPr algn="ctr" fontAlgn="b"/>
                      <a:r>
                        <a:rPr lang="en-ZA" sz="1100" u="none" strike="noStrike">
                          <a:effectLst/>
                        </a:rPr>
                        <a:t>1</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508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483</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1"/>
                  </a:ext>
                </a:extLst>
              </a:tr>
              <a:tr h="190500">
                <a:tc>
                  <a:txBody>
                    <a:bodyPr/>
                    <a:lstStyle/>
                    <a:p>
                      <a:pPr algn="ctr" fontAlgn="b"/>
                      <a:r>
                        <a:rPr lang="en-ZA" sz="1100" u="none" strike="noStrike">
                          <a:effectLst/>
                        </a:rPr>
                        <a:t>2</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2"/>
                  </a:ext>
                </a:extLst>
              </a:tr>
              <a:tr h="200025">
                <a:tc>
                  <a:txBody>
                    <a:bodyPr/>
                    <a:lstStyle/>
                    <a:p>
                      <a:pPr algn="ctr" fontAlgn="b"/>
                      <a:r>
                        <a:rPr lang="en-ZA" sz="1100" u="none" strike="noStrike">
                          <a:effectLst/>
                        </a:rPr>
                        <a:t>3</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378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3"/>
                  </a:ext>
                </a:extLst>
              </a:tr>
              <a:tr h="190500">
                <a:tc>
                  <a:txBody>
                    <a:bodyPr/>
                    <a:lstStyle/>
                    <a:p>
                      <a:pPr algn="ctr" fontAlgn="b"/>
                      <a:r>
                        <a:rPr lang="en-ZA" sz="1100" u="none" strike="noStrike">
                          <a:effectLst/>
                        </a:rPr>
                        <a:t>4</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355</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469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4"/>
                  </a:ext>
                </a:extLst>
              </a:tr>
              <a:tr h="190500">
                <a:tc>
                  <a:txBody>
                    <a:bodyPr/>
                    <a:lstStyle/>
                    <a:p>
                      <a:pPr algn="ctr" fontAlgn="b"/>
                      <a:r>
                        <a:rPr lang="en-ZA" sz="1100" u="none" strike="noStrike">
                          <a:effectLst/>
                        </a:rPr>
                        <a:t>5</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388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353</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5"/>
                  </a:ext>
                </a:extLst>
              </a:tr>
              <a:tr h="190500">
                <a:tc>
                  <a:txBody>
                    <a:bodyPr/>
                    <a:lstStyle/>
                    <a:p>
                      <a:pPr algn="ctr" fontAlgn="b"/>
                      <a:r>
                        <a:rPr lang="en-ZA" sz="1100" u="none" strike="noStrike">
                          <a:effectLst/>
                        </a:rPr>
                        <a:t>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378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6"/>
                  </a:ext>
                </a:extLst>
              </a:tr>
              <a:tr h="190500">
                <a:tc>
                  <a:txBody>
                    <a:bodyPr/>
                    <a:lstStyle/>
                    <a:p>
                      <a:pPr algn="ctr" fontAlgn="b"/>
                      <a:r>
                        <a:rPr lang="en-ZA" sz="1100" u="none" strike="noStrike">
                          <a:effectLst/>
                        </a:rPr>
                        <a:t>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399</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7"/>
                  </a:ext>
                </a:extLst>
              </a:tr>
              <a:tr h="190500">
                <a:tc>
                  <a:txBody>
                    <a:bodyPr/>
                    <a:lstStyle/>
                    <a:p>
                      <a:pPr algn="ctr" fontAlgn="b"/>
                      <a:r>
                        <a:rPr lang="en-ZA" sz="1100" u="none" strike="noStrike">
                          <a:effectLst/>
                        </a:rPr>
                        <a:t>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8"/>
                  </a:ext>
                </a:extLst>
              </a:tr>
              <a:tr h="190500">
                <a:tc>
                  <a:txBody>
                    <a:bodyPr/>
                    <a:lstStyle/>
                    <a:p>
                      <a:pPr algn="ctr" fontAlgn="b"/>
                      <a:r>
                        <a:rPr lang="en-ZA" sz="1100" u="none" strike="noStrike">
                          <a:effectLst/>
                        </a:rPr>
                        <a:t>9</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447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469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09"/>
                  </a:ext>
                </a:extLst>
              </a:tr>
              <a:tr h="190500">
                <a:tc>
                  <a:txBody>
                    <a:bodyPr/>
                    <a:lstStyle/>
                    <a:p>
                      <a:pPr algn="ctr" fontAlgn="b"/>
                      <a:r>
                        <a:rPr lang="en-ZA" sz="1100" u="none" strike="noStrike">
                          <a:effectLst/>
                        </a:rPr>
                        <a:t>10</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355</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dirty="0">
                          <a:effectLst/>
                        </a:rPr>
                        <a:t>454</a:t>
                      </a:r>
                      <a:endParaRPr lang="en-ZA" sz="11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10"/>
                  </a:ext>
                </a:extLst>
              </a:tr>
              <a:tr h="200025">
                <a:tc>
                  <a:txBody>
                    <a:bodyPr/>
                    <a:lstStyle/>
                    <a:p>
                      <a:pPr algn="ctr" fontAlgn="b"/>
                      <a:r>
                        <a:rPr lang="en-ZA" sz="1100" u="none" strike="noStrike">
                          <a:effectLst/>
                        </a:rPr>
                        <a:t>11</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399</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424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1"/>
                  </a:ext>
                </a:extLst>
              </a:tr>
              <a:tr h="200025">
                <a:tc>
                  <a:txBody>
                    <a:bodyPr/>
                    <a:lstStyle/>
                    <a:p>
                      <a:pPr algn="ctr" fontAlgn="b"/>
                      <a:r>
                        <a:rPr lang="en-ZA" sz="1100" u="none" strike="noStrike">
                          <a:effectLst/>
                        </a:rPr>
                        <a:t>12</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490</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483</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2"/>
                  </a:ext>
                </a:extLst>
              </a:tr>
              <a:tr h="190500">
                <a:tc>
                  <a:txBody>
                    <a:bodyPr/>
                    <a:lstStyle/>
                    <a:p>
                      <a:pPr algn="ctr" fontAlgn="b"/>
                      <a:r>
                        <a:rPr lang="en-ZA" sz="1100" u="none" strike="noStrike">
                          <a:effectLst/>
                        </a:rPr>
                        <a:t>13</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469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3"/>
                  </a:ext>
                </a:extLst>
              </a:tr>
              <a:tr h="190500">
                <a:tc>
                  <a:txBody>
                    <a:bodyPr/>
                    <a:lstStyle/>
                    <a:p>
                      <a:pPr algn="ctr" fontAlgn="b"/>
                      <a:r>
                        <a:rPr lang="en-ZA" sz="1100" u="none" strike="noStrike">
                          <a:effectLst/>
                        </a:rPr>
                        <a:t>14</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419</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353</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4"/>
                  </a:ext>
                </a:extLst>
              </a:tr>
              <a:tr h="190500">
                <a:tc>
                  <a:txBody>
                    <a:bodyPr/>
                    <a:lstStyle/>
                    <a:p>
                      <a:pPr algn="ctr" fontAlgn="b"/>
                      <a:r>
                        <a:rPr lang="en-ZA" sz="1100" u="none" strike="noStrike">
                          <a:effectLst/>
                        </a:rPr>
                        <a:t>15</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516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535</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5"/>
                  </a:ext>
                </a:extLst>
              </a:tr>
              <a:tr h="190500">
                <a:tc>
                  <a:txBody>
                    <a:bodyPr/>
                    <a:lstStyle/>
                    <a:p>
                      <a:pPr algn="ctr" fontAlgn="b"/>
                      <a:r>
                        <a:rPr lang="en-ZA" sz="1100" u="none" strike="noStrike">
                          <a:effectLst/>
                        </a:rPr>
                        <a:t>16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439</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6"/>
                  </a:ext>
                </a:extLst>
              </a:tr>
              <a:tr h="190500">
                <a:tc>
                  <a:txBody>
                    <a:bodyPr/>
                    <a:lstStyle/>
                    <a:p>
                      <a:pPr algn="ctr" fontAlgn="b"/>
                      <a:r>
                        <a:rPr lang="en-ZA" sz="1100" u="none" strike="noStrike">
                          <a:effectLst/>
                        </a:rPr>
                        <a:t>17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525</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522</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7"/>
                  </a:ext>
                </a:extLst>
              </a:tr>
              <a:tr h="190500">
                <a:tc>
                  <a:txBody>
                    <a:bodyPr/>
                    <a:lstStyle/>
                    <a:p>
                      <a:pPr algn="ctr" fontAlgn="b"/>
                      <a:r>
                        <a:rPr lang="en-ZA" sz="1100" u="none" strike="noStrike">
                          <a:effectLst/>
                        </a:rPr>
                        <a:t>18</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447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353</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8"/>
                  </a:ext>
                </a:extLst>
              </a:tr>
              <a:tr h="190500">
                <a:tc>
                  <a:txBody>
                    <a:bodyPr/>
                    <a:lstStyle/>
                    <a:p>
                      <a:pPr algn="ctr" fontAlgn="b"/>
                      <a:r>
                        <a:rPr lang="en-ZA" sz="1100" u="none" strike="noStrike">
                          <a:effectLst/>
                        </a:rPr>
                        <a:t>19</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437</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19"/>
                  </a:ext>
                </a:extLst>
              </a:tr>
              <a:tr h="190500">
                <a:tc>
                  <a:txBody>
                    <a:bodyPr/>
                    <a:lstStyle/>
                    <a:p>
                      <a:pPr algn="ctr" fontAlgn="b"/>
                      <a:r>
                        <a:rPr lang="en-ZA" sz="1100" u="none" strike="noStrike">
                          <a:effectLst/>
                        </a:rPr>
                        <a:t>20</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20"/>
                  </a:ext>
                </a:extLst>
              </a:tr>
              <a:tr h="190500">
                <a:tc>
                  <a:txBody>
                    <a:bodyPr/>
                    <a:lstStyle/>
                    <a:p>
                      <a:pPr algn="ctr" fontAlgn="b"/>
                      <a:r>
                        <a:rPr lang="en-ZA" sz="1100" u="none" strike="noStrike">
                          <a:effectLst/>
                        </a:rPr>
                        <a:t>21</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456</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424</a:t>
                      </a:r>
                      <a:endParaRPr lang="en-ZA" sz="1100" b="0" i="0" u="none" strike="noStrike">
                        <a:solidFill>
                          <a:srgbClr val="000000"/>
                        </a:solidFill>
                        <a:effectLst/>
                        <a:latin typeface="Calibri"/>
                      </a:endParaRPr>
                    </a:p>
                  </a:txBody>
                  <a:tcPr marL="9525" marR="9525" marT="9525" marB="0" anchor="b"/>
                </a:tc>
                <a:extLst>
                  <a:ext uri="{0D108BD9-81ED-4DB2-BD59-A6C34878D82A}">
                    <a16:rowId xmlns:a16="http://schemas.microsoft.com/office/drawing/2014/main" val="10021"/>
                  </a:ext>
                </a:extLst>
              </a:tr>
              <a:tr h="190500">
                <a:tc>
                  <a:txBody>
                    <a:bodyPr/>
                    <a:lstStyle/>
                    <a:p>
                      <a:pPr algn="ctr" fontAlgn="b"/>
                      <a:r>
                        <a:rPr lang="en-ZA" sz="1100" u="none" strike="noStrike">
                          <a:effectLst/>
                        </a:rPr>
                        <a:t>22</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a:effectLst/>
                        </a:rPr>
                        <a:t>551</a:t>
                      </a:r>
                      <a:endParaRPr lang="en-ZA" sz="1100" b="0" i="0" u="none" strike="noStrike">
                        <a:solidFill>
                          <a:srgbClr val="000000"/>
                        </a:solidFill>
                        <a:effectLst/>
                        <a:latin typeface="Calibri"/>
                      </a:endParaRPr>
                    </a:p>
                  </a:txBody>
                  <a:tcPr marL="9525" marR="9525" marT="9525" marB="0" anchor="b"/>
                </a:tc>
                <a:tc>
                  <a:txBody>
                    <a:bodyPr/>
                    <a:lstStyle/>
                    <a:p>
                      <a:pPr algn="ctr" fontAlgn="b"/>
                      <a:r>
                        <a:rPr lang="en-ZA" sz="1100" u="none" strike="noStrike" dirty="0">
                          <a:effectLst/>
                        </a:rPr>
                        <a:t>454</a:t>
                      </a:r>
                      <a:endParaRPr lang="en-ZA" sz="1100" b="0" i="0" u="none" strike="noStrike" dirty="0">
                        <a:solidFill>
                          <a:srgbClr val="000000"/>
                        </a:solidFill>
                        <a:effectLst/>
                        <a:latin typeface="Calibri"/>
                      </a:endParaRPr>
                    </a:p>
                  </a:txBody>
                  <a:tcPr marL="9525" marR="9525" marT="9525" marB="0" anchor="b"/>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689931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Mean		Median		Mode</a:t>
            </a:r>
          </a:p>
        </p:txBody>
      </p:sp>
      <p:sp>
        <p:nvSpPr>
          <p:cNvPr id="3" name="Content Placeholder 2"/>
          <p:cNvSpPr>
            <a:spLocks noGrp="1"/>
          </p:cNvSpPr>
          <p:nvPr>
            <p:ph sz="quarter" idx="1"/>
          </p:nvPr>
        </p:nvSpPr>
        <p:spPr/>
        <p:txBody>
          <a:bodyPr/>
          <a:lstStyle/>
          <a:p>
            <a:endParaRPr lang="en-ZA" dirty="0"/>
          </a:p>
        </p:txBody>
      </p:sp>
      <p:pic>
        <p:nvPicPr>
          <p:cNvPr id="143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410370"/>
            <a:ext cx="3270088"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0" y="1442849"/>
            <a:ext cx="3141349"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70222" y="1455498"/>
            <a:ext cx="3119089" cy="4842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Connector 4"/>
          <p:cNvCxnSpPr/>
          <p:nvPr/>
        </p:nvCxnSpPr>
        <p:spPr>
          <a:xfrm>
            <a:off x="2627784" y="1442849"/>
            <a:ext cx="0" cy="4968552"/>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292080" y="1442849"/>
            <a:ext cx="0" cy="4936073"/>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1755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The normal distribution</a:t>
            </a:r>
          </a:p>
        </p:txBody>
      </p:sp>
      <p:sp>
        <p:nvSpPr>
          <p:cNvPr id="3" name="Content Placeholder 2"/>
          <p:cNvSpPr>
            <a:spLocks noGrp="1"/>
          </p:cNvSpPr>
          <p:nvPr>
            <p:ph sz="quarter" idx="1"/>
          </p:nvPr>
        </p:nvSpPr>
        <p:spPr/>
        <p:txBody>
          <a:bodyPr/>
          <a:lstStyle/>
          <a:p>
            <a:r>
              <a:rPr lang="en-ZA" dirty="0"/>
              <a:t>In a perfect normal distribution the mean, median and mode are equal to each other – 75 here.</a:t>
            </a:r>
          </a:p>
        </p:txBody>
      </p:sp>
      <p:pic>
        <p:nvPicPr>
          <p:cNvPr id="9218" name="Picture 2" descr="C:\Users\spaull\Dropbox\Consulting\UDM - Mozambique\Online MCQ test 2013\Distributions\normal di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825" y="2492896"/>
            <a:ext cx="5848350" cy="3676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0723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err="1"/>
              <a:t>Skewness</a:t>
            </a:r>
            <a:endParaRPr lang="en-ZA" dirty="0"/>
          </a:p>
        </p:txBody>
      </p:sp>
      <p:pic>
        <p:nvPicPr>
          <p:cNvPr id="10242" name="Picture 2" descr="C:\Users\spaull\Dropbox\Consulting\UDM - Mozambique\Online MCQ test 2013\Distributions\negative ske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1577283"/>
            <a:ext cx="4608512" cy="2535073"/>
          </a:xfrm>
          <a:prstGeom prst="rect">
            <a:avLst/>
          </a:prstGeom>
          <a:noFill/>
          <a:extLst>
            <a:ext uri="{909E8E84-426E-40DD-AFC4-6F175D3DCCD1}">
              <a14:hiddenFill xmlns:a14="http://schemas.microsoft.com/office/drawing/2010/main">
                <a:solidFill>
                  <a:srgbClr val="FFFFFF"/>
                </a:solidFill>
              </a14:hiddenFill>
            </a:ext>
          </a:extLst>
        </p:spPr>
      </p:pic>
      <p:pic>
        <p:nvPicPr>
          <p:cNvPr id="10243" name="Picture 3" descr="C:\Users\spaull\Dropbox\Consulting\UDM - Mozambique\Online MCQ test 2013\Distributions\positive skew.jpg"/>
          <p:cNvPicPr>
            <a:picLocks noChangeAspect="1" noChangeArrowheads="1"/>
          </p:cNvPicPr>
          <p:nvPr/>
        </p:nvPicPr>
        <p:blipFill rotWithShape="1">
          <a:blip r:embed="rId4">
            <a:extLst>
              <a:ext uri="{28A0092B-C50C-407E-A947-70E740481C1C}">
                <a14:useLocalDpi xmlns:a14="http://schemas.microsoft.com/office/drawing/2010/main" val="0"/>
              </a:ext>
            </a:extLst>
          </a:blip>
          <a:srcRect b="50000"/>
          <a:stretch/>
        </p:blipFill>
        <p:spPr bwMode="auto">
          <a:xfrm>
            <a:off x="2339752" y="4245445"/>
            <a:ext cx="5040560" cy="21545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9512" y="2430180"/>
            <a:ext cx="2016224" cy="646331"/>
          </a:xfrm>
          <a:prstGeom prst="rect">
            <a:avLst/>
          </a:prstGeom>
          <a:noFill/>
        </p:spPr>
        <p:txBody>
          <a:bodyPr wrap="square" rtlCol="0">
            <a:spAutoFit/>
          </a:bodyPr>
          <a:lstStyle/>
          <a:p>
            <a:r>
              <a:rPr lang="en-ZA" dirty="0">
                <a:solidFill>
                  <a:srgbClr val="FF0000"/>
                </a:solidFill>
              </a:rPr>
              <a:t>Negative/Left</a:t>
            </a:r>
            <a:r>
              <a:rPr lang="en-ZA" dirty="0"/>
              <a:t> skew </a:t>
            </a:r>
            <a:r>
              <a:rPr lang="en-ZA" dirty="0">
                <a:sym typeface="Wingdings" panose="05000000000000000000" pitchFamily="2" charset="2"/>
              </a:rPr>
              <a:t></a:t>
            </a:r>
            <a:endParaRPr lang="en-ZA" dirty="0"/>
          </a:p>
        </p:txBody>
      </p:sp>
      <p:sp>
        <p:nvSpPr>
          <p:cNvPr id="7" name="TextBox 6"/>
          <p:cNvSpPr txBox="1"/>
          <p:nvPr/>
        </p:nvSpPr>
        <p:spPr>
          <a:xfrm>
            <a:off x="7157022" y="4999566"/>
            <a:ext cx="2016224" cy="646331"/>
          </a:xfrm>
          <a:prstGeom prst="rect">
            <a:avLst/>
          </a:prstGeom>
          <a:noFill/>
        </p:spPr>
        <p:txBody>
          <a:bodyPr wrap="square" rtlCol="0">
            <a:spAutoFit/>
          </a:bodyPr>
          <a:lstStyle/>
          <a:p>
            <a:r>
              <a:rPr lang="en-ZA" dirty="0">
                <a:sym typeface="Wingdings" panose="05000000000000000000" pitchFamily="2" charset="2"/>
              </a:rPr>
              <a:t> </a:t>
            </a:r>
            <a:r>
              <a:rPr lang="en-ZA" dirty="0">
                <a:solidFill>
                  <a:srgbClr val="FF0000"/>
                </a:solidFill>
                <a:sym typeface="Wingdings" panose="05000000000000000000" pitchFamily="2" charset="2"/>
              </a:rPr>
              <a:t>Positive/Right</a:t>
            </a:r>
            <a:r>
              <a:rPr lang="en-ZA" dirty="0">
                <a:sym typeface="Wingdings" panose="05000000000000000000" pitchFamily="2" charset="2"/>
              </a:rPr>
              <a:t> </a:t>
            </a:r>
            <a:r>
              <a:rPr lang="en-ZA" dirty="0"/>
              <a:t>skew </a:t>
            </a:r>
          </a:p>
        </p:txBody>
      </p:sp>
      <p:sp>
        <p:nvSpPr>
          <p:cNvPr id="8" name="TextBox 7"/>
          <p:cNvSpPr txBox="1"/>
          <p:nvPr/>
        </p:nvSpPr>
        <p:spPr>
          <a:xfrm>
            <a:off x="179512" y="3573016"/>
            <a:ext cx="2016224" cy="1569660"/>
          </a:xfrm>
          <a:prstGeom prst="rect">
            <a:avLst/>
          </a:prstGeom>
          <a:noFill/>
        </p:spPr>
        <p:txBody>
          <a:bodyPr wrap="square" rtlCol="0">
            <a:spAutoFit/>
          </a:bodyPr>
          <a:lstStyle/>
          <a:p>
            <a:pPr algn="just"/>
            <a:r>
              <a:rPr lang="en-ZA" sz="1200" b="1" u="sng" dirty="0"/>
              <a:t>TIP</a:t>
            </a:r>
            <a:r>
              <a:rPr lang="en-ZA" sz="1200" dirty="0"/>
              <a:t>: To remember if it is positive skew or negative skew, think of the distribution like a door-stop. Does the door touch the positive side or the negative side of the distribution?</a:t>
            </a:r>
          </a:p>
        </p:txBody>
      </p:sp>
    </p:spTree>
    <p:extLst>
      <p:ext uri="{BB962C8B-B14F-4D97-AF65-F5344CB8AC3E}">
        <p14:creationId xmlns:p14="http://schemas.microsoft.com/office/powerpoint/2010/main" val="3001463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fld id="{7B24812F-EABF-4566-9F22-0F1BE8042F0E}" type="slidenum">
              <a:rPr lang="en-US" altLang="en-US"/>
              <a:pPr/>
              <a:t>23</a:t>
            </a:fld>
            <a:endParaRPr lang="en-US" altLang="en-US"/>
          </a:p>
        </p:txBody>
      </p:sp>
      <p:sp>
        <p:nvSpPr>
          <p:cNvPr id="74797" name="Rectangle 45"/>
          <p:cNvSpPr>
            <a:spLocks noChangeArrowheads="1"/>
          </p:cNvSpPr>
          <p:nvPr/>
        </p:nvSpPr>
        <p:spPr bwMode="auto">
          <a:xfrm>
            <a:off x="6096000" y="3733800"/>
            <a:ext cx="2895600" cy="2438400"/>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98" name="Rectangle 46"/>
          <p:cNvSpPr>
            <a:spLocks noChangeArrowheads="1"/>
          </p:cNvSpPr>
          <p:nvPr/>
        </p:nvSpPr>
        <p:spPr bwMode="auto">
          <a:xfrm>
            <a:off x="152400" y="3733800"/>
            <a:ext cx="2895600" cy="2438400"/>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96" name="Rectangle 44"/>
          <p:cNvSpPr>
            <a:spLocks noChangeArrowheads="1"/>
          </p:cNvSpPr>
          <p:nvPr/>
        </p:nvSpPr>
        <p:spPr bwMode="auto">
          <a:xfrm>
            <a:off x="3124200" y="3733800"/>
            <a:ext cx="2895600" cy="2438400"/>
          </a:xfrm>
          <a:prstGeom prst="rect">
            <a:avLst/>
          </a:prstGeom>
          <a:solidFill>
            <a:srgbClr val="FDE0BD"/>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54" name="Rectangle 2"/>
          <p:cNvSpPr>
            <a:spLocks noGrp="1" noChangeArrowheads="1"/>
          </p:cNvSpPr>
          <p:nvPr>
            <p:ph type="title"/>
          </p:nvPr>
        </p:nvSpPr>
        <p:spPr/>
        <p:txBody>
          <a:bodyPr/>
          <a:lstStyle/>
          <a:p>
            <a:pPr>
              <a:lnSpc>
                <a:spcPct val="80000"/>
              </a:lnSpc>
            </a:pPr>
            <a:r>
              <a:rPr lang="en-US" altLang="en-US"/>
              <a:t>Shape of a Distribution</a:t>
            </a:r>
          </a:p>
        </p:txBody>
      </p:sp>
      <p:sp>
        <p:nvSpPr>
          <p:cNvPr id="74755" name="Rectangle 3"/>
          <p:cNvSpPr>
            <a:spLocks noGrp="1" noChangeArrowheads="1"/>
          </p:cNvSpPr>
          <p:nvPr>
            <p:ph type="body" idx="1"/>
          </p:nvPr>
        </p:nvSpPr>
        <p:spPr/>
        <p:txBody>
          <a:bodyPr/>
          <a:lstStyle/>
          <a:p>
            <a:pPr>
              <a:lnSpc>
                <a:spcPct val="110000"/>
              </a:lnSpc>
            </a:pPr>
            <a:r>
              <a:rPr lang="en-US" altLang="en-US"/>
              <a:t>Describes how data are distributed</a:t>
            </a:r>
          </a:p>
          <a:p>
            <a:pPr>
              <a:lnSpc>
                <a:spcPct val="110000"/>
              </a:lnSpc>
            </a:pPr>
            <a:r>
              <a:rPr lang="en-US" altLang="en-US"/>
              <a:t>Measures of shape</a:t>
            </a:r>
          </a:p>
          <a:p>
            <a:pPr lvl="1">
              <a:lnSpc>
                <a:spcPct val="110000"/>
              </a:lnSpc>
            </a:pPr>
            <a:r>
              <a:rPr lang="en-US" altLang="en-US"/>
              <a:t>Symmetric or skewed</a:t>
            </a:r>
          </a:p>
        </p:txBody>
      </p:sp>
      <p:sp>
        <p:nvSpPr>
          <p:cNvPr id="74756" name="Freeform 4"/>
          <p:cNvSpPr>
            <a:spLocks/>
          </p:cNvSpPr>
          <p:nvPr/>
        </p:nvSpPr>
        <p:spPr bwMode="auto">
          <a:xfrm>
            <a:off x="2090738" y="4819650"/>
            <a:ext cx="452437" cy="1071563"/>
          </a:xfrm>
          <a:custGeom>
            <a:avLst/>
            <a:gdLst>
              <a:gd name="T0" fmla="*/ 284 w 285"/>
              <a:gd name="T1" fmla="*/ 674 h 675"/>
              <a:gd name="T2" fmla="*/ 254 w 285"/>
              <a:gd name="T3" fmla="*/ 667 h 675"/>
              <a:gd name="T4" fmla="*/ 239 w 285"/>
              <a:gd name="T5" fmla="*/ 659 h 675"/>
              <a:gd name="T6" fmla="*/ 225 w 285"/>
              <a:gd name="T7" fmla="*/ 648 h 675"/>
              <a:gd name="T8" fmla="*/ 210 w 285"/>
              <a:gd name="T9" fmla="*/ 633 h 675"/>
              <a:gd name="T10" fmla="*/ 195 w 285"/>
              <a:gd name="T11" fmla="*/ 612 h 675"/>
              <a:gd name="T12" fmla="*/ 180 w 285"/>
              <a:gd name="T13" fmla="*/ 583 h 675"/>
              <a:gd name="T14" fmla="*/ 150 w 285"/>
              <a:gd name="T15" fmla="*/ 506 h 675"/>
              <a:gd name="T16" fmla="*/ 119 w 285"/>
              <a:gd name="T17" fmla="*/ 396 h 675"/>
              <a:gd name="T18" fmla="*/ 91 w 285"/>
              <a:gd name="T19" fmla="*/ 263 h 675"/>
              <a:gd name="T20" fmla="*/ 76 w 285"/>
              <a:gd name="T21" fmla="*/ 197 h 675"/>
              <a:gd name="T22" fmla="*/ 61 w 285"/>
              <a:gd name="T23" fmla="*/ 133 h 675"/>
              <a:gd name="T24" fmla="*/ 45 w 285"/>
              <a:gd name="T25" fmla="*/ 78 h 675"/>
              <a:gd name="T26" fmla="*/ 30 w 285"/>
              <a:gd name="T27" fmla="*/ 36 h 675"/>
              <a:gd name="T28" fmla="*/ 15 w 285"/>
              <a:gd name="T29" fmla="*/ 10 h 675"/>
              <a:gd name="T30" fmla="*/ 0 w 285"/>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5" h="675">
                <a:moveTo>
                  <a:pt x="284" y="674"/>
                </a:moveTo>
                <a:lnTo>
                  <a:pt x="254" y="667"/>
                </a:lnTo>
                <a:lnTo>
                  <a:pt x="239" y="659"/>
                </a:lnTo>
                <a:lnTo>
                  <a:pt x="225" y="648"/>
                </a:lnTo>
                <a:lnTo>
                  <a:pt x="210" y="633"/>
                </a:lnTo>
                <a:lnTo>
                  <a:pt x="195" y="612"/>
                </a:lnTo>
                <a:lnTo>
                  <a:pt x="180" y="583"/>
                </a:lnTo>
                <a:lnTo>
                  <a:pt x="150" y="506"/>
                </a:lnTo>
                <a:lnTo>
                  <a:pt x="119" y="396"/>
                </a:lnTo>
                <a:lnTo>
                  <a:pt x="91" y="263"/>
                </a:lnTo>
                <a:lnTo>
                  <a:pt x="76" y="197"/>
                </a:lnTo>
                <a:lnTo>
                  <a:pt x="61" y="133"/>
                </a:lnTo>
                <a:lnTo>
                  <a:pt x="45" y="78"/>
                </a:lnTo>
                <a:lnTo>
                  <a:pt x="30" y="36"/>
                </a:lnTo>
                <a:lnTo>
                  <a:pt x="15"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57" name="Freeform 5"/>
          <p:cNvSpPr>
            <a:spLocks/>
          </p:cNvSpPr>
          <p:nvPr/>
        </p:nvSpPr>
        <p:spPr bwMode="auto">
          <a:xfrm>
            <a:off x="738188" y="4819650"/>
            <a:ext cx="1354137" cy="1071563"/>
          </a:xfrm>
          <a:custGeom>
            <a:avLst/>
            <a:gdLst>
              <a:gd name="T0" fmla="*/ 0 w 853"/>
              <a:gd name="T1" fmla="*/ 674 h 675"/>
              <a:gd name="T2" fmla="*/ 90 w 853"/>
              <a:gd name="T3" fmla="*/ 667 h 675"/>
              <a:gd name="T4" fmla="*/ 134 w 853"/>
              <a:gd name="T5" fmla="*/ 659 h 675"/>
              <a:gd name="T6" fmla="*/ 179 w 853"/>
              <a:gd name="T7" fmla="*/ 648 h 675"/>
              <a:gd name="T8" fmla="*/ 225 w 853"/>
              <a:gd name="T9" fmla="*/ 633 h 675"/>
              <a:gd name="T10" fmla="*/ 269 w 853"/>
              <a:gd name="T11" fmla="*/ 612 h 675"/>
              <a:gd name="T12" fmla="*/ 314 w 853"/>
              <a:gd name="T13" fmla="*/ 583 h 675"/>
              <a:gd name="T14" fmla="*/ 403 w 853"/>
              <a:gd name="T15" fmla="*/ 506 h 675"/>
              <a:gd name="T16" fmla="*/ 494 w 853"/>
              <a:gd name="T17" fmla="*/ 396 h 675"/>
              <a:gd name="T18" fmla="*/ 583 w 853"/>
              <a:gd name="T19" fmla="*/ 263 h 675"/>
              <a:gd name="T20" fmla="*/ 628 w 853"/>
              <a:gd name="T21" fmla="*/ 197 h 675"/>
              <a:gd name="T22" fmla="*/ 674 w 853"/>
              <a:gd name="T23" fmla="*/ 133 h 675"/>
              <a:gd name="T24" fmla="*/ 717 w 853"/>
              <a:gd name="T25" fmla="*/ 78 h 675"/>
              <a:gd name="T26" fmla="*/ 763 w 853"/>
              <a:gd name="T27" fmla="*/ 36 h 675"/>
              <a:gd name="T28" fmla="*/ 808 w 853"/>
              <a:gd name="T29" fmla="*/ 10 h 675"/>
              <a:gd name="T30" fmla="*/ 852 w 853"/>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53" h="675">
                <a:moveTo>
                  <a:pt x="0" y="674"/>
                </a:moveTo>
                <a:lnTo>
                  <a:pt x="90" y="667"/>
                </a:lnTo>
                <a:lnTo>
                  <a:pt x="134" y="659"/>
                </a:lnTo>
                <a:lnTo>
                  <a:pt x="179" y="648"/>
                </a:lnTo>
                <a:lnTo>
                  <a:pt x="225" y="633"/>
                </a:lnTo>
                <a:lnTo>
                  <a:pt x="269" y="612"/>
                </a:lnTo>
                <a:lnTo>
                  <a:pt x="314" y="583"/>
                </a:lnTo>
                <a:lnTo>
                  <a:pt x="403" y="506"/>
                </a:lnTo>
                <a:lnTo>
                  <a:pt x="494" y="396"/>
                </a:lnTo>
                <a:lnTo>
                  <a:pt x="583" y="263"/>
                </a:lnTo>
                <a:lnTo>
                  <a:pt x="628" y="197"/>
                </a:lnTo>
                <a:lnTo>
                  <a:pt x="674" y="133"/>
                </a:lnTo>
                <a:lnTo>
                  <a:pt x="717" y="78"/>
                </a:lnTo>
                <a:lnTo>
                  <a:pt x="763" y="36"/>
                </a:lnTo>
                <a:lnTo>
                  <a:pt x="808" y="10"/>
                </a:lnTo>
                <a:lnTo>
                  <a:pt x="852"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58" name="Freeform 6"/>
          <p:cNvSpPr>
            <a:spLocks/>
          </p:cNvSpPr>
          <p:nvPr/>
        </p:nvSpPr>
        <p:spPr bwMode="auto">
          <a:xfrm>
            <a:off x="4559300" y="4819650"/>
            <a:ext cx="904875" cy="1071563"/>
          </a:xfrm>
          <a:custGeom>
            <a:avLst/>
            <a:gdLst>
              <a:gd name="T0" fmla="*/ 569 w 570"/>
              <a:gd name="T1" fmla="*/ 674 h 675"/>
              <a:gd name="T2" fmla="*/ 508 w 570"/>
              <a:gd name="T3" fmla="*/ 667 h 675"/>
              <a:gd name="T4" fmla="*/ 478 w 570"/>
              <a:gd name="T5" fmla="*/ 659 h 675"/>
              <a:gd name="T6" fmla="*/ 449 w 570"/>
              <a:gd name="T7" fmla="*/ 648 h 675"/>
              <a:gd name="T8" fmla="*/ 419 w 570"/>
              <a:gd name="T9" fmla="*/ 633 h 675"/>
              <a:gd name="T10" fmla="*/ 389 w 570"/>
              <a:gd name="T11" fmla="*/ 612 h 675"/>
              <a:gd name="T12" fmla="*/ 358 w 570"/>
              <a:gd name="T13" fmla="*/ 583 h 675"/>
              <a:gd name="T14" fmla="*/ 300 w 570"/>
              <a:gd name="T15" fmla="*/ 506 h 675"/>
              <a:gd name="T16" fmla="*/ 239 w 570"/>
              <a:gd name="T17" fmla="*/ 396 h 675"/>
              <a:gd name="T18" fmla="*/ 178 w 570"/>
              <a:gd name="T19" fmla="*/ 263 h 675"/>
              <a:gd name="T20" fmla="*/ 150 w 570"/>
              <a:gd name="T21" fmla="*/ 197 h 675"/>
              <a:gd name="T22" fmla="*/ 120 w 570"/>
              <a:gd name="T23" fmla="*/ 133 h 675"/>
              <a:gd name="T24" fmla="*/ 89 w 570"/>
              <a:gd name="T25" fmla="*/ 78 h 675"/>
              <a:gd name="T26" fmla="*/ 59 w 570"/>
              <a:gd name="T27" fmla="*/ 36 h 675"/>
              <a:gd name="T28" fmla="*/ 29 w 570"/>
              <a:gd name="T29" fmla="*/ 10 h 675"/>
              <a:gd name="T30" fmla="*/ 0 w 570"/>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0" h="675">
                <a:moveTo>
                  <a:pt x="569" y="674"/>
                </a:moveTo>
                <a:lnTo>
                  <a:pt x="508" y="667"/>
                </a:lnTo>
                <a:lnTo>
                  <a:pt x="478" y="659"/>
                </a:lnTo>
                <a:lnTo>
                  <a:pt x="449" y="648"/>
                </a:lnTo>
                <a:lnTo>
                  <a:pt x="419" y="633"/>
                </a:lnTo>
                <a:lnTo>
                  <a:pt x="389" y="612"/>
                </a:lnTo>
                <a:lnTo>
                  <a:pt x="358" y="583"/>
                </a:lnTo>
                <a:lnTo>
                  <a:pt x="300" y="506"/>
                </a:lnTo>
                <a:lnTo>
                  <a:pt x="239" y="396"/>
                </a:lnTo>
                <a:lnTo>
                  <a:pt x="178" y="263"/>
                </a:lnTo>
                <a:lnTo>
                  <a:pt x="150" y="197"/>
                </a:lnTo>
                <a:lnTo>
                  <a:pt x="120" y="133"/>
                </a:lnTo>
                <a:lnTo>
                  <a:pt x="89" y="78"/>
                </a:lnTo>
                <a:lnTo>
                  <a:pt x="59" y="36"/>
                </a:lnTo>
                <a:lnTo>
                  <a:pt x="29"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59" name="Freeform 7"/>
          <p:cNvSpPr>
            <a:spLocks/>
          </p:cNvSpPr>
          <p:nvPr/>
        </p:nvSpPr>
        <p:spPr bwMode="auto">
          <a:xfrm>
            <a:off x="3657600" y="4819650"/>
            <a:ext cx="903288" cy="1071563"/>
          </a:xfrm>
          <a:custGeom>
            <a:avLst/>
            <a:gdLst>
              <a:gd name="T0" fmla="*/ 0 w 569"/>
              <a:gd name="T1" fmla="*/ 674 h 675"/>
              <a:gd name="T2" fmla="*/ 59 w 569"/>
              <a:gd name="T3" fmla="*/ 667 h 675"/>
              <a:gd name="T4" fmla="*/ 89 w 569"/>
              <a:gd name="T5" fmla="*/ 659 h 675"/>
              <a:gd name="T6" fmla="*/ 120 w 569"/>
              <a:gd name="T7" fmla="*/ 648 h 675"/>
              <a:gd name="T8" fmla="*/ 150 w 569"/>
              <a:gd name="T9" fmla="*/ 633 h 675"/>
              <a:gd name="T10" fmla="*/ 178 w 569"/>
              <a:gd name="T11" fmla="*/ 612 h 675"/>
              <a:gd name="T12" fmla="*/ 209 w 569"/>
              <a:gd name="T13" fmla="*/ 583 h 675"/>
              <a:gd name="T14" fmla="*/ 269 w 569"/>
              <a:gd name="T15" fmla="*/ 506 h 675"/>
              <a:gd name="T16" fmla="*/ 328 w 569"/>
              <a:gd name="T17" fmla="*/ 396 h 675"/>
              <a:gd name="T18" fmla="*/ 389 w 569"/>
              <a:gd name="T19" fmla="*/ 263 h 675"/>
              <a:gd name="T20" fmla="*/ 419 w 569"/>
              <a:gd name="T21" fmla="*/ 197 h 675"/>
              <a:gd name="T22" fmla="*/ 449 w 569"/>
              <a:gd name="T23" fmla="*/ 133 h 675"/>
              <a:gd name="T24" fmla="*/ 478 w 569"/>
              <a:gd name="T25" fmla="*/ 78 h 675"/>
              <a:gd name="T26" fmla="*/ 508 w 569"/>
              <a:gd name="T27" fmla="*/ 36 h 675"/>
              <a:gd name="T28" fmla="*/ 538 w 569"/>
              <a:gd name="T29" fmla="*/ 10 h 675"/>
              <a:gd name="T30" fmla="*/ 568 w 569"/>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69" h="675">
                <a:moveTo>
                  <a:pt x="0" y="674"/>
                </a:moveTo>
                <a:lnTo>
                  <a:pt x="59" y="667"/>
                </a:lnTo>
                <a:lnTo>
                  <a:pt x="89" y="659"/>
                </a:lnTo>
                <a:lnTo>
                  <a:pt x="120" y="648"/>
                </a:lnTo>
                <a:lnTo>
                  <a:pt x="150" y="633"/>
                </a:lnTo>
                <a:lnTo>
                  <a:pt x="178" y="612"/>
                </a:lnTo>
                <a:lnTo>
                  <a:pt x="209" y="583"/>
                </a:lnTo>
                <a:lnTo>
                  <a:pt x="269" y="506"/>
                </a:lnTo>
                <a:lnTo>
                  <a:pt x="328" y="396"/>
                </a:lnTo>
                <a:lnTo>
                  <a:pt x="389" y="263"/>
                </a:lnTo>
                <a:lnTo>
                  <a:pt x="419" y="197"/>
                </a:lnTo>
                <a:lnTo>
                  <a:pt x="449" y="133"/>
                </a:lnTo>
                <a:lnTo>
                  <a:pt x="478" y="78"/>
                </a:lnTo>
                <a:lnTo>
                  <a:pt x="508" y="36"/>
                </a:lnTo>
                <a:lnTo>
                  <a:pt x="538" y="10"/>
                </a:lnTo>
                <a:lnTo>
                  <a:pt x="568"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60" name="Freeform 8"/>
          <p:cNvSpPr>
            <a:spLocks/>
          </p:cNvSpPr>
          <p:nvPr/>
        </p:nvSpPr>
        <p:spPr bwMode="auto">
          <a:xfrm>
            <a:off x="7194550" y="4795838"/>
            <a:ext cx="1354138" cy="1071562"/>
          </a:xfrm>
          <a:custGeom>
            <a:avLst/>
            <a:gdLst>
              <a:gd name="T0" fmla="*/ 852 w 853"/>
              <a:gd name="T1" fmla="*/ 674 h 675"/>
              <a:gd name="T2" fmla="*/ 761 w 853"/>
              <a:gd name="T3" fmla="*/ 667 h 675"/>
              <a:gd name="T4" fmla="*/ 718 w 853"/>
              <a:gd name="T5" fmla="*/ 659 h 675"/>
              <a:gd name="T6" fmla="*/ 672 w 853"/>
              <a:gd name="T7" fmla="*/ 648 h 675"/>
              <a:gd name="T8" fmla="*/ 627 w 853"/>
              <a:gd name="T9" fmla="*/ 633 h 675"/>
              <a:gd name="T10" fmla="*/ 583 w 853"/>
              <a:gd name="T11" fmla="*/ 612 h 675"/>
              <a:gd name="T12" fmla="*/ 538 w 853"/>
              <a:gd name="T13" fmla="*/ 583 h 675"/>
              <a:gd name="T14" fmla="*/ 447 w 853"/>
              <a:gd name="T15" fmla="*/ 506 h 675"/>
              <a:gd name="T16" fmla="*/ 358 w 853"/>
              <a:gd name="T17" fmla="*/ 396 h 675"/>
              <a:gd name="T18" fmla="*/ 269 w 853"/>
              <a:gd name="T19" fmla="*/ 263 h 675"/>
              <a:gd name="T20" fmla="*/ 224 w 853"/>
              <a:gd name="T21" fmla="*/ 197 h 675"/>
              <a:gd name="T22" fmla="*/ 178 w 853"/>
              <a:gd name="T23" fmla="*/ 133 h 675"/>
              <a:gd name="T24" fmla="*/ 135 w 853"/>
              <a:gd name="T25" fmla="*/ 78 h 675"/>
              <a:gd name="T26" fmla="*/ 89 w 853"/>
              <a:gd name="T27" fmla="*/ 36 h 675"/>
              <a:gd name="T28" fmla="*/ 44 w 853"/>
              <a:gd name="T29" fmla="*/ 10 h 675"/>
              <a:gd name="T30" fmla="*/ 0 w 853"/>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53" h="675">
                <a:moveTo>
                  <a:pt x="852" y="674"/>
                </a:moveTo>
                <a:lnTo>
                  <a:pt x="761" y="667"/>
                </a:lnTo>
                <a:lnTo>
                  <a:pt x="718" y="659"/>
                </a:lnTo>
                <a:lnTo>
                  <a:pt x="672" y="648"/>
                </a:lnTo>
                <a:lnTo>
                  <a:pt x="627" y="633"/>
                </a:lnTo>
                <a:lnTo>
                  <a:pt x="583" y="612"/>
                </a:lnTo>
                <a:lnTo>
                  <a:pt x="538" y="583"/>
                </a:lnTo>
                <a:lnTo>
                  <a:pt x="447" y="506"/>
                </a:lnTo>
                <a:lnTo>
                  <a:pt x="358" y="396"/>
                </a:lnTo>
                <a:lnTo>
                  <a:pt x="269" y="263"/>
                </a:lnTo>
                <a:lnTo>
                  <a:pt x="224" y="197"/>
                </a:lnTo>
                <a:lnTo>
                  <a:pt x="178" y="133"/>
                </a:lnTo>
                <a:lnTo>
                  <a:pt x="135" y="78"/>
                </a:lnTo>
                <a:lnTo>
                  <a:pt x="89" y="36"/>
                </a:lnTo>
                <a:lnTo>
                  <a:pt x="44"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61" name="Freeform 9"/>
          <p:cNvSpPr>
            <a:spLocks/>
          </p:cNvSpPr>
          <p:nvPr/>
        </p:nvSpPr>
        <p:spPr bwMode="auto">
          <a:xfrm>
            <a:off x="6743700" y="4795838"/>
            <a:ext cx="452438" cy="1071562"/>
          </a:xfrm>
          <a:custGeom>
            <a:avLst/>
            <a:gdLst>
              <a:gd name="T0" fmla="*/ 0 w 285"/>
              <a:gd name="T1" fmla="*/ 674 h 675"/>
              <a:gd name="T2" fmla="*/ 28 w 285"/>
              <a:gd name="T3" fmla="*/ 667 h 675"/>
              <a:gd name="T4" fmla="*/ 43 w 285"/>
              <a:gd name="T5" fmla="*/ 659 h 675"/>
              <a:gd name="T6" fmla="*/ 59 w 285"/>
              <a:gd name="T7" fmla="*/ 648 h 675"/>
              <a:gd name="T8" fmla="*/ 74 w 285"/>
              <a:gd name="T9" fmla="*/ 633 h 675"/>
              <a:gd name="T10" fmla="*/ 89 w 285"/>
              <a:gd name="T11" fmla="*/ 612 h 675"/>
              <a:gd name="T12" fmla="*/ 104 w 285"/>
              <a:gd name="T13" fmla="*/ 583 h 675"/>
              <a:gd name="T14" fmla="*/ 134 w 285"/>
              <a:gd name="T15" fmla="*/ 506 h 675"/>
              <a:gd name="T16" fmla="*/ 165 w 285"/>
              <a:gd name="T17" fmla="*/ 396 h 675"/>
              <a:gd name="T18" fmla="*/ 193 w 285"/>
              <a:gd name="T19" fmla="*/ 263 h 675"/>
              <a:gd name="T20" fmla="*/ 208 w 285"/>
              <a:gd name="T21" fmla="*/ 197 h 675"/>
              <a:gd name="T22" fmla="*/ 223 w 285"/>
              <a:gd name="T23" fmla="*/ 133 h 675"/>
              <a:gd name="T24" fmla="*/ 239 w 285"/>
              <a:gd name="T25" fmla="*/ 78 h 675"/>
              <a:gd name="T26" fmla="*/ 254 w 285"/>
              <a:gd name="T27" fmla="*/ 36 h 675"/>
              <a:gd name="T28" fmla="*/ 269 w 285"/>
              <a:gd name="T29" fmla="*/ 10 h 675"/>
              <a:gd name="T30" fmla="*/ 284 w 285"/>
              <a:gd name="T31" fmla="*/ 0 h 6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5" h="675">
                <a:moveTo>
                  <a:pt x="0" y="674"/>
                </a:moveTo>
                <a:lnTo>
                  <a:pt x="28" y="667"/>
                </a:lnTo>
                <a:lnTo>
                  <a:pt x="43" y="659"/>
                </a:lnTo>
                <a:lnTo>
                  <a:pt x="59" y="648"/>
                </a:lnTo>
                <a:lnTo>
                  <a:pt x="74" y="633"/>
                </a:lnTo>
                <a:lnTo>
                  <a:pt x="89" y="612"/>
                </a:lnTo>
                <a:lnTo>
                  <a:pt x="104" y="583"/>
                </a:lnTo>
                <a:lnTo>
                  <a:pt x="134" y="506"/>
                </a:lnTo>
                <a:lnTo>
                  <a:pt x="165" y="396"/>
                </a:lnTo>
                <a:lnTo>
                  <a:pt x="193" y="263"/>
                </a:lnTo>
                <a:lnTo>
                  <a:pt x="208" y="197"/>
                </a:lnTo>
                <a:lnTo>
                  <a:pt x="223" y="133"/>
                </a:lnTo>
                <a:lnTo>
                  <a:pt x="239" y="78"/>
                </a:lnTo>
                <a:lnTo>
                  <a:pt x="254" y="36"/>
                </a:lnTo>
                <a:lnTo>
                  <a:pt x="269" y="10"/>
                </a:lnTo>
                <a:lnTo>
                  <a:pt x="284"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74762" name="Rectangle 10"/>
          <p:cNvSpPr>
            <a:spLocks noChangeArrowheads="1"/>
          </p:cNvSpPr>
          <p:nvPr/>
        </p:nvSpPr>
        <p:spPr bwMode="auto">
          <a:xfrm>
            <a:off x="3657600" y="4343400"/>
            <a:ext cx="2231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000" b="1" dirty="0">
                <a:solidFill>
                  <a:srgbClr val="00B0F0"/>
                </a:solidFill>
              </a:rPr>
              <a:t>Mean</a:t>
            </a:r>
            <a:r>
              <a:rPr lang="en-US" altLang="en-US" sz="2000" b="1" dirty="0">
                <a:solidFill>
                  <a:schemeClr val="tx2"/>
                </a:solidFill>
              </a:rPr>
              <a:t> =</a:t>
            </a:r>
            <a:r>
              <a:rPr lang="en-US" altLang="en-US" sz="2000" b="1" dirty="0">
                <a:solidFill>
                  <a:srgbClr val="FF0000"/>
                </a:solidFill>
              </a:rPr>
              <a:t> Median</a:t>
            </a:r>
            <a:endParaRPr lang="en-US" altLang="en-US" sz="1800" b="1" dirty="0">
              <a:solidFill>
                <a:srgbClr val="FF0000"/>
              </a:solidFill>
            </a:endParaRPr>
          </a:p>
        </p:txBody>
      </p:sp>
      <p:sp>
        <p:nvSpPr>
          <p:cNvPr id="74763" name="Rectangle 11"/>
          <p:cNvSpPr>
            <a:spLocks noChangeArrowheads="1"/>
          </p:cNvSpPr>
          <p:nvPr/>
        </p:nvSpPr>
        <p:spPr bwMode="auto">
          <a:xfrm>
            <a:off x="4779963" y="4318000"/>
            <a:ext cx="2444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1800" b="1">
                <a:solidFill>
                  <a:srgbClr val="FF0000"/>
                </a:solidFill>
              </a:rPr>
              <a:t> </a:t>
            </a:r>
          </a:p>
        </p:txBody>
      </p:sp>
      <p:sp>
        <p:nvSpPr>
          <p:cNvPr id="74764" name="Rectangle 12"/>
          <p:cNvSpPr>
            <a:spLocks noChangeArrowheads="1"/>
          </p:cNvSpPr>
          <p:nvPr/>
        </p:nvSpPr>
        <p:spPr bwMode="auto">
          <a:xfrm>
            <a:off x="6164263" y="4648200"/>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65" name="Rectangle 13"/>
          <p:cNvSpPr>
            <a:spLocks noChangeArrowheads="1"/>
          </p:cNvSpPr>
          <p:nvPr/>
        </p:nvSpPr>
        <p:spPr bwMode="auto">
          <a:xfrm>
            <a:off x="762000" y="4343400"/>
            <a:ext cx="223138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000" b="1" dirty="0">
                <a:solidFill>
                  <a:srgbClr val="00B0F0"/>
                </a:solidFill>
              </a:rPr>
              <a:t>Mean</a:t>
            </a:r>
            <a:r>
              <a:rPr lang="en-US" altLang="en-US" sz="2000" b="1" dirty="0">
                <a:solidFill>
                  <a:schemeClr val="tx2"/>
                </a:solidFill>
              </a:rPr>
              <a:t> &lt;</a:t>
            </a:r>
            <a:r>
              <a:rPr lang="en-US" altLang="en-US" sz="2000" b="1" dirty="0">
                <a:solidFill>
                  <a:srgbClr val="FF0000"/>
                </a:solidFill>
              </a:rPr>
              <a:t> Median</a:t>
            </a:r>
            <a:endParaRPr lang="en-US" altLang="en-US" sz="2000" b="1" dirty="0">
              <a:solidFill>
                <a:srgbClr val="FF00FF"/>
              </a:solidFill>
            </a:endParaRPr>
          </a:p>
        </p:txBody>
      </p:sp>
      <p:sp>
        <p:nvSpPr>
          <p:cNvPr id="74766" name="Rectangle 14"/>
          <p:cNvSpPr>
            <a:spLocks noChangeArrowheads="1"/>
          </p:cNvSpPr>
          <p:nvPr/>
        </p:nvSpPr>
        <p:spPr bwMode="auto">
          <a:xfrm>
            <a:off x="2393950" y="4665663"/>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67" name="Rectangle 15"/>
          <p:cNvSpPr>
            <a:spLocks noChangeArrowheads="1"/>
          </p:cNvSpPr>
          <p:nvPr/>
        </p:nvSpPr>
        <p:spPr bwMode="auto">
          <a:xfrm>
            <a:off x="6477000" y="4343400"/>
            <a:ext cx="229069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1800" b="1" dirty="0">
                <a:solidFill>
                  <a:srgbClr val="FF00FF"/>
                </a:solidFill>
              </a:rPr>
              <a:t> </a:t>
            </a:r>
            <a:r>
              <a:rPr lang="en-US" altLang="en-US" sz="2000" b="1" dirty="0">
                <a:solidFill>
                  <a:srgbClr val="FF0000"/>
                </a:solidFill>
              </a:rPr>
              <a:t>Median &lt; </a:t>
            </a:r>
            <a:r>
              <a:rPr lang="en-US" altLang="en-US" sz="2000" b="1" dirty="0">
                <a:solidFill>
                  <a:srgbClr val="00B0F0"/>
                </a:solidFill>
              </a:rPr>
              <a:t>Mean</a:t>
            </a:r>
            <a:endParaRPr lang="en-US" altLang="en-US" sz="1800" b="1" dirty="0">
              <a:solidFill>
                <a:srgbClr val="00B0F0"/>
              </a:solidFill>
            </a:endParaRPr>
          </a:p>
        </p:txBody>
      </p:sp>
      <p:sp>
        <p:nvSpPr>
          <p:cNvPr id="74768" name="Rectangle 16"/>
          <p:cNvSpPr>
            <a:spLocks noChangeArrowheads="1"/>
          </p:cNvSpPr>
          <p:nvPr/>
        </p:nvSpPr>
        <p:spPr bwMode="auto">
          <a:xfrm>
            <a:off x="8666163" y="4648200"/>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0" name="Line 18"/>
          <p:cNvSpPr>
            <a:spLocks noChangeShapeType="1"/>
          </p:cNvSpPr>
          <p:nvPr/>
        </p:nvSpPr>
        <p:spPr bwMode="auto">
          <a:xfrm flipH="1">
            <a:off x="7391400" y="4876800"/>
            <a:ext cx="0" cy="10668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1" name="Line 19"/>
          <p:cNvSpPr>
            <a:spLocks noChangeShapeType="1"/>
          </p:cNvSpPr>
          <p:nvPr/>
        </p:nvSpPr>
        <p:spPr bwMode="auto">
          <a:xfrm>
            <a:off x="7620000" y="5257800"/>
            <a:ext cx="0" cy="685800"/>
          </a:xfrm>
          <a:prstGeom prst="line">
            <a:avLst/>
          </a:prstGeom>
          <a:noFill/>
          <a:ln w="2540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3" name="Line 21"/>
          <p:cNvSpPr>
            <a:spLocks noChangeShapeType="1"/>
          </p:cNvSpPr>
          <p:nvPr/>
        </p:nvSpPr>
        <p:spPr bwMode="auto">
          <a:xfrm flipH="1">
            <a:off x="1752600" y="5105400"/>
            <a:ext cx="0" cy="8382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4" name="Line 22"/>
          <p:cNvSpPr>
            <a:spLocks noChangeShapeType="1"/>
          </p:cNvSpPr>
          <p:nvPr/>
        </p:nvSpPr>
        <p:spPr bwMode="auto">
          <a:xfrm flipH="1">
            <a:off x="1524000" y="5519738"/>
            <a:ext cx="1588" cy="423862"/>
          </a:xfrm>
          <a:prstGeom prst="line">
            <a:avLst/>
          </a:prstGeom>
          <a:noFill/>
          <a:ln w="2540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5" name="Line 23"/>
          <p:cNvSpPr>
            <a:spLocks noChangeShapeType="1"/>
          </p:cNvSpPr>
          <p:nvPr/>
        </p:nvSpPr>
        <p:spPr bwMode="auto">
          <a:xfrm>
            <a:off x="4572000" y="4800600"/>
            <a:ext cx="0" cy="114300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6" name="Line 24"/>
          <p:cNvSpPr>
            <a:spLocks noChangeShapeType="1"/>
          </p:cNvSpPr>
          <p:nvPr/>
        </p:nvSpPr>
        <p:spPr bwMode="auto">
          <a:xfrm>
            <a:off x="4572000" y="4953000"/>
            <a:ext cx="0" cy="762000"/>
          </a:xfrm>
          <a:prstGeom prst="line">
            <a:avLst/>
          </a:prstGeom>
          <a:noFill/>
          <a:ln w="25400">
            <a:solidFill>
              <a:srgbClr val="00B0F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78" name="Line 26"/>
          <p:cNvSpPr>
            <a:spLocks noChangeShapeType="1"/>
          </p:cNvSpPr>
          <p:nvPr/>
        </p:nvSpPr>
        <p:spPr bwMode="auto">
          <a:xfrm>
            <a:off x="3581400" y="5943600"/>
            <a:ext cx="19812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80" name="Rectangle 28"/>
          <p:cNvSpPr>
            <a:spLocks noChangeArrowheads="1"/>
          </p:cNvSpPr>
          <p:nvPr/>
        </p:nvSpPr>
        <p:spPr bwMode="auto">
          <a:xfrm>
            <a:off x="4467225" y="6003925"/>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81" name="Line 29"/>
          <p:cNvSpPr>
            <a:spLocks noChangeShapeType="1"/>
          </p:cNvSpPr>
          <p:nvPr/>
        </p:nvSpPr>
        <p:spPr bwMode="auto">
          <a:xfrm>
            <a:off x="6629400" y="5943600"/>
            <a:ext cx="189865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83" name="Rectangle 31"/>
          <p:cNvSpPr>
            <a:spLocks noChangeArrowheads="1"/>
          </p:cNvSpPr>
          <p:nvPr/>
        </p:nvSpPr>
        <p:spPr bwMode="auto">
          <a:xfrm>
            <a:off x="7553325" y="5980113"/>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84" name="Line 32"/>
          <p:cNvSpPr>
            <a:spLocks noChangeShapeType="1"/>
          </p:cNvSpPr>
          <p:nvPr/>
        </p:nvSpPr>
        <p:spPr bwMode="auto">
          <a:xfrm>
            <a:off x="685800" y="5943600"/>
            <a:ext cx="19050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86" name="Rectangle 34"/>
          <p:cNvSpPr>
            <a:spLocks noChangeArrowheads="1"/>
          </p:cNvSpPr>
          <p:nvPr/>
        </p:nvSpPr>
        <p:spPr bwMode="auto">
          <a:xfrm>
            <a:off x="1547813" y="6003925"/>
            <a:ext cx="184150" cy="9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74793" name="Rectangle 41"/>
          <p:cNvSpPr>
            <a:spLocks noChangeArrowheads="1"/>
          </p:cNvSpPr>
          <p:nvPr/>
        </p:nvSpPr>
        <p:spPr bwMode="auto">
          <a:xfrm>
            <a:off x="6289675" y="3803650"/>
            <a:ext cx="2535238"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t>Right-Skewed</a:t>
            </a:r>
          </a:p>
        </p:txBody>
      </p:sp>
      <p:sp>
        <p:nvSpPr>
          <p:cNvPr id="74794" name="Rectangle 42"/>
          <p:cNvSpPr>
            <a:spLocks noChangeArrowheads="1"/>
          </p:cNvSpPr>
          <p:nvPr/>
        </p:nvSpPr>
        <p:spPr bwMode="auto">
          <a:xfrm>
            <a:off x="603250" y="3816350"/>
            <a:ext cx="227965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t>Left-Skewed</a:t>
            </a:r>
          </a:p>
        </p:txBody>
      </p:sp>
      <p:sp>
        <p:nvSpPr>
          <p:cNvPr id="74795" name="Rectangle 43"/>
          <p:cNvSpPr>
            <a:spLocks noChangeArrowheads="1"/>
          </p:cNvSpPr>
          <p:nvPr/>
        </p:nvSpPr>
        <p:spPr bwMode="auto">
          <a:xfrm>
            <a:off x="3670300" y="3816350"/>
            <a:ext cx="2000250" cy="51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t>Symmetric</a:t>
            </a:r>
          </a:p>
        </p:txBody>
      </p:sp>
    </p:spTree>
    <p:extLst>
      <p:ext uri="{BB962C8B-B14F-4D97-AF65-F5344CB8AC3E}">
        <p14:creationId xmlns:p14="http://schemas.microsoft.com/office/powerpoint/2010/main" val="1326095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Positive and negative skew</a:t>
            </a:r>
          </a:p>
        </p:txBody>
      </p:sp>
      <p:pic>
        <p:nvPicPr>
          <p:cNvPr id="1026" name="Picture 2" descr="http://www.southalabama.edu/coe/bset/johnson/lectures/lec15_files/image01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3861048"/>
            <a:ext cx="5040560" cy="24370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vassarstats.net/textbook/f0204.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5250" y="1700808"/>
            <a:ext cx="5109563"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707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Example question</a:t>
            </a:r>
          </a:p>
        </p:txBody>
      </p:sp>
      <p:sp>
        <p:nvSpPr>
          <p:cNvPr id="3" name="Content Placeholder 2"/>
          <p:cNvSpPr>
            <a:spLocks noGrp="1"/>
          </p:cNvSpPr>
          <p:nvPr>
            <p:ph sz="quarter" idx="1"/>
          </p:nvPr>
        </p:nvSpPr>
        <p:spPr>
          <a:xfrm>
            <a:off x="301752" y="1527048"/>
            <a:ext cx="3478160" cy="4572000"/>
          </a:xfrm>
        </p:spPr>
        <p:txBody>
          <a:bodyPr/>
          <a:lstStyle/>
          <a:p>
            <a:endParaRPr lang="en-ZA" dirty="0"/>
          </a:p>
          <a:p>
            <a:endParaRPr lang="en-ZA" dirty="0"/>
          </a:p>
          <a:p>
            <a:r>
              <a:rPr lang="en-ZA" dirty="0"/>
              <a:t>For this graph will:</a:t>
            </a:r>
          </a:p>
          <a:p>
            <a:pPr lvl="1"/>
            <a:r>
              <a:rPr lang="en-ZA" dirty="0"/>
              <a:t>The mean &gt; mode?</a:t>
            </a:r>
          </a:p>
          <a:p>
            <a:pPr lvl="1"/>
            <a:r>
              <a:rPr lang="en-ZA" dirty="0"/>
              <a:t>The median &lt; mean?</a:t>
            </a:r>
          </a:p>
          <a:p>
            <a:pPr lvl="1"/>
            <a:r>
              <a:rPr lang="en-ZA" dirty="0"/>
              <a:t>The mean = mode?</a:t>
            </a:r>
          </a:p>
          <a:p>
            <a:pPr lvl="1"/>
            <a:r>
              <a:rPr lang="en-ZA" dirty="0"/>
              <a:t>The mean = median?</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2492896"/>
            <a:ext cx="4279577" cy="2423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0194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Example question</a:t>
            </a:r>
          </a:p>
        </p:txBody>
      </p:sp>
      <p:sp>
        <p:nvSpPr>
          <p:cNvPr id="3" name="Content Placeholder 2"/>
          <p:cNvSpPr>
            <a:spLocks noGrp="1"/>
          </p:cNvSpPr>
          <p:nvPr>
            <p:ph sz="quarter" idx="1"/>
          </p:nvPr>
        </p:nvSpPr>
        <p:spPr>
          <a:xfrm>
            <a:off x="301752" y="1527048"/>
            <a:ext cx="3478160" cy="4572000"/>
          </a:xfrm>
        </p:spPr>
        <p:txBody>
          <a:bodyPr/>
          <a:lstStyle/>
          <a:p>
            <a:r>
              <a:rPr lang="en-ZA" dirty="0"/>
              <a:t>For this graph will:</a:t>
            </a:r>
          </a:p>
          <a:p>
            <a:pPr lvl="1"/>
            <a:r>
              <a:rPr lang="en-ZA" dirty="0"/>
              <a:t>The mean &gt; mode?</a:t>
            </a:r>
          </a:p>
          <a:p>
            <a:pPr lvl="1"/>
            <a:r>
              <a:rPr lang="en-ZA" dirty="0"/>
              <a:t>The median &lt; mean?</a:t>
            </a:r>
          </a:p>
          <a:p>
            <a:pPr lvl="1"/>
            <a:r>
              <a:rPr lang="en-ZA" dirty="0"/>
              <a:t>The mean = mode?</a:t>
            </a:r>
          </a:p>
          <a:p>
            <a:pPr lvl="1"/>
            <a:r>
              <a:rPr lang="en-ZA" dirty="0"/>
              <a:t>The mean = median?</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2492896"/>
            <a:ext cx="4279577" cy="2423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a:off x="4991715" y="2060848"/>
            <a:ext cx="0" cy="50405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4991715" y="2060848"/>
            <a:ext cx="1020445"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580112" y="1484784"/>
            <a:ext cx="2880320" cy="923330"/>
          </a:xfrm>
          <a:prstGeom prst="rect">
            <a:avLst/>
          </a:prstGeom>
          <a:solidFill>
            <a:srgbClr val="FFFF00"/>
          </a:solidFill>
        </p:spPr>
        <p:txBody>
          <a:bodyPr wrap="square" rtlCol="0">
            <a:spAutoFit/>
          </a:bodyPr>
          <a:lstStyle/>
          <a:p>
            <a:r>
              <a:rPr lang="en-ZA" dirty="0"/>
              <a:t>The “highest” point in the distribution is always the mode…</a:t>
            </a:r>
          </a:p>
        </p:txBody>
      </p:sp>
    </p:spTree>
    <p:extLst>
      <p:ext uri="{BB962C8B-B14F-4D97-AF65-F5344CB8AC3E}">
        <p14:creationId xmlns:p14="http://schemas.microsoft.com/office/powerpoint/2010/main" val="2035909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A6DF4D79-110F-4139-907B-7C8EC2ED15C2}" type="slidenum">
              <a:rPr lang="en-US" altLang="en-US"/>
              <a:pPr/>
              <a:t>27</a:t>
            </a:fld>
            <a:endParaRPr lang="en-US" altLang="en-US"/>
          </a:p>
        </p:txBody>
      </p:sp>
      <p:sp>
        <p:nvSpPr>
          <p:cNvPr id="138242" name="Rectangle 2"/>
          <p:cNvSpPr>
            <a:spLocks noGrp="1" noChangeArrowheads="1"/>
          </p:cNvSpPr>
          <p:nvPr>
            <p:ph type="title"/>
          </p:nvPr>
        </p:nvSpPr>
        <p:spPr>
          <a:xfrm>
            <a:off x="914400" y="304800"/>
            <a:ext cx="7793038" cy="838200"/>
          </a:xfrm>
        </p:spPr>
        <p:txBody>
          <a:bodyPr/>
          <a:lstStyle/>
          <a:p>
            <a:pPr>
              <a:lnSpc>
                <a:spcPct val="80000"/>
              </a:lnSpc>
            </a:pPr>
            <a:r>
              <a:rPr lang="en-US" altLang="en-US"/>
              <a:t>Exploratory Data Analysis</a:t>
            </a:r>
          </a:p>
        </p:txBody>
      </p:sp>
      <p:sp>
        <p:nvSpPr>
          <p:cNvPr id="138243" name="Rectangle 3"/>
          <p:cNvSpPr>
            <a:spLocks noGrp="1" noChangeArrowheads="1"/>
          </p:cNvSpPr>
          <p:nvPr>
            <p:ph type="body" idx="1"/>
          </p:nvPr>
        </p:nvSpPr>
        <p:spPr/>
        <p:txBody>
          <a:bodyPr/>
          <a:lstStyle/>
          <a:p>
            <a:pPr>
              <a:lnSpc>
                <a:spcPct val="80000"/>
              </a:lnSpc>
            </a:pPr>
            <a:r>
              <a:rPr lang="en-US" altLang="en-US">
                <a:solidFill>
                  <a:schemeClr val="hlink"/>
                </a:solidFill>
              </a:rPr>
              <a:t>Box-and-Whisker Plot</a:t>
            </a:r>
            <a:r>
              <a:rPr lang="en-US" altLang="en-US"/>
              <a:t>: A Graphical display of data using </a:t>
            </a:r>
            <a:r>
              <a:rPr lang="en-US" altLang="en-US">
                <a:solidFill>
                  <a:schemeClr val="folHlink"/>
                </a:solidFill>
              </a:rPr>
              <a:t>5-number summary</a:t>
            </a:r>
            <a:r>
              <a:rPr lang="en-US" altLang="en-US"/>
              <a:t>:</a:t>
            </a:r>
          </a:p>
          <a:p>
            <a:pPr>
              <a:lnSpc>
                <a:spcPct val="80000"/>
              </a:lnSpc>
              <a:buFont typeface="Wingdings" pitchFamily="2" charset="2"/>
              <a:buNone/>
            </a:pPr>
            <a:r>
              <a:rPr lang="en-US" altLang="en-US"/>
              <a:t>	</a:t>
            </a:r>
          </a:p>
        </p:txBody>
      </p:sp>
      <p:sp>
        <p:nvSpPr>
          <p:cNvPr id="138244" name="Rectangle 4"/>
          <p:cNvSpPr>
            <a:spLocks noChangeArrowheads="1"/>
          </p:cNvSpPr>
          <p:nvPr/>
        </p:nvSpPr>
        <p:spPr bwMode="auto">
          <a:xfrm>
            <a:off x="1524000" y="2743200"/>
            <a:ext cx="604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solidFill>
                  <a:schemeClr val="folHlink"/>
                </a:solidFill>
              </a:rPr>
              <a:t>Minimum </a:t>
            </a:r>
            <a:r>
              <a:rPr lang="en-US" altLang="en-US" dirty="0"/>
              <a:t>--</a:t>
            </a:r>
            <a:r>
              <a:rPr lang="en-US" altLang="en-US" dirty="0">
                <a:solidFill>
                  <a:schemeClr val="folHlink"/>
                </a:solidFill>
              </a:rPr>
              <a:t> Q1 </a:t>
            </a:r>
            <a:r>
              <a:rPr lang="en-US" altLang="en-US" dirty="0"/>
              <a:t>--</a:t>
            </a:r>
            <a:r>
              <a:rPr lang="en-US" altLang="en-US" dirty="0">
                <a:solidFill>
                  <a:schemeClr val="folHlink"/>
                </a:solidFill>
              </a:rPr>
              <a:t> Median </a:t>
            </a:r>
            <a:r>
              <a:rPr lang="en-US" altLang="en-US" dirty="0"/>
              <a:t>--</a:t>
            </a:r>
            <a:r>
              <a:rPr lang="en-US" altLang="en-US" dirty="0">
                <a:solidFill>
                  <a:schemeClr val="folHlink"/>
                </a:solidFill>
              </a:rPr>
              <a:t> Q3 </a:t>
            </a:r>
            <a:r>
              <a:rPr lang="en-US" altLang="en-US" dirty="0"/>
              <a:t>--</a:t>
            </a:r>
            <a:r>
              <a:rPr lang="en-US" altLang="en-US" dirty="0">
                <a:solidFill>
                  <a:schemeClr val="folHlink"/>
                </a:solidFill>
              </a:rPr>
              <a:t> Maximum</a:t>
            </a:r>
          </a:p>
        </p:txBody>
      </p:sp>
      <p:sp>
        <p:nvSpPr>
          <p:cNvPr id="138245" name="Rectangle 5"/>
          <p:cNvSpPr>
            <a:spLocks noChangeArrowheads="1"/>
          </p:cNvSpPr>
          <p:nvPr/>
        </p:nvSpPr>
        <p:spPr bwMode="auto">
          <a:xfrm>
            <a:off x="838200" y="3429000"/>
            <a:ext cx="1455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hlink"/>
                </a:solidFill>
              </a:rPr>
              <a:t>Example</a:t>
            </a:r>
            <a:r>
              <a:rPr lang="en-US" altLang="en-US">
                <a:solidFill>
                  <a:srgbClr val="FF6600"/>
                </a:solidFill>
              </a:rPr>
              <a:t>:</a:t>
            </a:r>
          </a:p>
        </p:txBody>
      </p:sp>
      <p:graphicFrame>
        <p:nvGraphicFramePr>
          <p:cNvPr id="138246" name="Object 6"/>
          <p:cNvGraphicFramePr>
            <a:graphicFrameLocks noChangeAspect="1"/>
          </p:cNvGraphicFramePr>
          <p:nvPr/>
        </p:nvGraphicFramePr>
        <p:xfrm>
          <a:off x="466725" y="3810000"/>
          <a:ext cx="8610600" cy="2841625"/>
        </p:xfrm>
        <a:graphic>
          <a:graphicData uri="http://schemas.openxmlformats.org/presentationml/2006/ole">
            <mc:AlternateContent xmlns:mc="http://schemas.openxmlformats.org/markup-compatibility/2006">
              <mc:Choice xmlns:v="urn:schemas-microsoft-com:vml" Requires="v">
                <p:oleObj name="Drawing" r:id="rId3" imgW="9210600" imgH="3038400" progId="Presentations.Drawing.10">
                  <p:embed/>
                </p:oleObj>
              </mc:Choice>
              <mc:Fallback>
                <p:oleObj name="Drawing" r:id="rId3" imgW="9210600" imgH="3038400" progId="Presentations.Drawing.10">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3810000"/>
                        <a:ext cx="8610600"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8247" name="Object 7"/>
          <p:cNvGraphicFramePr>
            <a:graphicFrameLocks noChangeAspect="1"/>
          </p:cNvGraphicFramePr>
          <p:nvPr/>
        </p:nvGraphicFramePr>
        <p:xfrm>
          <a:off x="1076325" y="5334000"/>
          <a:ext cx="8067675" cy="676275"/>
        </p:xfrm>
        <a:graphic>
          <a:graphicData uri="http://schemas.openxmlformats.org/presentationml/2006/ole">
            <mc:AlternateContent xmlns:mc="http://schemas.openxmlformats.org/markup-compatibility/2006">
              <mc:Choice xmlns:v="urn:schemas-microsoft-com:vml" Requires="v">
                <p:oleObj name="Drawing" r:id="rId5" imgW="8372520" imgH="676440" progId="Presentations.Drawing.10">
                  <p:embed/>
                </p:oleObj>
              </mc:Choice>
              <mc:Fallback>
                <p:oleObj name="Drawing" r:id="rId5" imgW="8372520" imgH="676440" progId="Presentations.Drawing.10">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6325" y="5334000"/>
                        <a:ext cx="80676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8248" name="Rectangle 8"/>
          <p:cNvSpPr>
            <a:spLocks noChangeArrowheads="1"/>
          </p:cNvSpPr>
          <p:nvPr/>
        </p:nvSpPr>
        <p:spPr bwMode="auto">
          <a:xfrm>
            <a:off x="2483768" y="4267200"/>
            <a:ext cx="4870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dirty="0"/>
              <a:t>25%                    25%              25%           25%</a:t>
            </a:r>
          </a:p>
        </p:txBody>
      </p:sp>
      <p:sp>
        <p:nvSpPr>
          <p:cNvPr id="138249" name="Rectangle 9"/>
          <p:cNvSpPr>
            <a:spLocks noChangeArrowheads="1"/>
          </p:cNvSpPr>
          <p:nvPr/>
        </p:nvSpPr>
        <p:spPr bwMode="auto">
          <a:xfrm>
            <a:off x="1447800" y="2743200"/>
            <a:ext cx="6248400" cy="457200"/>
          </a:xfrm>
          <a:prstGeom prst="rect">
            <a:avLst/>
          </a:prstGeom>
          <a:noFill/>
          <a:ln w="158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extLst>
      <p:ext uri="{BB962C8B-B14F-4D97-AF65-F5344CB8AC3E}">
        <p14:creationId xmlns:p14="http://schemas.microsoft.com/office/powerpoint/2010/main" val="462964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3"/>
          <p:cNvSpPr>
            <a:spLocks noGrp="1"/>
          </p:cNvSpPr>
          <p:nvPr>
            <p:ph type="sldNum" sz="quarter" idx="10"/>
          </p:nvPr>
        </p:nvSpPr>
        <p:spPr/>
        <p:txBody>
          <a:bodyPr/>
          <a:lstStyle/>
          <a:p>
            <a:fld id="{3BE1543E-0104-4832-AD35-E50034D1142F}" type="slidenum">
              <a:rPr lang="en-US" altLang="en-US"/>
              <a:pPr/>
              <a:t>28</a:t>
            </a:fld>
            <a:endParaRPr lang="en-US" altLang="en-US"/>
          </a:p>
        </p:txBody>
      </p:sp>
      <p:sp>
        <p:nvSpPr>
          <p:cNvPr id="139266" name="Rectangle 2"/>
          <p:cNvSpPr>
            <a:spLocks noGrp="1" noChangeArrowheads="1"/>
          </p:cNvSpPr>
          <p:nvPr>
            <p:ph type="title"/>
          </p:nvPr>
        </p:nvSpPr>
        <p:spPr>
          <a:xfrm>
            <a:off x="914400" y="457200"/>
            <a:ext cx="8077200" cy="685800"/>
          </a:xfrm>
        </p:spPr>
        <p:txBody>
          <a:bodyPr/>
          <a:lstStyle/>
          <a:p>
            <a:pPr defTabSz="914400"/>
            <a:r>
              <a:rPr lang="en-US" altLang="en-US"/>
              <a:t>Shape of Box-and-Whisker Plots</a:t>
            </a:r>
          </a:p>
        </p:txBody>
      </p:sp>
      <p:sp>
        <p:nvSpPr>
          <p:cNvPr id="139267" name="Rectangle 3"/>
          <p:cNvSpPr>
            <a:spLocks noGrp="1" noChangeArrowheads="1"/>
          </p:cNvSpPr>
          <p:nvPr>
            <p:ph type="body" idx="1"/>
          </p:nvPr>
        </p:nvSpPr>
        <p:spPr>
          <a:xfrm>
            <a:off x="838200" y="1752600"/>
            <a:ext cx="7924800" cy="4114800"/>
          </a:xfrm>
        </p:spPr>
        <p:txBody>
          <a:bodyPr/>
          <a:lstStyle/>
          <a:p>
            <a:pPr marL="342900" indent="-342900" defTabSz="914400">
              <a:lnSpc>
                <a:spcPct val="90000"/>
              </a:lnSpc>
            </a:pPr>
            <a:r>
              <a:rPr lang="en-US" altLang="en-US" sz="2400"/>
              <a:t>The Box and central line are centered between the endpoints if data are symmetric around the median</a:t>
            </a:r>
            <a:endParaRPr lang="en-US" altLang="en-US"/>
          </a:p>
          <a:p>
            <a:pPr marL="342900" indent="-342900" defTabSz="914400">
              <a:lnSpc>
                <a:spcPct val="70000"/>
              </a:lnSpc>
            </a:pPr>
            <a:endParaRPr lang="en-US" altLang="en-US"/>
          </a:p>
          <a:p>
            <a:pPr marL="342900" indent="-342900" defTabSz="914400">
              <a:lnSpc>
                <a:spcPct val="90000"/>
              </a:lnSpc>
            </a:pPr>
            <a:endParaRPr lang="en-US" altLang="en-US"/>
          </a:p>
          <a:p>
            <a:pPr marL="342900" indent="-342900" defTabSz="914400">
              <a:lnSpc>
                <a:spcPct val="90000"/>
              </a:lnSpc>
            </a:pPr>
            <a:endParaRPr lang="en-US" altLang="en-US" sz="2400"/>
          </a:p>
          <a:p>
            <a:pPr marL="342900" indent="-342900" defTabSz="914400">
              <a:lnSpc>
                <a:spcPct val="90000"/>
              </a:lnSpc>
            </a:pPr>
            <a:endParaRPr lang="en-US" altLang="en-US" sz="2400"/>
          </a:p>
          <a:p>
            <a:pPr marL="342900" indent="-342900" defTabSz="914400">
              <a:lnSpc>
                <a:spcPct val="90000"/>
              </a:lnSpc>
            </a:pPr>
            <a:endParaRPr lang="en-US" altLang="en-US" sz="2400"/>
          </a:p>
          <a:p>
            <a:pPr marL="342900" indent="-342900" defTabSz="914400">
              <a:lnSpc>
                <a:spcPct val="70000"/>
              </a:lnSpc>
            </a:pPr>
            <a:endParaRPr lang="en-US" altLang="en-US" sz="2400"/>
          </a:p>
          <a:p>
            <a:pPr marL="342900" indent="-342900" defTabSz="914400">
              <a:lnSpc>
                <a:spcPct val="90000"/>
              </a:lnSpc>
            </a:pPr>
            <a:r>
              <a:rPr lang="en-US" altLang="en-US" sz="2400"/>
              <a:t>A Box-and-Whisker plot can be shown in either vertical or horizontal format</a:t>
            </a:r>
          </a:p>
        </p:txBody>
      </p:sp>
      <p:graphicFrame>
        <p:nvGraphicFramePr>
          <p:cNvPr id="139268" name="Object 4"/>
          <p:cNvGraphicFramePr>
            <a:graphicFrameLocks noChangeAspect="1"/>
          </p:cNvGraphicFramePr>
          <p:nvPr/>
        </p:nvGraphicFramePr>
        <p:xfrm>
          <a:off x="1905000" y="2947988"/>
          <a:ext cx="5410200" cy="1319212"/>
        </p:xfrm>
        <a:graphic>
          <a:graphicData uri="http://schemas.openxmlformats.org/presentationml/2006/ole">
            <mc:AlternateContent xmlns:mc="http://schemas.openxmlformats.org/markup-compatibility/2006">
              <mc:Choice xmlns:v="urn:schemas-microsoft-com:vml" Requires="v">
                <p:oleObj name="Drawing" r:id="rId3" imgW="8134200" imgH="1981080" progId="WPDraw30.Drawing">
                  <p:embed/>
                </p:oleObj>
              </mc:Choice>
              <mc:Fallback>
                <p:oleObj name="Drawing" r:id="rId3" imgW="8134200" imgH="1981080" progId="WPDraw30.Drawing">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947988"/>
                        <a:ext cx="5410200" cy="131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9269" name="Text Box 5"/>
          <p:cNvSpPr txBox="1">
            <a:spLocks noChangeArrowheads="1"/>
          </p:cNvSpPr>
          <p:nvPr/>
        </p:nvSpPr>
        <p:spPr bwMode="auto">
          <a:xfrm>
            <a:off x="1907704" y="4038600"/>
            <a:ext cx="5562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dirty="0"/>
              <a:t>Min         Q</a:t>
            </a:r>
            <a:r>
              <a:rPr lang="en-US" altLang="en-US" sz="2400" baseline="-25000" dirty="0"/>
              <a:t>1</a:t>
            </a:r>
            <a:r>
              <a:rPr lang="en-US" altLang="en-US" sz="2400" dirty="0"/>
              <a:t>      Median         Q</a:t>
            </a:r>
            <a:r>
              <a:rPr lang="en-US" altLang="en-US" sz="2400" baseline="-25000" dirty="0"/>
              <a:t>3</a:t>
            </a:r>
            <a:r>
              <a:rPr lang="en-US" altLang="en-US" sz="2400" dirty="0"/>
              <a:t>         Max</a:t>
            </a:r>
          </a:p>
        </p:txBody>
      </p:sp>
      <p:sp>
        <p:nvSpPr>
          <p:cNvPr id="139270" name="Rectangle 6"/>
          <p:cNvSpPr>
            <a:spLocks noChangeArrowheads="1"/>
          </p:cNvSpPr>
          <p:nvPr/>
        </p:nvSpPr>
        <p:spPr bwMode="auto">
          <a:xfrm>
            <a:off x="1524000" y="2971800"/>
            <a:ext cx="6096000" cy="16764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extLst>
      <p:ext uri="{BB962C8B-B14F-4D97-AF65-F5344CB8AC3E}">
        <p14:creationId xmlns:p14="http://schemas.microsoft.com/office/powerpoint/2010/main" val="287231778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lide Number Placeholder 3"/>
          <p:cNvSpPr>
            <a:spLocks noGrp="1"/>
          </p:cNvSpPr>
          <p:nvPr>
            <p:ph type="sldNum" sz="quarter" idx="10"/>
          </p:nvPr>
        </p:nvSpPr>
        <p:spPr/>
        <p:txBody>
          <a:bodyPr/>
          <a:lstStyle/>
          <a:p>
            <a:fld id="{918FD6B1-33EF-4306-9AC1-7D81283AB6A0}" type="slidenum">
              <a:rPr lang="en-US" altLang="en-US"/>
              <a:pPr/>
              <a:t>29</a:t>
            </a:fld>
            <a:endParaRPr lang="en-US" altLang="en-US"/>
          </a:p>
        </p:txBody>
      </p:sp>
      <p:sp>
        <p:nvSpPr>
          <p:cNvPr id="140290" name="Rectangle 2"/>
          <p:cNvSpPr>
            <a:spLocks noGrp="1" noChangeArrowheads="1"/>
          </p:cNvSpPr>
          <p:nvPr>
            <p:ph type="title"/>
          </p:nvPr>
        </p:nvSpPr>
        <p:spPr>
          <a:xfrm>
            <a:off x="914400" y="332656"/>
            <a:ext cx="7793038" cy="674712"/>
          </a:xfrm>
        </p:spPr>
        <p:txBody>
          <a:bodyPr>
            <a:normAutofit/>
          </a:bodyPr>
          <a:lstStyle/>
          <a:p>
            <a:pPr>
              <a:lnSpc>
                <a:spcPct val="80000"/>
              </a:lnSpc>
            </a:pPr>
            <a:r>
              <a:rPr lang="en-US" altLang="en-US" sz="2800" dirty="0"/>
              <a:t>Distribution Shape and Box-and-Whisker Plot</a:t>
            </a:r>
          </a:p>
        </p:txBody>
      </p:sp>
      <p:sp>
        <p:nvSpPr>
          <p:cNvPr id="140291" name="Rectangle 3"/>
          <p:cNvSpPr>
            <a:spLocks noChangeArrowheads="1"/>
          </p:cNvSpPr>
          <p:nvPr/>
        </p:nvSpPr>
        <p:spPr bwMode="auto">
          <a:xfrm>
            <a:off x="6188075" y="1981200"/>
            <a:ext cx="270827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a:t>Right-Skewed</a:t>
            </a:r>
          </a:p>
        </p:txBody>
      </p:sp>
      <p:sp>
        <p:nvSpPr>
          <p:cNvPr id="140292" name="Rectangle 4"/>
          <p:cNvSpPr>
            <a:spLocks noChangeArrowheads="1"/>
          </p:cNvSpPr>
          <p:nvPr/>
        </p:nvSpPr>
        <p:spPr bwMode="auto">
          <a:xfrm>
            <a:off x="381000" y="1981200"/>
            <a:ext cx="243681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a:t>Left-Skewed</a:t>
            </a:r>
          </a:p>
        </p:txBody>
      </p:sp>
      <p:sp>
        <p:nvSpPr>
          <p:cNvPr id="140293" name="Rectangle 5"/>
          <p:cNvSpPr>
            <a:spLocks noChangeArrowheads="1"/>
          </p:cNvSpPr>
          <p:nvPr/>
        </p:nvSpPr>
        <p:spPr bwMode="auto">
          <a:xfrm>
            <a:off x="3581400" y="1981200"/>
            <a:ext cx="2098675"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a:t>Symmetric</a:t>
            </a:r>
          </a:p>
        </p:txBody>
      </p:sp>
      <p:sp>
        <p:nvSpPr>
          <p:cNvPr id="140294" name="Line 6"/>
          <p:cNvSpPr>
            <a:spLocks noChangeShapeType="1"/>
          </p:cNvSpPr>
          <p:nvPr/>
        </p:nvSpPr>
        <p:spPr bwMode="auto">
          <a:xfrm>
            <a:off x="6705600" y="3360738"/>
            <a:ext cx="0" cy="6096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295" name="Line 7"/>
          <p:cNvSpPr>
            <a:spLocks noChangeShapeType="1"/>
          </p:cNvSpPr>
          <p:nvPr/>
        </p:nvSpPr>
        <p:spPr bwMode="auto">
          <a:xfrm>
            <a:off x="6934200" y="2819400"/>
            <a:ext cx="0" cy="114300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296" name="Line 8"/>
          <p:cNvSpPr>
            <a:spLocks noChangeShapeType="1"/>
          </p:cNvSpPr>
          <p:nvPr/>
        </p:nvSpPr>
        <p:spPr bwMode="auto">
          <a:xfrm>
            <a:off x="7648575" y="3808413"/>
            <a:ext cx="0" cy="1587"/>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297" name="Line 9"/>
          <p:cNvSpPr>
            <a:spLocks noChangeShapeType="1"/>
          </p:cNvSpPr>
          <p:nvPr/>
        </p:nvSpPr>
        <p:spPr bwMode="auto">
          <a:xfrm>
            <a:off x="2209800" y="3055938"/>
            <a:ext cx="0" cy="914400"/>
          </a:xfrm>
          <a:prstGeom prst="line">
            <a:avLst/>
          </a:prstGeom>
          <a:noFill/>
          <a:ln w="254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298" name="Line 10"/>
          <p:cNvSpPr>
            <a:spLocks noChangeShapeType="1"/>
          </p:cNvSpPr>
          <p:nvPr/>
        </p:nvSpPr>
        <p:spPr bwMode="auto">
          <a:xfrm>
            <a:off x="1905000" y="2979738"/>
            <a:ext cx="0" cy="99060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299" name="Line 11"/>
          <p:cNvSpPr>
            <a:spLocks noChangeShapeType="1"/>
          </p:cNvSpPr>
          <p:nvPr/>
        </p:nvSpPr>
        <p:spPr bwMode="auto">
          <a:xfrm>
            <a:off x="1295400" y="3733800"/>
            <a:ext cx="0" cy="2286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00" name="Line 12"/>
          <p:cNvSpPr>
            <a:spLocks noChangeShapeType="1"/>
          </p:cNvSpPr>
          <p:nvPr/>
        </p:nvSpPr>
        <p:spPr bwMode="auto">
          <a:xfrm flipH="1">
            <a:off x="4495800" y="2751138"/>
            <a:ext cx="0" cy="121920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01" name="Line 13"/>
          <p:cNvSpPr>
            <a:spLocks noChangeShapeType="1"/>
          </p:cNvSpPr>
          <p:nvPr/>
        </p:nvSpPr>
        <p:spPr bwMode="auto">
          <a:xfrm>
            <a:off x="4191000" y="3208338"/>
            <a:ext cx="0" cy="762000"/>
          </a:xfrm>
          <a:prstGeom prst="line">
            <a:avLst/>
          </a:prstGeom>
          <a:noFill/>
          <a:ln w="254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02" name="Line 14"/>
          <p:cNvSpPr>
            <a:spLocks noChangeShapeType="1"/>
          </p:cNvSpPr>
          <p:nvPr/>
        </p:nvSpPr>
        <p:spPr bwMode="auto">
          <a:xfrm>
            <a:off x="4800600" y="3208338"/>
            <a:ext cx="0" cy="762000"/>
          </a:xfrm>
          <a:prstGeom prst="line">
            <a:avLst/>
          </a:prstGeom>
          <a:noFill/>
          <a:ln w="254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03" name="Freeform 15"/>
          <p:cNvSpPr>
            <a:spLocks/>
          </p:cNvSpPr>
          <p:nvPr/>
        </p:nvSpPr>
        <p:spPr bwMode="auto">
          <a:xfrm>
            <a:off x="2133600" y="2827338"/>
            <a:ext cx="461963" cy="1098550"/>
          </a:xfrm>
          <a:custGeom>
            <a:avLst/>
            <a:gdLst>
              <a:gd name="T0" fmla="*/ 290 w 291"/>
              <a:gd name="T1" fmla="*/ 691 h 692"/>
              <a:gd name="T2" fmla="*/ 259 w 291"/>
              <a:gd name="T3" fmla="*/ 684 h 692"/>
              <a:gd name="T4" fmla="*/ 243 w 291"/>
              <a:gd name="T5" fmla="*/ 676 h 692"/>
              <a:gd name="T6" fmla="*/ 230 w 291"/>
              <a:gd name="T7" fmla="*/ 664 h 692"/>
              <a:gd name="T8" fmla="*/ 214 w 291"/>
              <a:gd name="T9" fmla="*/ 649 h 692"/>
              <a:gd name="T10" fmla="*/ 199 w 291"/>
              <a:gd name="T11" fmla="*/ 627 h 692"/>
              <a:gd name="T12" fmla="*/ 183 w 291"/>
              <a:gd name="T13" fmla="*/ 598 h 692"/>
              <a:gd name="T14" fmla="*/ 153 w 291"/>
              <a:gd name="T15" fmla="*/ 519 h 692"/>
              <a:gd name="T16" fmla="*/ 122 w 291"/>
              <a:gd name="T17" fmla="*/ 406 h 692"/>
              <a:gd name="T18" fmla="*/ 93 w 291"/>
              <a:gd name="T19" fmla="*/ 270 h 692"/>
              <a:gd name="T20" fmla="*/ 77 w 291"/>
              <a:gd name="T21" fmla="*/ 202 h 692"/>
              <a:gd name="T22" fmla="*/ 62 w 291"/>
              <a:gd name="T23" fmla="*/ 136 h 692"/>
              <a:gd name="T24" fmla="*/ 46 w 291"/>
              <a:gd name="T25" fmla="*/ 80 h 692"/>
              <a:gd name="T26" fmla="*/ 31 w 291"/>
              <a:gd name="T27" fmla="*/ 37 h 692"/>
              <a:gd name="T28" fmla="*/ 15 w 291"/>
              <a:gd name="T29" fmla="*/ 10 h 692"/>
              <a:gd name="T30" fmla="*/ 0 w 291"/>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1" h="692">
                <a:moveTo>
                  <a:pt x="290" y="691"/>
                </a:moveTo>
                <a:lnTo>
                  <a:pt x="259" y="684"/>
                </a:lnTo>
                <a:lnTo>
                  <a:pt x="243" y="676"/>
                </a:lnTo>
                <a:lnTo>
                  <a:pt x="230" y="664"/>
                </a:lnTo>
                <a:lnTo>
                  <a:pt x="214" y="649"/>
                </a:lnTo>
                <a:lnTo>
                  <a:pt x="199" y="627"/>
                </a:lnTo>
                <a:lnTo>
                  <a:pt x="183" y="598"/>
                </a:lnTo>
                <a:lnTo>
                  <a:pt x="153" y="519"/>
                </a:lnTo>
                <a:lnTo>
                  <a:pt x="122" y="406"/>
                </a:lnTo>
                <a:lnTo>
                  <a:pt x="93" y="270"/>
                </a:lnTo>
                <a:lnTo>
                  <a:pt x="77" y="202"/>
                </a:lnTo>
                <a:lnTo>
                  <a:pt x="62" y="136"/>
                </a:lnTo>
                <a:lnTo>
                  <a:pt x="46" y="80"/>
                </a:lnTo>
                <a:lnTo>
                  <a:pt x="31" y="37"/>
                </a:lnTo>
                <a:lnTo>
                  <a:pt x="15"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04" name="Freeform 16"/>
          <p:cNvSpPr>
            <a:spLocks/>
          </p:cNvSpPr>
          <p:nvPr/>
        </p:nvSpPr>
        <p:spPr bwMode="auto">
          <a:xfrm>
            <a:off x="685800" y="2827338"/>
            <a:ext cx="1460500" cy="1098550"/>
          </a:xfrm>
          <a:custGeom>
            <a:avLst/>
            <a:gdLst>
              <a:gd name="T0" fmla="*/ 0 w 872"/>
              <a:gd name="T1" fmla="*/ 691 h 692"/>
              <a:gd name="T2" fmla="*/ 93 w 872"/>
              <a:gd name="T3" fmla="*/ 684 h 692"/>
              <a:gd name="T4" fmla="*/ 138 w 872"/>
              <a:gd name="T5" fmla="*/ 676 h 692"/>
              <a:gd name="T6" fmla="*/ 184 w 872"/>
              <a:gd name="T7" fmla="*/ 664 h 692"/>
              <a:gd name="T8" fmla="*/ 230 w 872"/>
              <a:gd name="T9" fmla="*/ 649 h 692"/>
              <a:gd name="T10" fmla="*/ 275 w 872"/>
              <a:gd name="T11" fmla="*/ 627 h 692"/>
              <a:gd name="T12" fmla="*/ 321 w 872"/>
              <a:gd name="T13" fmla="*/ 598 h 692"/>
              <a:gd name="T14" fmla="*/ 412 w 872"/>
              <a:gd name="T15" fmla="*/ 519 h 692"/>
              <a:gd name="T16" fmla="*/ 505 w 872"/>
              <a:gd name="T17" fmla="*/ 406 h 692"/>
              <a:gd name="T18" fmla="*/ 596 w 872"/>
              <a:gd name="T19" fmla="*/ 270 h 692"/>
              <a:gd name="T20" fmla="*/ 642 w 872"/>
              <a:gd name="T21" fmla="*/ 202 h 692"/>
              <a:gd name="T22" fmla="*/ 689 w 872"/>
              <a:gd name="T23" fmla="*/ 136 h 692"/>
              <a:gd name="T24" fmla="*/ 733 w 872"/>
              <a:gd name="T25" fmla="*/ 80 h 692"/>
              <a:gd name="T26" fmla="*/ 780 w 872"/>
              <a:gd name="T27" fmla="*/ 37 h 692"/>
              <a:gd name="T28" fmla="*/ 826 w 872"/>
              <a:gd name="T29" fmla="*/ 10 h 692"/>
              <a:gd name="T30" fmla="*/ 871 w 872"/>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2" h="692">
                <a:moveTo>
                  <a:pt x="0" y="691"/>
                </a:moveTo>
                <a:lnTo>
                  <a:pt x="93" y="684"/>
                </a:lnTo>
                <a:lnTo>
                  <a:pt x="138" y="676"/>
                </a:lnTo>
                <a:lnTo>
                  <a:pt x="184" y="664"/>
                </a:lnTo>
                <a:lnTo>
                  <a:pt x="230" y="649"/>
                </a:lnTo>
                <a:lnTo>
                  <a:pt x="275" y="627"/>
                </a:lnTo>
                <a:lnTo>
                  <a:pt x="321" y="598"/>
                </a:lnTo>
                <a:lnTo>
                  <a:pt x="412" y="519"/>
                </a:lnTo>
                <a:lnTo>
                  <a:pt x="505" y="406"/>
                </a:lnTo>
                <a:lnTo>
                  <a:pt x="596" y="270"/>
                </a:lnTo>
                <a:lnTo>
                  <a:pt x="642" y="202"/>
                </a:lnTo>
                <a:lnTo>
                  <a:pt x="689" y="136"/>
                </a:lnTo>
                <a:lnTo>
                  <a:pt x="733" y="80"/>
                </a:lnTo>
                <a:lnTo>
                  <a:pt x="780" y="37"/>
                </a:lnTo>
                <a:lnTo>
                  <a:pt x="826" y="10"/>
                </a:lnTo>
                <a:lnTo>
                  <a:pt x="871"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05" name="Freeform 17"/>
          <p:cNvSpPr>
            <a:spLocks/>
          </p:cNvSpPr>
          <p:nvPr/>
        </p:nvSpPr>
        <p:spPr bwMode="auto">
          <a:xfrm>
            <a:off x="4495800" y="2751138"/>
            <a:ext cx="914400" cy="1143000"/>
          </a:xfrm>
          <a:custGeom>
            <a:avLst/>
            <a:gdLst>
              <a:gd name="T0" fmla="*/ 398 w 399"/>
              <a:gd name="T1" fmla="*/ 691 h 692"/>
              <a:gd name="T2" fmla="*/ 356 w 399"/>
              <a:gd name="T3" fmla="*/ 684 h 692"/>
              <a:gd name="T4" fmla="*/ 335 w 399"/>
              <a:gd name="T5" fmla="*/ 676 h 692"/>
              <a:gd name="T6" fmla="*/ 315 w 399"/>
              <a:gd name="T7" fmla="*/ 664 h 692"/>
              <a:gd name="T8" fmla="*/ 294 w 399"/>
              <a:gd name="T9" fmla="*/ 649 h 692"/>
              <a:gd name="T10" fmla="*/ 273 w 399"/>
              <a:gd name="T11" fmla="*/ 627 h 692"/>
              <a:gd name="T12" fmla="*/ 251 w 399"/>
              <a:gd name="T13" fmla="*/ 598 h 692"/>
              <a:gd name="T14" fmla="*/ 209 w 399"/>
              <a:gd name="T15" fmla="*/ 519 h 692"/>
              <a:gd name="T16" fmla="*/ 168 w 399"/>
              <a:gd name="T17" fmla="*/ 406 h 692"/>
              <a:gd name="T18" fmla="*/ 126 w 399"/>
              <a:gd name="T19" fmla="*/ 270 h 692"/>
              <a:gd name="T20" fmla="*/ 104 w 399"/>
              <a:gd name="T21" fmla="*/ 202 h 692"/>
              <a:gd name="T22" fmla="*/ 83 w 399"/>
              <a:gd name="T23" fmla="*/ 136 h 692"/>
              <a:gd name="T24" fmla="*/ 62 w 399"/>
              <a:gd name="T25" fmla="*/ 80 h 692"/>
              <a:gd name="T26" fmla="*/ 41 w 399"/>
              <a:gd name="T27" fmla="*/ 37 h 692"/>
              <a:gd name="T28" fmla="*/ 21 w 399"/>
              <a:gd name="T29" fmla="*/ 10 h 692"/>
              <a:gd name="T30" fmla="*/ 0 w 399"/>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99" h="692">
                <a:moveTo>
                  <a:pt x="398" y="691"/>
                </a:moveTo>
                <a:lnTo>
                  <a:pt x="356" y="684"/>
                </a:lnTo>
                <a:lnTo>
                  <a:pt x="335" y="676"/>
                </a:lnTo>
                <a:lnTo>
                  <a:pt x="315" y="664"/>
                </a:lnTo>
                <a:lnTo>
                  <a:pt x="294" y="649"/>
                </a:lnTo>
                <a:lnTo>
                  <a:pt x="273" y="627"/>
                </a:lnTo>
                <a:lnTo>
                  <a:pt x="251" y="598"/>
                </a:lnTo>
                <a:lnTo>
                  <a:pt x="209" y="519"/>
                </a:lnTo>
                <a:lnTo>
                  <a:pt x="168" y="406"/>
                </a:lnTo>
                <a:lnTo>
                  <a:pt x="126" y="270"/>
                </a:lnTo>
                <a:lnTo>
                  <a:pt x="104" y="202"/>
                </a:lnTo>
                <a:lnTo>
                  <a:pt x="83" y="136"/>
                </a:lnTo>
                <a:lnTo>
                  <a:pt x="62" y="80"/>
                </a:lnTo>
                <a:lnTo>
                  <a:pt x="41" y="37"/>
                </a:lnTo>
                <a:lnTo>
                  <a:pt x="21"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06" name="Freeform 18"/>
          <p:cNvSpPr>
            <a:spLocks/>
          </p:cNvSpPr>
          <p:nvPr/>
        </p:nvSpPr>
        <p:spPr bwMode="auto">
          <a:xfrm>
            <a:off x="3581400" y="2751138"/>
            <a:ext cx="892175" cy="1143000"/>
          </a:xfrm>
          <a:custGeom>
            <a:avLst/>
            <a:gdLst>
              <a:gd name="T0" fmla="*/ 0 w 401"/>
              <a:gd name="T1" fmla="*/ 691 h 692"/>
              <a:gd name="T2" fmla="*/ 42 w 401"/>
              <a:gd name="T3" fmla="*/ 684 h 692"/>
              <a:gd name="T4" fmla="*/ 63 w 401"/>
              <a:gd name="T5" fmla="*/ 676 h 692"/>
              <a:gd name="T6" fmla="*/ 85 w 401"/>
              <a:gd name="T7" fmla="*/ 664 h 692"/>
              <a:gd name="T8" fmla="*/ 106 w 401"/>
              <a:gd name="T9" fmla="*/ 649 h 692"/>
              <a:gd name="T10" fmla="*/ 127 w 401"/>
              <a:gd name="T11" fmla="*/ 627 h 692"/>
              <a:gd name="T12" fmla="*/ 147 w 401"/>
              <a:gd name="T13" fmla="*/ 598 h 692"/>
              <a:gd name="T14" fmla="*/ 189 w 401"/>
              <a:gd name="T15" fmla="*/ 519 h 692"/>
              <a:gd name="T16" fmla="*/ 232 w 401"/>
              <a:gd name="T17" fmla="*/ 406 h 692"/>
              <a:gd name="T18" fmla="*/ 274 w 401"/>
              <a:gd name="T19" fmla="*/ 270 h 692"/>
              <a:gd name="T20" fmla="*/ 294 w 401"/>
              <a:gd name="T21" fmla="*/ 202 h 692"/>
              <a:gd name="T22" fmla="*/ 315 w 401"/>
              <a:gd name="T23" fmla="*/ 136 h 692"/>
              <a:gd name="T24" fmla="*/ 336 w 401"/>
              <a:gd name="T25" fmla="*/ 80 h 692"/>
              <a:gd name="T26" fmla="*/ 357 w 401"/>
              <a:gd name="T27" fmla="*/ 37 h 692"/>
              <a:gd name="T28" fmla="*/ 379 w 401"/>
              <a:gd name="T29" fmla="*/ 10 h 692"/>
              <a:gd name="T30" fmla="*/ 400 w 401"/>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1" h="692">
                <a:moveTo>
                  <a:pt x="0" y="691"/>
                </a:moveTo>
                <a:lnTo>
                  <a:pt x="42" y="684"/>
                </a:lnTo>
                <a:lnTo>
                  <a:pt x="63" y="676"/>
                </a:lnTo>
                <a:lnTo>
                  <a:pt x="85" y="664"/>
                </a:lnTo>
                <a:lnTo>
                  <a:pt x="106" y="649"/>
                </a:lnTo>
                <a:lnTo>
                  <a:pt x="127" y="627"/>
                </a:lnTo>
                <a:lnTo>
                  <a:pt x="147" y="598"/>
                </a:lnTo>
                <a:lnTo>
                  <a:pt x="189" y="519"/>
                </a:lnTo>
                <a:lnTo>
                  <a:pt x="232" y="406"/>
                </a:lnTo>
                <a:lnTo>
                  <a:pt x="274" y="270"/>
                </a:lnTo>
                <a:lnTo>
                  <a:pt x="294" y="202"/>
                </a:lnTo>
                <a:lnTo>
                  <a:pt x="315" y="136"/>
                </a:lnTo>
                <a:lnTo>
                  <a:pt x="336" y="80"/>
                </a:lnTo>
                <a:lnTo>
                  <a:pt x="357" y="37"/>
                </a:lnTo>
                <a:lnTo>
                  <a:pt x="379" y="10"/>
                </a:lnTo>
                <a:lnTo>
                  <a:pt x="40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07" name="Line 19"/>
          <p:cNvSpPr>
            <a:spLocks noChangeShapeType="1"/>
          </p:cNvSpPr>
          <p:nvPr/>
        </p:nvSpPr>
        <p:spPr bwMode="auto">
          <a:xfrm>
            <a:off x="685800" y="3970338"/>
            <a:ext cx="20574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08" name="Freeform 20"/>
          <p:cNvSpPr>
            <a:spLocks/>
          </p:cNvSpPr>
          <p:nvPr/>
        </p:nvSpPr>
        <p:spPr bwMode="auto">
          <a:xfrm>
            <a:off x="6843713" y="2797175"/>
            <a:ext cx="1462087" cy="1098550"/>
          </a:xfrm>
          <a:custGeom>
            <a:avLst/>
            <a:gdLst>
              <a:gd name="T0" fmla="*/ 870 w 871"/>
              <a:gd name="T1" fmla="*/ 691 h 692"/>
              <a:gd name="T2" fmla="*/ 777 w 871"/>
              <a:gd name="T3" fmla="*/ 684 h 692"/>
              <a:gd name="T4" fmla="*/ 733 w 871"/>
              <a:gd name="T5" fmla="*/ 676 h 692"/>
              <a:gd name="T6" fmla="*/ 686 w 871"/>
              <a:gd name="T7" fmla="*/ 664 h 692"/>
              <a:gd name="T8" fmla="*/ 640 w 871"/>
              <a:gd name="T9" fmla="*/ 649 h 692"/>
              <a:gd name="T10" fmla="*/ 596 w 871"/>
              <a:gd name="T11" fmla="*/ 627 h 692"/>
              <a:gd name="T12" fmla="*/ 549 w 871"/>
              <a:gd name="T13" fmla="*/ 598 h 692"/>
              <a:gd name="T14" fmla="*/ 456 w 871"/>
              <a:gd name="T15" fmla="*/ 519 h 692"/>
              <a:gd name="T16" fmla="*/ 365 w 871"/>
              <a:gd name="T17" fmla="*/ 406 h 692"/>
              <a:gd name="T18" fmla="*/ 274 w 871"/>
              <a:gd name="T19" fmla="*/ 270 h 692"/>
              <a:gd name="T20" fmla="*/ 228 w 871"/>
              <a:gd name="T21" fmla="*/ 202 h 692"/>
              <a:gd name="T22" fmla="*/ 182 w 871"/>
              <a:gd name="T23" fmla="*/ 136 h 692"/>
              <a:gd name="T24" fmla="*/ 137 w 871"/>
              <a:gd name="T25" fmla="*/ 80 h 692"/>
              <a:gd name="T26" fmla="*/ 91 w 871"/>
              <a:gd name="T27" fmla="*/ 37 h 692"/>
              <a:gd name="T28" fmla="*/ 44 w 871"/>
              <a:gd name="T29" fmla="*/ 10 h 692"/>
              <a:gd name="T30" fmla="*/ 0 w 871"/>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1" h="692">
                <a:moveTo>
                  <a:pt x="870" y="691"/>
                </a:moveTo>
                <a:lnTo>
                  <a:pt x="777" y="684"/>
                </a:lnTo>
                <a:lnTo>
                  <a:pt x="733" y="676"/>
                </a:lnTo>
                <a:lnTo>
                  <a:pt x="686" y="664"/>
                </a:lnTo>
                <a:lnTo>
                  <a:pt x="640" y="649"/>
                </a:lnTo>
                <a:lnTo>
                  <a:pt x="596" y="627"/>
                </a:lnTo>
                <a:lnTo>
                  <a:pt x="549" y="598"/>
                </a:lnTo>
                <a:lnTo>
                  <a:pt x="456" y="519"/>
                </a:lnTo>
                <a:lnTo>
                  <a:pt x="365" y="406"/>
                </a:lnTo>
                <a:lnTo>
                  <a:pt x="274" y="270"/>
                </a:lnTo>
                <a:lnTo>
                  <a:pt x="228" y="202"/>
                </a:lnTo>
                <a:lnTo>
                  <a:pt x="182" y="136"/>
                </a:lnTo>
                <a:lnTo>
                  <a:pt x="137" y="80"/>
                </a:lnTo>
                <a:lnTo>
                  <a:pt x="91" y="37"/>
                </a:lnTo>
                <a:lnTo>
                  <a:pt x="44" y="10"/>
                </a:lnTo>
                <a:lnTo>
                  <a:pt x="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09" name="Freeform 21"/>
          <p:cNvSpPr>
            <a:spLocks/>
          </p:cNvSpPr>
          <p:nvPr/>
        </p:nvSpPr>
        <p:spPr bwMode="auto">
          <a:xfrm>
            <a:off x="6383338" y="2797175"/>
            <a:ext cx="461962" cy="1098550"/>
          </a:xfrm>
          <a:custGeom>
            <a:avLst/>
            <a:gdLst>
              <a:gd name="T0" fmla="*/ 0 w 291"/>
              <a:gd name="T1" fmla="*/ 691 h 692"/>
              <a:gd name="T2" fmla="*/ 29 w 291"/>
              <a:gd name="T3" fmla="*/ 684 h 692"/>
              <a:gd name="T4" fmla="*/ 44 w 291"/>
              <a:gd name="T5" fmla="*/ 676 h 692"/>
              <a:gd name="T6" fmla="*/ 60 w 291"/>
              <a:gd name="T7" fmla="*/ 664 h 692"/>
              <a:gd name="T8" fmla="*/ 75 w 291"/>
              <a:gd name="T9" fmla="*/ 649 h 692"/>
              <a:gd name="T10" fmla="*/ 90 w 291"/>
              <a:gd name="T11" fmla="*/ 627 h 692"/>
              <a:gd name="T12" fmla="*/ 106 w 291"/>
              <a:gd name="T13" fmla="*/ 598 h 692"/>
              <a:gd name="T14" fmla="*/ 137 w 291"/>
              <a:gd name="T15" fmla="*/ 519 h 692"/>
              <a:gd name="T16" fmla="*/ 168 w 291"/>
              <a:gd name="T17" fmla="*/ 406 h 692"/>
              <a:gd name="T18" fmla="*/ 197 w 291"/>
              <a:gd name="T19" fmla="*/ 270 h 692"/>
              <a:gd name="T20" fmla="*/ 212 w 291"/>
              <a:gd name="T21" fmla="*/ 202 h 692"/>
              <a:gd name="T22" fmla="*/ 228 w 291"/>
              <a:gd name="T23" fmla="*/ 136 h 692"/>
              <a:gd name="T24" fmla="*/ 243 w 291"/>
              <a:gd name="T25" fmla="*/ 80 h 692"/>
              <a:gd name="T26" fmla="*/ 259 w 291"/>
              <a:gd name="T27" fmla="*/ 37 h 692"/>
              <a:gd name="T28" fmla="*/ 274 w 291"/>
              <a:gd name="T29" fmla="*/ 10 h 692"/>
              <a:gd name="T30" fmla="*/ 290 w 291"/>
              <a:gd name="T3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1" h="692">
                <a:moveTo>
                  <a:pt x="0" y="691"/>
                </a:moveTo>
                <a:lnTo>
                  <a:pt x="29" y="684"/>
                </a:lnTo>
                <a:lnTo>
                  <a:pt x="44" y="676"/>
                </a:lnTo>
                <a:lnTo>
                  <a:pt x="60" y="664"/>
                </a:lnTo>
                <a:lnTo>
                  <a:pt x="75" y="649"/>
                </a:lnTo>
                <a:lnTo>
                  <a:pt x="90" y="627"/>
                </a:lnTo>
                <a:lnTo>
                  <a:pt x="106" y="598"/>
                </a:lnTo>
                <a:lnTo>
                  <a:pt x="137" y="519"/>
                </a:lnTo>
                <a:lnTo>
                  <a:pt x="168" y="406"/>
                </a:lnTo>
                <a:lnTo>
                  <a:pt x="197" y="270"/>
                </a:lnTo>
                <a:lnTo>
                  <a:pt x="212" y="202"/>
                </a:lnTo>
                <a:lnTo>
                  <a:pt x="228" y="136"/>
                </a:lnTo>
                <a:lnTo>
                  <a:pt x="243" y="80"/>
                </a:lnTo>
                <a:lnTo>
                  <a:pt x="259" y="37"/>
                </a:lnTo>
                <a:lnTo>
                  <a:pt x="274" y="10"/>
                </a:lnTo>
                <a:lnTo>
                  <a:pt x="290" y="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10" name="Freeform 22"/>
          <p:cNvSpPr>
            <a:spLocks/>
          </p:cNvSpPr>
          <p:nvPr/>
        </p:nvSpPr>
        <p:spPr bwMode="auto">
          <a:xfrm>
            <a:off x="1295400" y="5113338"/>
            <a:ext cx="990600" cy="463550"/>
          </a:xfrm>
          <a:custGeom>
            <a:avLst/>
            <a:gdLst>
              <a:gd name="T0" fmla="*/ 0 w 655"/>
              <a:gd name="T1" fmla="*/ 291 h 292"/>
              <a:gd name="T2" fmla="*/ 654 w 655"/>
              <a:gd name="T3" fmla="*/ 291 h 292"/>
              <a:gd name="T4" fmla="*/ 654 w 655"/>
              <a:gd name="T5" fmla="*/ 0 h 292"/>
              <a:gd name="T6" fmla="*/ 0 w 655"/>
              <a:gd name="T7" fmla="*/ 0 h 292"/>
              <a:gd name="T8" fmla="*/ 0 w 655"/>
              <a:gd name="T9" fmla="*/ 291 h 292"/>
            </a:gdLst>
            <a:ahLst/>
            <a:cxnLst>
              <a:cxn ang="0">
                <a:pos x="T0" y="T1"/>
              </a:cxn>
              <a:cxn ang="0">
                <a:pos x="T2" y="T3"/>
              </a:cxn>
              <a:cxn ang="0">
                <a:pos x="T4" y="T5"/>
              </a:cxn>
              <a:cxn ang="0">
                <a:pos x="T6" y="T7"/>
              </a:cxn>
              <a:cxn ang="0">
                <a:pos x="T8" y="T9"/>
              </a:cxn>
            </a:cxnLst>
            <a:rect l="0" t="0" r="r" b="b"/>
            <a:pathLst>
              <a:path w="655" h="292">
                <a:moveTo>
                  <a:pt x="0" y="291"/>
                </a:moveTo>
                <a:lnTo>
                  <a:pt x="654" y="291"/>
                </a:lnTo>
                <a:lnTo>
                  <a:pt x="654" y="0"/>
                </a:lnTo>
                <a:lnTo>
                  <a:pt x="0" y="0"/>
                </a:lnTo>
                <a:lnTo>
                  <a:pt x="0" y="29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11" name="Line 23"/>
          <p:cNvSpPr>
            <a:spLocks noChangeShapeType="1"/>
          </p:cNvSpPr>
          <p:nvPr/>
        </p:nvSpPr>
        <p:spPr bwMode="auto">
          <a:xfrm>
            <a:off x="1981200" y="5122863"/>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2" name="Line 24"/>
          <p:cNvSpPr>
            <a:spLocks noChangeShapeType="1"/>
          </p:cNvSpPr>
          <p:nvPr/>
        </p:nvSpPr>
        <p:spPr bwMode="auto">
          <a:xfrm flipV="1">
            <a:off x="2286000" y="5351463"/>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3" name="Freeform 25"/>
          <p:cNvSpPr>
            <a:spLocks/>
          </p:cNvSpPr>
          <p:nvPr/>
        </p:nvSpPr>
        <p:spPr bwMode="auto">
          <a:xfrm>
            <a:off x="4267200" y="5113338"/>
            <a:ext cx="609600" cy="457200"/>
          </a:xfrm>
          <a:custGeom>
            <a:avLst/>
            <a:gdLst>
              <a:gd name="T0" fmla="*/ 0 w 288"/>
              <a:gd name="T1" fmla="*/ 291 h 292"/>
              <a:gd name="T2" fmla="*/ 287 w 288"/>
              <a:gd name="T3" fmla="*/ 291 h 292"/>
              <a:gd name="T4" fmla="*/ 287 w 288"/>
              <a:gd name="T5" fmla="*/ 0 h 292"/>
              <a:gd name="T6" fmla="*/ 0 w 288"/>
              <a:gd name="T7" fmla="*/ 0 h 292"/>
              <a:gd name="T8" fmla="*/ 0 w 288"/>
              <a:gd name="T9" fmla="*/ 291 h 292"/>
            </a:gdLst>
            <a:ahLst/>
            <a:cxnLst>
              <a:cxn ang="0">
                <a:pos x="T0" y="T1"/>
              </a:cxn>
              <a:cxn ang="0">
                <a:pos x="T2" y="T3"/>
              </a:cxn>
              <a:cxn ang="0">
                <a:pos x="T4" y="T5"/>
              </a:cxn>
              <a:cxn ang="0">
                <a:pos x="T6" y="T7"/>
              </a:cxn>
              <a:cxn ang="0">
                <a:pos x="T8" y="T9"/>
              </a:cxn>
            </a:cxnLst>
            <a:rect l="0" t="0" r="r" b="b"/>
            <a:pathLst>
              <a:path w="288" h="292">
                <a:moveTo>
                  <a:pt x="0" y="291"/>
                </a:moveTo>
                <a:lnTo>
                  <a:pt x="287" y="291"/>
                </a:lnTo>
                <a:lnTo>
                  <a:pt x="287" y="0"/>
                </a:lnTo>
                <a:lnTo>
                  <a:pt x="0" y="0"/>
                </a:lnTo>
                <a:lnTo>
                  <a:pt x="0" y="29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14" name="Freeform 26"/>
          <p:cNvSpPr>
            <a:spLocks/>
          </p:cNvSpPr>
          <p:nvPr/>
        </p:nvSpPr>
        <p:spPr bwMode="auto">
          <a:xfrm>
            <a:off x="6705600" y="5113338"/>
            <a:ext cx="762000" cy="457200"/>
          </a:xfrm>
          <a:custGeom>
            <a:avLst/>
            <a:gdLst>
              <a:gd name="T0" fmla="*/ 0 w 653"/>
              <a:gd name="T1" fmla="*/ 291 h 292"/>
              <a:gd name="T2" fmla="*/ 652 w 653"/>
              <a:gd name="T3" fmla="*/ 291 h 292"/>
              <a:gd name="T4" fmla="*/ 652 w 653"/>
              <a:gd name="T5" fmla="*/ 0 h 292"/>
              <a:gd name="T6" fmla="*/ 0 w 653"/>
              <a:gd name="T7" fmla="*/ 0 h 292"/>
              <a:gd name="T8" fmla="*/ 0 w 653"/>
              <a:gd name="T9" fmla="*/ 291 h 292"/>
            </a:gdLst>
            <a:ahLst/>
            <a:cxnLst>
              <a:cxn ang="0">
                <a:pos x="T0" y="T1"/>
              </a:cxn>
              <a:cxn ang="0">
                <a:pos x="T2" y="T3"/>
              </a:cxn>
              <a:cxn ang="0">
                <a:pos x="T4" y="T5"/>
              </a:cxn>
              <a:cxn ang="0">
                <a:pos x="T6" y="T7"/>
              </a:cxn>
              <a:cxn ang="0">
                <a:pos x="T8" y="T9"/>
              </a:cxn>
            </a:cxnLst>
            <a:rect l="0" t="0" r="r" b="b"/>
            <a:pathLst>
              <a:path w="653" h="292">
                <a:moveTo>
                  <a:pt x="0" y="291"/>
                </a:moveTo>
                <a:lnTo>
                  <a:pt x="652" y="291"/>
                </a:lnTo>
                <a:lnTo>
                  <a:pt x="652" y="0"/>
                </a:lnTo>
                <a:lnTo>
                  <a:pt x="0" y="0"/>
                </a:lnTo>
                <a:lnTo>
                  <a:pt x="0" y="291"/>
                </a:lnTo>
              </a:path>
            </a:pathLst>
          </a:custGeom>
          <a:noFill/>
          <a:ln w="28575"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ZA"/>
          </a:p>
        </p:txBody>
      </p:sp>
      <p:sp>
        <p:nvSpPr>
          <p:cNvPr id="140315" name="Line 27"/>
          <p:cNvSpPr>
            <a:spLocks noChangeShapeType="1"/>
          </p:cNvSpPr>
          <p:nvPr/>
        </p:nvSpPr>
        <p:spPr bwMode="auto">
          <a:xfrm>
            <a:off x="6934200" y="5105400"/>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6" name="Line 28"/>
          <p:cNvSpPr>
            <a:spLocks noChangeShapeType="1"/>
          </p:cNvSpPr>
          <p:nvPr/>
        </p:nvSpPr>
        <p:spPr bwMode="auto">
          <a:xfrm>
            <a:off x="685800" y="5351463"/>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7" name="Line 29"/>
          <p:cNvSpPr>
            <a:spLocks noChangeShapeType="1"/>
          </p:cNvSpPr>
          <p:nvPr/>
        </p:nvSpPr>
        <p:spPr bwMode="auto">
          <a:xfrm flipH="1">
            <a:off x="6400800" y="5189538"/>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8" name="Line 30"/>
          <p:cNvSpPr>
            <a:spLocks noChangeShapeType="1"/>
          </p:cNvSpPr>
          <p:nvPr/>
        </p:nvSpPr>
        <p:spPr bwMode="auto">
          <a:xfrm>
            <a:off x="3657600" y="5334000"/>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19" name="Line 31"/>
          <p:cNvSpPr>
            <a:spLocks noChangeShapeType="1"/>
          </p:cNvSpPr>
          <p:nvPr/>
        </p:nvSpPr>
        <p:spPr bwMode="auto">
          <a:xfrm flipV="1">
            <a:off x="4876800" y="5341938"/>
            <a:ext cx="6096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0" name="Line 32"/>
          <p:cNvSpPr>
            <a:spLocks noChangeShapeType="1"/>
          </p:cNvSpPr>
          <p:nvPr/>
        </p:nvSpPr>
        <p:spPr bwMode="auto">
          <a:xfrm flipV="1">
            <a:off x="7467600" y="5334000"/>
            <a:ext cx="838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1" name="Line 33"/>
          <p:cNvSpPr>
            <a:spLocks noChangeShapeType="1"/>
          </p:cNvSpPr>
          <p:nvPr/>
        </p:nvSpPr>
        <p:spPr bwMode="auto">
          <a:xfrm flipV="1">
            <a:off x="6400800" y="5341938"/>
            <a:ext cx="304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2" name="Line 34"/>
          <p:cNvSpPr>
            <a:spLocks noChangeShapeType="1"/>
          </p:cNvSpPr>
          <p:nvPr/>
        </p:nvSpPr>
        <p:spPr bwMode="auto">
          <a:xfrm>
            <a:off x="4572000" y="5113338"/>
            <a:ext cx="0" cy="457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3" name="Line 35"/>
          <p:cNvSpPr>
            <a:spLocks noChangeShapeType="1"/>
          </p:cNvSpPr>
          <p:nvPr/>
        </p:nvSpPr>
        <p:spPr bwMode="auto">
          <a:xfrm>
            <a:off x="7467600" y="3513138"/>
            <a:ext cx="0" cy="457200"/>
          </a:xfrm>
          <a:prstGeom prst="line">
            <a:avLst/>
          </a:prstGeom>
          <a:noFill/>
          <a:ln w="2540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4" name="Line 36"/>
          <p:cNvSpPr>
            <a:spLocks noChangeShapeType="1"/>
          </p:cNvSpPr>
          <p:nvPr/>
        </p:nvSpPr>
        <p:spPr bwMode="auto">
          <a:xfrm flipH="1">
            <a:off x="8305800" y="5189538"/>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5" name="Line 37"/>
          <p:cNvSpPr>
            <a:spLocks noChangeShapeType="1"/>
          </p:cNvSpPr>
          <p:nvPr/>
        </p:nvSpPr>
        <p:spPr bwMode="auto">
          <a:xfrm flipH="1">
            <a:off x="5486400" y="5189538"/>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6" name="Line 38"/>
          <p:cNvSpPr>
            <a:spLocks noChangeShapeType="1"/>
          </p:cNvSpPr>
          <p:nvPr/>
        </p:nvSpPr>
        <p:spPr bwMode="auto">
          <a:xfrm flipH="1">
            <a:off x="3657600" y="5189538"/>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7" name="Line 39"/>
          <p:cNvSpPr>
            <a:spLocks noChangeShapeType="1"/>
          </p:cNvSpPr>
          <p:nvPr/>
        </p:nvSpPr>
        <p:spPr bwMode="auto">
          <a:xfrm flipH="1">
            <a:off x="2590800" y="5199063"/>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8" name="Line 40"/>
          <p:cNvSpPr>
            <a:spLocks noChangeShapeType="1"/>
          </p:cNvSpPr>
          <p:nvPr/>
        </p:nvSpPr>
        <p:spPr bwMode="auto">
          <a:xfrm flipH="1">
            <a:off x="685800" y="5199063"/>
            <a:ext cx="0" cy="3048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29" name="Line 41"/>
          <p:cNvSpPr>
            <a:spLocks noChangeShapeType="1"/>
          </p:cNvSpPr>
          <p:nvPr/>
        </p:nvSpPr>
        <p:spPr bwMode="auto">
          <a:xfrm>
            <a:off x="3505200" y="3970338"/>
            <a:ext cx="1939925"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30" name="Line 42"/>
          <p:cNvSpPr>
            <a:spLocks noChangeShapeType="1"/>
          </p:cNvSpPr>
          <p:nvPr/>
        </p:nvSpPr>
        <p:spPr bwMode="auto">
          <a:xfrm>
            <a:off x="6248400" y="3970338"/>
            <a:ext cx="2057400"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40331" name="Text Box 43"/>
          <p:cNvSpPr txBox="1">
            <a:spLocks noChangeArrowheads="1"/>
          </p:cNvSpPr>
          <p:nvPr/>
        </p:nvSpPr>
        <p:spPr bwMode="auto">
          <a:xfrm>
            <a:off x="9144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dirty="0">
                <a:solidFill>
                  <a:schemeClr val="accent2"/>
                </a:solidFill>
              </a:rPr>
              <a:t>Q1</a:t>
            </a:r>
          </a:p>
        </p:txBody>
      </p:sp>
      <p:sp>
        <p:nvSpPr>
          <p:cNvPr id="140332" name="Text Box 44"/>
          <p:cNvSpPr txBox="1">
            <a:spLocks noChangeArrowheads="1"/>
          </p:cNvSpPr>
          <p:nvPr/>
        </p:nvSpPr>
        <p:spPr bwMode="auto">
          <a:xfrm>
            <a:off x="16002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hlink"/>
                </a:solidFill>
              </a:rPr>
              <a:t>Q2</a:t>
            </a:r>
          </a:p>
        </p:txBody>
      </p:sp>
      <p:sp>
        <p:nvSpPr>
          <p:cNvPr id="140333" name="Text Box 45"/>
          <p:cNvSpPr txBox="1">
            <a:spLocks noChangeArrowheads="1"/>
          </p:cNvSpPr>
          <p:nvPr/>
        </p:nvSpPr>
        <p:spPr bwMode="auto">
          <a:xfrm>
            <a:off x="19812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1"/>
                </a:solidFill>
              </a:rPr>
              <a:t>Q3</a:t>
            </a:r>
          </a:p>
        </p:txBody>
      </p:sp>
      <p:sp>
        <p:nvSpPr>
          <p:cNvPr id="140334" name="Text Box 46"/>
          <p:cNvSpPr txBox="1">
            <a:spLocks noChangeArrowheads="1"/>
          </p:cNvSpPr>
          <p:nvPr/>
        </p:nvSpPr>
        <p:spPr bwMode="auto">
          <a:xfrm>
            <a:off x="38862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2"/>
                </a:solidFill>
              </a:rPr>
              <a:t>Q1</a:t>
            </a:r>
          </a:p>
        </p:txBody>
      </p:sp>
      <p:sp>
        <p:nvSpPr>
          <p:cNvPr id="140335" name="Text Box 47"/>
          <p:cNvSpPr txBox="1">
            <a:spLocks noChangeArrowheads="1"/>
          </p:cNvSpPr>
          <p:nvPr/>
        </p:nvSpPr>
        <p:spPr bwMode="auto">
          <a:xfrm>
            <a:off x="42672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hlink"/>
                </a:solidFill>
              </a:rPr>
              <a:t>Q2</a:t>
            </a:r>
          </a:p>
        </p:txBody>
      </p:sp>
      <p:sp>
        <p:nvSpPr>
          <p:cNvPr id="140336" name="Text Box 48"/>
          <p:cNvSpPr txBox="1">
            <a:spLocks noChangeArrowheads="1"/>
          </p:cNvSpPr>
          <p:nvPr/>
        </p:nvSpPr>
        <p:spPr bwMode="auto">
          <a:xfrm>
            <a:off x="4648200" y="41989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1"/>
                </a:solidFill>
              </a:rPr>
              <a:t>Q3</a:t>
            </a:r>
          </a:p>
        </p:txBody>
      </p:sp>
      <p:sp>
        <p:nvSpPr>
          <p:cNvPr id="140337" name="Text Box 49"/>
          <p:cNvSpPr txBox="1">
            <a:spLocks noChangeArrowheads="1"/>
          </p:cNvSpPr>
          <p:nvPr/>
        </p:nvSpPr>
        <p:spPr bwMode="auto">
          <a:xfrm>
            <a:off x="6400800" y="41227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2"/>
                </a:solidFill>
              </a:rPr>
              <a:t>Q1</a:t>
            </a:r>
          </a:p>
        </p:txBody>
      </p:sp>
      <p:sp>
        <p:nvSpPr>
          <p:cNvPr id="140338" name="Text Box 50"/>
          <p:cNvSpPr txBox="1">
            <a:spLocks noChangeArrowheads="1"/>
          </p:cNvSpPr>
          <p:nvPr/>
        </p:nvSpPr>
        <p:spPr bwMode="auto">
          <a:xfrm>
            <a:off x="6858000" y="41227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hlink"/>
                </a:solidFill>
              </a:rPr>
              <a:t>Q2</a:t>
            </a:r>
          </a:p>
        </p:txBody>
      </p:sp>
      <p:sp>
        <p:nvSpPr>
          <p:cNvPr id="140339" name="Text Box 51"/>
          <p:cNvSpPr txBox="1">
            <a:spLocks noChangeArrowheads="1"/>
          </p:cNvSpPr>
          <p:nvPr/>
        </p:nvSpPr>
        <p:spPr bwMode="auto">
          <a:xfrm>
            <a:off x="7315200" y="41227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1">
                <a:solidFill>
                  <a:schemeClr val="accent1"/>
                </a:solidFill>
              </a:rPr>
              <a:t>Q3</a:t>
            </a:r>
          </a:p>
        </p:txBody>
      </p:sp>
    </p:spTree>
    <p:extLst>
      <p:ext uri="{BB962C8B-B14F-4D97-AF65-F5344CB8AC3E}">
        <p14:creationId xmlns:p14="http://schemas.microsoft.com/office/powerpoint/2010/main" val="319751330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2370</TotalTime>
  <Words>1381</Words>
  <Application>Microsoft Office PowerPoint</Application>
  <PresentationFormat>On-screen Show (4:3)</PresentationFormat>
  <Paragraphs>330</Paragraphs>
  <Slides>29</Slides>
  <Notes>29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29</vt:i4>
      </vt:variant>
    </vt:vector>
  </HeadingPairs>
  <TitlesOfParts>
    <vt:vector size="38" baseType="lpstr">
      <vt:lpstr>Arial</vt:lpstr>
      <vt:lpstr>Calibri</vt:lpstr>
      <vt:lpstr>Georgia</vt:lpstr>
      <vt:lpstr>Wingdings</vt:lpstr>
      <vt:lpstr>Wingdings 2</vt:lpstr>
      <vt:lpstr>Civic</vt:lpstr>
      <vt:lpstr>Clip</vt:lpstr>
      <vt:lpstr>Equation</vt:lpstr>
      <vt:lpstr>Drawing</vt:lpstr>
      <vt:lpstr>Day 2: Core statistics 101</vt:lpstr>
      <vt:lpstr>Introduction</vt:lpstr>
      <vt:lpstr>Types of Data</vt:lpstr>
      <vt:lpstr>Types of Data</vt:lpstr>
      <vt:lpstr>Collecting Data</vt:lpstr>
      <vt:lpstr>Sampling</vt:lpstr>
      <vt:lpstr>Descriptive Statistics</vt:lpstr>
      <vt:lpstr>PowerPoint Presentation</vt:lpstr>
      <vt:lpstr>Mean</vt:lpstr>
      <vt:lpstr>Median</vt:lpstr>
      <vt:lpstr>Finding the Median</vt:lpstr>
      <vt:lpstr>Mode</vt:lpstr>
      <vt:lpstr> Review Example</vt:lpstr>
      <vt:lpstr>Review Example: Summary Statistics</vt:lpstr>
      <vt:lpstr>Mean, median, mode and range</vt:lpstr>
      <vt:lpstr> Which measure of location is the “best”?</vt:lpstr>
      <vt:lpstr>Range</vt:lpstr>
      <vt:lpstr> Disadvantages of the Range</vt:lpstr>
      <vt:lpstr>Getting from the real world to a distribution</vt:lpstr>
      <vt:lpstr>Mean  Median  Mode</vt:lpstr>
      <vt:lpstr>The normal distribution</vt:lpstr>
      <vt:lpstr>Skewness</vt:lpstr>
      <vt:lpstr>Shape of a Distribution</vt:lpstr>
      <vt:lpstr>Positive and negative skew</vt:lpstr>
      <vt:lpstr>Example question</vt:lpstr>
      <vt:lpstr>Example question</vt:lpstr>
      <vt:lpstr>Exploratory Data Analysis</vt:lpstr>
      <vt:lpstr>Shape of Box-and-Whisker Plots</vt:lpstr>
      <vt:lpstr>Distribution Shape and Box-and-Whisker Plot</vt:lpstr>
    </vt:vector>
  </TitlesOfParts>
  <Company>University of Stellenbosch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Mean, median, mode and range</dc:title>
  <dc:creator>Spaull, NA, Mnr &lt;spaull@sun.ac.za&gt;</dc:creator>
  <cp:lastModifiedBy>Zeeshan ali</cp:lastModifiedBy>
  <cp:revision>24</cp:revision>
  <cp:lastPrinted>2013-11-03T10:20:15Z</cp:lastPrinted>
  <dcterms:created xsi:type="dcterms:W3CDTF">2013-11-01T17:42:41Z</dcterms:created>
  <dcterms:modified xsi:type="dcterms:W3CDTF">2025-10-13T14:36:24Z</dcterms:modified>
</cp:coreProperties>
</file>